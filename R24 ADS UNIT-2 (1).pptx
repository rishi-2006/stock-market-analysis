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3" r:id="rId1"/>
  </p:sldMasterIdLst>
  <p:notesMasterIdLst>
    <p:notesMasterId r:id="rId30"/>
  </p:notesMasterIdLst>
  <p:handoutMasterIdLst>
    <p:handoutMasterId r:id="rId31"/>
  </p:handoutMasterIdLst>
  <p:sldIdLst>
    <p:sldId id="266" r:id="rId2"/>
    <p:sldId id="955" r:id="rId3"/>
    <p:sldId id="256" r:id="rId4"/>
    <p:sldId id="260" r:id="rId5"/>
    <p:sldId id="929" r:id="rId6"/>
    <p:sldId id="940" r:id="rId7"/>
    <p:sldId id="947" r:id="rId8"/>
    <p:sldId id="948" r:id="rId9"/>
    <p:sldId id="970" r:id="rId10"/>
    <p:sldId id="971" r:id="rId11"/>
    <p:sldId id="950" r:id="rId12"/>
    <p:sldId id="949" r:id="rId13"/>
    <p:sldId id="951" r:id="rId14"/>
    <p:sldId id="963" r:id="rId15"/>
    <p:sldId id="952" r:id="rId16"/>
    <p:sldId id="954" r:id="rId17"/>
    <p:sldId id="946" r:id="rId18"/>
    <p:sldId id="944" r:id="rId19"/>
    <p:sldId id="962" r:id="rId20"/>
    <p:sldId id="964" r:id="rId21"/>
    <p:sldId id="965" r:id="rId22"/>
    <p:sldId id="966" r:id="rId23"/>
    <p:sldId id="265" r:id="rId24"/>
    <p:sldId id="931" r:id="rId25"/>
    <p:sldId id="912" r:id="rId26"/>
    <p:sldId id="915" r:id="rId27"/>
    <p:sldId id="932" r:id="rId28"/>
    <p:sldId id="969" r:id="rId29"/>
  </p:sldIdLst>
  <p:sldSz cx="11887200" cy="6858000"/>
  <p:notesSz cx="9296400" cy="70104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6707" algn="l" rtl="0" eaLnBrk="0" fontAlgn="base" hangingPunct="0">
      <a:spcBef>
        <a:spcPct val="0"/>
      </a:spcBef>
      <a:spcAft>
        <a:spcPct val="0"/>
      </a:spcAft>
      <a:defRPr kern="1200">
        <a:solidFill>
          <a:schemeClr val="tx1"/>
        </a:solidFill>
        <a:latin typeface="Calibri" pitchFamily="34" charset="0"/>
        <a:ea typeface="+mn-ea"/>
        <a:cs typeface="+mn-cs"/>
      </a:defRPr>
    </a:lvl2pPr>
    <a:lvl3pPr marL="913413" algn="l" rtl="0" eaLnBrk="0" fontAlgn="base" hangingPunct="0">
      <a:spcBef>
        <a:spcPct val="0"/>
      </a:spcBef>
      <a:spcAft>
        <a:spcPct val="0"/>
      </a:spcAft>
      <a:defRPr kern="1200">
        <a:solidFill>
          <a:schemeClr val="tx1"/>
        </a:solidFill>
        <a:latin typeface="Calibri" pitchFamily="34" charset="0"/>
        <a:ea typeface="+mn-ea"/>
        <a:cs typeface="+mn-cs"/>
      </a:defRPr>
    </a:lvl3pPr>
    <a:lvl4pPr marL="1370122" algn="l" rtl="0" eaLnBrk="0" fontAlgn="base" hangingPunct="0">
      <a:spcBef>
        <a:spcPct val="0"/>
      </a:spcBef>
      <a:spcAft>
        <a:spcPct val="0"/>
      </a:spcAft>
      <a:defRPr kern="1200">
        <a:solidFill>
          <a:schemeClr val="tx1"/>
        </a:solidFill>
        <a:latin typeface="Calibri" pitchFamily="34" charset="0"/>
        <a:ea typeface="+mn-ea"/>
        <a:cs typeface="+mn-cs"/>
      </a:defRPr>
    </a:lvl4pPr>
    <a:lvl5pPr marL="1826827" algn="l" rtl="0" eaLnBrk="0" fontAlgn="base" hangingPunct="0">
      <a:spcBef>
        <a:spcPct val="0"/>
      </a:spcBef>
      <a:spcAft>
        <a:spcPct val="0"/>
      </a:spcAft>
      <a:defRPr kern="1200">
        <a:solidFill>
          <a:schemeClr val="tx1"/>
        </a:solidFill>
        <a:latin typeface="Calibri" pitchFamily="34" charset="0"/>
        <a:ea typeface="+mn-ea"/>
        <a:cs typeface="+mn-cs"/>
      </a:defRPr>
    </a:lvl5pPr>
    <a:lvl6pPr marL="2283533" algn="l" defTabSz="913413" rtl="0" eaLnBrk="1" latinLnBrk="0" hangingPunct="1">
      <a:defRPr kern="1200">
        <a:solidFill>
          <a:schemeClr val="tx1"/>
        </a:solidFill>
        <a:latin typeface="Calibri" pitchFamily="34" charset="0"/>
        <a:ea typeface="+mn-ea"/>
        <a:cs typeface="+mn-cs"/>
      </a:defRPr>
    </a:lvl6pPr>
    <a:lvl7pPr marL="2740241" algn="l" defTabSz="913413" rtl="0" eaLnBrk="1" latinLnBrk="0" hangingPunct="1">
      <a:defRPr kern="1200">
        <a:solidFill>
          <a:schemeClr val="tx1"/>
        </a:solidFill>
        <a:latin typeface="Calibri" pitchFamily="34" charset="0"/>
        <a:ea typeface="+mn-ea"/>
        <a:cs typeface="+mn-cs"/>
      </a:defRPr>
    </a:lvl7pPr>
    <a:lvl8pPr marL="3196950" algn="l" defTabSz="913413" rtl="0" eaLnBrk="1" latinLnBrk="0" hangingPunct="1">
      <a:defRPr kern="1200">
        <a:solidFill>
          <a:schemeClr val="tx1"/>
        </a:solidFill>
        <a:latin typeface="Calibri" pitchFamily="34" charset="0"/>
        <a:ea typeface="+mn-ea"/>
        <a:cs typeface="+mn-cs"/>
      </a:defRPr>
    </a:lvl8pPr>
    <a:lvl9pPr marL="3653656" algn="l" defTabSz="913413" rtl="0" eaLnBrk="1" latinLnBrk="0" hangingPunct="1">
      <a:defRPr kern="1200">
        <a:solidFill>
          <a:schemeClr val="tx1"/>
        </a:solidFill>
        <a:latin typeface="Calibri" pitchFamily="34" charset="0"/>
        <a:ea typeface="+mn-ea"/>
        <a:cs typeface="+mn-cs"/>
      </a:defRPr>
    </a:lvl9pPr>
  </p:defaultTextStyle>
  <p:extLst>
    <p:ext uri="{521415D9-36F7-43E2-AB2F-B90AF26B5E84}">
      <p14:sectionLst xmlns:p14="http://schemas.microsoft.com/office/powerpoint/2010/main">
        <p14:section name="Default Section" id="{E7C641B1-27AA-4A6E-95B6-A2CCADA96BF4}">
          <p14:sldIdLst>
            <p14:sldId id="266"/>
            <p14:sldId id="955"/>
            <p14:sldId id="256"/>
            <p14:sldId id="260"/>
            <p14:sldId id="929"/>
            <p14:sldId id="940"/>
            <p14:sldId id="947"/>
            <p14:sldId id="948"/>
          </p14:sldIdLst>
        </p14:section>
        <p14:section name="Untitled Section" id="{3E413C45-A0BC-4CB7-906F-35A5C0A354BC}">
          <p14:sldIdLst>
            <p14:sldId id="970"/>
            <p14:sldId id="971"/>
            <p14:sldId id="950"/>
            <p14:sldId id="949"/>
            <p14:sldId id="951"/>
            <p14:sldId id="963"/>
            <p14:sldId id="952"/>
            <p14:sldId id="954"/>
            <p14:sldId id="946"/>
            <p14:sldId id="944"/>
            <p14:sldId id="962"/>
            <p14:sldId id="964"/>
            <p14:sldId id="965"/>
            <p14:sldId id="966"/>
            <p14:sldId id="265"/>
            <p14:sldId id="931"/>
            <p14:sldId id="912"/>
            <p14:sldId id="915"/>
            <p14:sldId id="932"/>
            <p14:sldId id="969"/>
          </p14:sldIdLst>
        </p14:section>
        <p14:section name="Untitled Section" id="{19323F8B-2CD8-4593-B195-F4FAC5EC248B}">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guide id="3" pos="3744">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UMAR NEERAJ" initials="" lastIdx="1" clrIdx="0"/>
  <p:cmAuthor id="1" name="amrita sajja" initials="as" lastIdx="1" clrIdx="1">
    <p:extLst>
      <p:ext uri="{19B8F6BF-5375-455C-9EA6-DF929625EA0E}">
        <p15:presenceInfo xmlns:p15="http://schemas.microsoft.com/office/powerpoint/2012/main" userId="a8e70a593794f98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B7B7"/>
    <a:srgbClr val="FFCCFF"/>
    <a:srgbClr val="D60000"/>
    <a:srgbClr val="CCFFFF"/>
    <a:srgbClr val="002060"/>
    <a:srgbClr val="FFFFFF"/>
    <a:srgbClr val="003399"/>
    <a:srgbClr val="0A1A28"/>
    <a:srgbClr val="5D86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98736" autoAdjust="0"/>
  </p:normalViewPr>
  <p:slideViewPr>
    <p:cSldViewPr snapToGrid="0">
      <p:cViewPr varScale="1">
        <p:scale>
          <a:sx n="95" d="100"/>
          <a:sy n="95" d="100"/>
        </p:scale>
        <p:origin x="106" y="72"/>
      </p:cViewPr>
      <p:guideLst>
        <p:guide orient="horz" pos="2160"/>
        <p:guide pos="2880"/>
        <p:guide pos="3744"/>
      </p:guideLst>
    </p:cSldViewPr>
  </p:slideViewPr>
  <p:outlineViewPr>
    <p:cViewPr>
      <p:scale>
        <a:sx n="33" d="100"/>
        <a:sy n="33" d="100"/>
      </p:scale>
      <p:origin x="0" y="10974"/>
    </p:cViewPr>
  </p:outlineViewPr>
  <p:notesTextViewPr>
    <p:cViewPr>
      <p:scale>
        <a:sx n="1" d="1"/>
        <a:sy n="1" d="1"/>
      </p:scale>
      <p:origin x="0" y="0"/>
    </p:cViewPr>
  </p:notesTextViewPr>
  <p:sorterViewPr>
    <p:cViewPr>
      <p:scale>
        <a:sx n="100" d="100"/>
        <a:sy n="100" d="100"/>
      </p:scale>
      <p:origin x="0" y="31128"/>
    </p:cViewPr>
  </p:sorterViewPr>
  <p:notesViewPr>
    <p:cSldViewPr snapToGrid="0">
      <p:cViewPr varScale="1">
        <p:scale>
          <a:sx n="55" d="100"/>
          <a:sy n="55" d="100"/>
        </p:scale>
        <p:origin x="2880" y="9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hikesh Pendyala" userId="43c3dbeb0e461f91" providerId="LiveId" clId="{C4055721-C05B-4150-89F0-893837DA3081}"/>
    <pc:docChg chg="modSld">
      <pc:chgData name="Rishikesh Pendyala" userId="43c3dbeb0e461f91" providerId="LiveId" clId="{C4055721-C05B-4150-89F0-893837DA3081}" dt="2025-11-18T07:16:23.771" v="3" actId="20577"/>
      <pc:docMkLst>
        <pc:docMk/>
      </pc:docMkLst>
      <pc:sldChg chg="modSp mod">
        <pc:chgData name="Rishikesh Pendyala" userId="43c3dbeb0e461f91" providerId="LiveId" clId="{C4055721-C05B-4150-89F0-893837DA3081}" dt="2025-11-18T07:16:23.771" v="3" actId="20577"/>
        <pc:sldMkLst>
          <pc:docMk/>
          <pc:sldMk cId="973747231" sldId="964"/>
        </pc:sldMkLst>
        <pc:spChg chg="mod">
          <ac:chgData name="Rishikesh Pendyala" userId="43c3dbeb0e461f91" providerId="LiveId" clId="{C4055721-C05B-4150-89F0-893837DA3081}" dt="2025-11-18T07:16:23.771" v="3" actId="20577"/>
          <ac:spMkLst>
            <pc:docMk/>
            <pc:sldMk cId="973747231" sldId="964"/>
            <ac:spMk id="4" creationId="{19F5E9A2-C61A-CBC3-F94F-C1F160239CA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5265809" y="0"/>
            <a:ext cx="4028440" cy="350520"/>
          </a:xfrm>
          <a:prstGeom prst="rect">
            <a:avLst/>
          </a:prstGeom>
        </p:spPr>
        <p:txBody>
          <a:bodyPr vert="horz" lIns="93177" tIns="46589" rIns="93177" bIns="46589" rtlCol="0"/>
          <a:lstStyle>
            <a:lvl1pPr algn="r" eaLnBrk="1" fontAlgn="auto" hangingPunct="1">
              <a:spcBef>
                <a:spcPts val="0"/>
              </a:spcBef>
              <a:spcAft>
                <a:spcPts val="0"/>
              </a:spcAft>
              <a:defRPr sz="1200" smtClean="0">
                <a:latin typeface="+mn-lt"/>
              </a:defRPr>
            </a:lvl1pPr>
          </a:lstStyle>
          <a:p>
            <a:pPr>
              <a:defRPr/>
            </a:pPr>
            <a:fld id="{72C5D0E2-71A3-41F2-82F4-FC932446AE2F}" type="datetimeFigureOut">
              <a:rPr lang="en-US"/>
              <a:pPr>
                <a:defRPr/>
              </a:pPr>
              <a:t>11/18/2025</a:t>
            </a:fld>
            <a:endParaRPr lang="en-US"/>
          </a:p>
        </p:txBody>
      </p:sp>
      <p:sp>
        <p:nvSpPr>
          <p:cNvPr id="4" name="Footer Placeholder 3"/>
          <p:cNvSpPr>
            <a:spLocks noGrp="1"/>
          </p:cNvSpPr>
          <p:nvPr>
            <p:ph type="ftr" sz="quarter" idx="2"/>
          </p:nvPr>
        </p:nvSpPr>
        <p:spPr>
          <a:xfrm>
            <a:off x="0" y="6658664"/>
            <a:ext cx="4028440" cy="350520"/>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5265809" y="6658664"/>
            <a:ext cx="4028440" cy="350520"/>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fld id="{D01ACD70-2AAB-4004-9097-145CADB110E8}" type="slidenum">
              <a:rPr lang="en-US" altLang="en-US"/>
              <a:pPr/>
              <a:t>‹#›</a:t>
            </a:fld>
            <a:endParaRPr lang="en-US" altLang="en-US"/>
          </a:p>
        </p:txBody>
      </p:sp>
    </p:spTree>
    <p:extLst>
      <p:ext uri="{BB962C8B-B14F-4D97-AF65-F5344CB8AC3E}">
        <p14:creationId xmlns:p14="http://schemas.microsoft.com/office/powerpoint/2010/main" val="393393218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eaLnBrk="1" fontAlgn="auto" hangingPunct="1">
              <a:spcBef>
                <a:spcPts val="0"/>
              </a:spcBef>
              <a:spcAft>
                <a:spcPts val="0"/>
              </a:spcAft>
              <a:defRPr sz="1200" smtClean="0">
                <a:latin typeface="+mn-lt"/>
              </a:defRPr>
            </a:lvl1pPr>
          </a:lstStyle>
          <a:p>
            <a:pPr>
              <a:defRPr/>
            </a:pPr>
            <a:fld id="{B826DBF9-3D9D-4AF2-AF25-9AF2A0B862A1}" type="datetimeFigureOut">
              <a:rPr lang="en-IN"/>
              <a:pPr>
                <a:defRPr/>
              </a:pPr>
              <a:t>18-11-2025</a:t>
            </a:fld>
            <a:endParaRPr lang="en-IN"/>
          </a:p>
        </p:txBody>
      </p:sp>
      <p:sp>
        <p:nvSpPr>
          <p:cNvPr id="4" name="Slide Image Placeholder 3"/>
          <p:cNvSpPr>
            <a:spLocks noGrp="1" noRot="1" noChangeAspect="1"/>
          </p:cNvSpPr>
          <p:nvPr>
            <p:ph type="sldImg" idx="2"/>
          </p:nvPr>
        </p:nvSpPr>
        <p:spPr>
          <a:xfrm>
            <a:off x="2598738" y="876300"/>
            <a:ext cx="4098925" cy="2365375"/>
          </a:xfrm>
          <a:prstGeom prst="rect">
            <a:avLst/>
          </a:prstGeom>
          <a:noFill/>
          <a:ln w="12700">
            <a:solidFill>
              <a:prstClr val="black"/>
            </a:solidFill>
          </a:ln>
        </p:spPr>
        <p:txBody>
          <a:bodyPr vert="horz" lIns="93177" tIns="46589" rIns="93177" bIns="46589" rtlCol="0" anchor="ctr"/>
          <a:lstStyle/>
          <a:p>
            <a:pPr lvl="0"/>
            <a:endParaRPr lang="en-IN" noProof="0"/>
          </a:p>
        </p:txBody>
      </p:sp>
      <p:sp>
        <p:nvSpPr>
          <p:cNvPr id="5" name="Notes Placeholder 4"/>
          <p:cNvSpPr>
            <a:spLocks noGrp="1"/>
          </p:cNvSpPr>
          <p:nvPr>
            <p:ph type="body" sz="quarter" idx="3"/>
          </p:nvPr>
        </p:nvSpPr>
        <p:spPr>
          <a:xfrm>
            <a:off x="929640" y="3373754"/>
            <a:ext cx="7437120" cy="2760346"/>
          </a:xfrm>
          <a:prstGeom prst="rect">
            <a:avLst/>
          </a:prstGeom>
        </p:spPr>
        <p:txBody>
          <a:bodyPr vert="horz" lIns="93177" tIns="46589" rIns="93177" bIns="4658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fld id="{1FF03DAA-5CA9-4472-AE19-94CDF9275C2A}" type="slidenum">
              <a:rPr lang="en-IN" altLang="en-US"/>
              <a:pPr/>
              <a:t>‹#›</a:t>
            </a:fld>
            <a:endParaRPr lang="en-IN" altLang="en-US"/>
          </a:p>
        </p:txBody>
      </p:sp>
    </p:spTree>
    <p:extLst>
      <p:ext uri="{BB962C8B-B14F-4D97-AF65-F5344CB8AC3E}">
        <p14:creationId xmlns:p14="http://schemas.microsoft.com/office/powerpoint/2010/main" val="461461114"/>
      </p:ext>
    </p:extLst>
  </p:cSld>
  <p:clrMap bg1="lt1" tx1="dk1" bg2="lt2" tx2="dk2" accent1="accent1" accent2="accent2" accent3="accent3" accent4="accent4" accent5="accent5" accent6="accent6" hlink="hlink" folHlink="folHlink"/>
  <p:hf hdr="0" dt="0"/>
  <p:notesStyle>
    <a:lvl1pPr algn="l" rtl="0" fontAlgn="base">
      <a:spcBef>
        <a:spcPct val="30000"/>
      </a:spcBef>
      <a:spcAft>
        <a:spcPct val="0"/>
      </a:spcAft>
      <a:defRPr sz="1200" kern="1200">
        <a:solidFill>
          <a:schemeClr val="tx1"/>
        </a:solidFill>
        <a:latin typeface="+mn-lt"/>
        <a:ea typeface="+mn-ea"/>
        <a:cs typeface="+mn-cs"/>
      </a:defRPr>
    </a:lvl1pPr>
    <a:lvl2pPr marL="456707" algn="l" rtl="0" fontAlgn="base">
      <a:spcBef>
        <a:spcPct val="30000"/>
      </a:spcBef>
      <a:spcAft>
        <a:spcPct val="0"/>
      </a:spcAft>
      <a:defRPr sz="1200" kern="1200">
        <a:solidFill>
          <a:schemeClr val="tx1"/>
        </a:solidFill>
        <a:latin typeface="+mn-lt"/>
        <a:ea typeface="+mn-ea"/>
        <a:cs typeface="+mn-cs"/>
      </a:defRPr>
    </a:lvl2pPr>
    <a:lvl3pPr marL="913413" algn="l" rtl="0" fontAlgn="base">
      <a:spcBef>
        <a:spcPct val="30000"/>
      </a:spcBef>
      <a:spcAft>
        <a:spcPct val="0"/>
      </a:spcAft>
      <a:defRPr sz="1200" kern="1200">
        <a:solidFill>
          <a:schemeClr val="tx1"/>
        </a:solidFill>
        <a:latin typeface="+mn-lt"/>
        <a:ea typeface="+mn-ea"/>
        <a:cs typeface="+mn-cs"/>
      </a:defRPr>
    </a:lvl3pPr>
    <a:lvl4pPr marL="1370122" algn="l" rtl="0" fontAlgn="base">
      <a:spcBef>
        <a:spcPct val="30000"/>
      </a:spcBef>
      <a:spcAft>
        <a:spcPct val="0"/>
      </a:spcAft>
      <a:defRPr sz="1200" kern="1200">
        <a:solidFill>
          <a:schemeClr val="tx1"/>
        </a:solidFill>
        <a:latin typeface="+mn-lt"/>
        <a:ea typeface="+mn-ea"/>
        <a:cs typeface="+mn-cs"/>
      </a:defRPr>
    </a:lvl4pPr>
    <a:lvl5pPr marL="1826827" algn="l" rtl="0" fontAlgn="base">
      <a:spcBef>
        <a:spcPct val="30000"/>
      </a:spcBef>
      <a:spcAft>
        <a:spcPct val="0"/>
      </a:spcAft>
      <a:defRPr sz="1200" kern="1200">
        <a:solidFill>
          <a:schemeClr val="tx1"/>
        </a:solidFill>
        <a:latin typeface="+mn-lt"/>
        <a:ea typeface="+mn-ea"/>
        <a:cs typeface="+mn-cs"/>
      </a:defRPr>
    </a:lvl5pPr>
    <a:lvl6pPr marL="2283533" algn="l" defTabSz="913413" rtl="0" eaLnBrk="1" latinLnBrk="0" hangingPunct="1">
      <a:defRPr sz="1200" kern="1200">
        <a:solidFill>
          <a:schemeClr val="tx1"/>
        </a:solidFill>
        <a:latin typeface="+mn-lt"/>
        <a:ea typeface="+mn-ea"/>
        <a:cs typeface="+mn-cs"/>
      </a:defRPr>
    </a:lvl6pPr>
    <a:lvl7pPr marL="2740241" algn="l" defTabSz="913413" rtl="0" eaLnBrk="1" latinLnBrk="0" hangingPunct="1">
      <a:defRPr sz="1200" kern="1200">
        <a:solidFill>
          <a:schemeClr val="tx1"/>
        </a:solidFill>
        <a:latin typeface="+mn-lt"/>
        <a:ea typeface="+mn-ea"/>
        <a:cs typeface="+mn-cs"/>
      </a:defRPr>
    </a:lvl7pPr>
    <a:lvl8pPr marL="3196950" algn="l" defTabSz="913413" rtl="0" eaLnBrk="1" latinLnBrk="0" hangingPunct="1">
      <a:defRPr sz="1200" kern="1200">
        <a:solidFill>
          <a:schemeClr val="tx1"/>
        </a:solidFill>
        <a:latin typeface="+mn-lt"/>
        <a:ea typeface="+mn-ea"/>
        <a:cs typeface="+mn-cs"/>
      </a:defRPr>
    </a:lvl8pPr>
    <a:lvl9pPr marL="3653656" algn="l" defTabSz="913413"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594360" y="6356376"/>
            <a:ext cx="2773680" cy="365125"/>
          </a:xfrm>
          <a:prstGeom prst="rect">
            <a:avLst/>
          </a:prstGeom>
          <a:noFill/>
          <a:ln>
            <a:noFill/>
          </a:ln>
        </p:spPr>
        <p:txBody>
          <a:bodyPr spcFirstLastPara="1" wrap="square" lIns="94065" tIns="47031" rIns="94065" bIns="47031"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061460" y="6356376"/>
            <a:ext cx="3764280" cy="365125"/>
          </a:xfrm>
          <a:prstGeom prst="rect">
            <a:avLst/>
          </a:prstGeom>
          <a:noFill/>
          <a:ln>
            <a:noFill/>
          </a:ln>
        </p:spPr>
        <p:txBody>
          <a:bodyPr spcFirstLastPara="1" wrap="square" lIns="94065" tIns="47031" rIns="94065" bIns="47031"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519160" y="6356376"/>
            <a:ext cx="2773680" cy="365125"/>
          </a:xfrm>
          <a:prstGeom prst="rect">
            <a:avLst/>
          </a:prstGeom>
          <a:noFill/>
          <a:ln>
            <a:noFill/>
          </a:ln>
        </p:spPr>
        <p:txBody>
          <a:bodyPr spcFirstLastPara="1" wrap="square" lIns="94065" tIns="47031" rIns="94065" bIns="47031"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109696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20049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alphaModFix/>
            <a:extLst>
              <a:ext uri="{BEBA8EAE-BF5A-486C-A8C5-ECC9F3942E4B}">
                <a14:imgProps xmlns:a14="http://schemas.microsoft.com/office/drawing/2010/main">
                  <a14:imgLayer r:embed="rId5">
                    <a14:imgEffect>
                      <a14:brightnessContrast contrast="40000"/>
                    </a14:imgEffect>
                  </a14:imgLayer>
                </a14:imgProps>
              </a:ext>
            </a:extLst>
          </a:blip>
          <a:srcRect/>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94360" y="274639"/>
            <a:ext cx="10698480" cy="1143000"/>
          </a:xfrm>
          <a:prstGeom prst="rect">
            <a:avLst/>
          </a:prstGeom>
          <a:noFill/>
          <a:ln>
            <a:noFill/>
          </a:ln>
        </p:spPr>
        <p:txBody>
          <a:bodyPr spcFirstLastPara="1" wrap="square" lIns="94065" tIns="47031" rIns="94065" bIns="47031" anchor="ctr" anchorCtr="0">
            <a:noAutofit/>
          </a:bodyPr>
          <a:lstStyle>
            <a:lvl1pPr marR="0" lvl="0" algn="ctr" rtl="0">
              <a:spcBef>
                <a:spcPts val="0"/>
              </a:spcBef>
              <a:spcAft>
                <a:spcPts val="0"/>
              </a:spcAft>
              <a:buClr>
                <a:schemeClr val="dk1"/>
              </a:buClr>
              <a:buSzPts val="20700"/>
              <a:buFont typeface="Calibri"/>
              <a:buNone/>
              <a:defRPr sz="207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594360" y="1600206"/>
            <a:ext cx="10698480" cy="4525963"/>
          </a:xfrm>
          <a:prstGeom prst="rect">
            <a:avLst/>
          </a:prstGeom>
          <a:noFill/>
          <a:ln>
            <a:noFill/>
          </a:ln>
        </p:spPr>
        <p:txBody>
          <a:bodyPr spcFirstLastPara="1" wrap="square" lIns="94065" tIns="47031" rIns="94065" bIns="47031" anchor="t" anchorCtr="0">
            <a:noAutofit/>
          </a:bodyPr>
          <a:lstStyle>
            <a:lvl1pPr marL="457200" marR="0" lvl="0" indent="-1187450" algn="l" rtl="0">
              <a:spcBef>
                <a:spcPts val="3020"/>
              </a:spcBef>
              <a:spcAft>
                <a:spcPts val="0"/>
              </a:spcAft>
              <a:buClr>
                <a:schemeClr val="dk1"/>
              </a:buClr>
              <a:buSzPts val="15100"/>
              <a:buFont typeface="Arial"/>
              <a:buChar char="•"/>
              <a:defRPr sz="15100" b="0" i="0" u="none" strike="noStrike" cap="none">
                <a:solidFill>
                  <a:schemeClr val="dk1"/>
                </a:solidFill>
                <a:latin typeface="Calibri"/>
                <a:ea typeface="Calibri"/>
                <a:cs typeface="Calibri"/>
                <a:sym typeface="Calibri"/>
              </a:defRPr>
            </a:lvl1pPr>
            <a:lvl2pPr marL="914400" marR="0" lvl="1" indent="-1066800" algn="l" rtl="0">
              <a:spcBef>
                <a:spcPts val="2640"/>
              </a:spcBef>
              <a:spcAft>
                <a:spcPts val="0"/>
              </a:spcAft>
              <a:buClr>
                <a:schemeClr val="dk1"/>
              </a:buClr>
              <a:buSzPts val="13200"/>
              <a:buFont typeface="Arial"/>
              <a:buChar char="–"/>
              <a:defRPr sz="13200" b="0" i="0" u="none" strike="noStrike" cap="none">
                <a:solidFill>
                  <a:schemeClr val="dk1"/>
                </a:solidFill>
                <a:latin typeface="Calibri"/>
                <a:ea typeface="Calibri"/>
                <a:cs typeface="Calibri"/>
                <a:sym typeface="Calibri"/>
              </a:defRPr>
            </a:lvl2pPr>
            <a:lvl3pPr marL="1371600" marR="0" lvl="2" indent="-946150" algn="l" rtl="0">
              <a:spcBef>
                <a:spcPts val="2260"/>
              </a:spcBef>
              <a:spcAft>
                <a:spcPts val="0"/>
              </a:spcAft>
              <a:buClr>
                <a:schemeClr val="dk1"/>
              </a:buClr>
              <a:buSzPts val="11300"/>
              <a:buFont typeface="Arial"/>
              <a:buChar char="•"/>
              <a:defRPr sz="11300" b="0" i="0" u="none" strike="noStrike" cap="none">
                <a:solidFill>
                  <a:schemeClr val="dk1"/>
                </a:solidFill>
                <a:latin typeface="Calibri"/>
                <a:ea typeface="Calibri"/>
                <a:cs typeface="Calibri"/>
                <a:sym typeface="Calibri"/>
              </a:defRPr>
            </a:lvl3pPr>
            <a:lvl4pPr marL="1828800" marR="0" lvl="3"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4pPr>
            <a:lvl5pPr marL="2286000" marR="0" lvl="4"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5pPr>
            <a:lvl6pPr marL="2743200" marR="0" lvl="5"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6pPr>
            <a:lvl7pPr marL="3200400" marR="0" lvl="6"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7pPr>
            <a:lvl8pPr marL="3657600" marR="0" lvl="7"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8pPr>
            <a:lvl9pPr marL="4114800" marR="0" lvl="8"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594360" y="6356376"/>
            <a:ext cx="2773680" cy="365125"/>
          </a:xfrm>
          <a:prstGeom prst="rect">
            <a:avLst/>
          </a:prstGeom>
          <a:noFill/>
          <a:ln>
            <a:noFill/>
          </a:ln>
        </p:spPr>
        <p:txBody>
          <a:bodyPr spcFirstLastPara="1" wrap="square" lIns="94065" tIns="47031" rIns="94065" bIns="47031"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eaLnBrk="1" fontAlgn="auto" hangingPunct="1">
              <a:buClr>
                <a:srgbClr val="000000"/>
              </a:buClr>
              <a:buFont typeface="Arial"/>
              <a:buNone/>
            </a:pPr>
            <a:endParaRPr kern="0"/>
          </a:p>
        </p:txBody>
      </p:sp>
      <p:sp>
        <p:nvSpPr>
          <p:cNvPr id="13" name="Google Shape;13;p1"/>
          <p:cNvSpPr txBox="1">
            <a:spLocks noGrp="1"/>
          </p:cNvSpPr>
          <p:nvPr>
            <p:ph type="ftr" idx="11"/>
          </p:nvPr>
        </p:nvSpPr>
        <p:spPr>
          <a:xfrm>
            <a:off x="4061460" y="6356376"/>
            <a:ext cx="3764280" cy="365125"/>
          </a:xfrm>
          <a:prstGeom prst="rect">
            <a:avLst/>
          </a:prstGeom>
          <a:noFill/>
          <a:ln>
            <a:noFill/>
          </a:ln>
        </p:spPr>
        <p:txBody>
          <a:bodyPr spcFirstLastPara="1" wrap="square" lIns="94065" tIns="47031" rIns="94065" bIns="47031"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eaLnBrk="1" fontAlgn="auto" hangingPunct="1">
              <a:buClr>
                <a:srgbClr val="000000"/>
              </a:buClr>
              <a:buFont typeface="Arial"/>
              <a:buNone/>
            </a:pPr>
            <a:endParaRPr kern="0"/>
          </a:p>
        </p:txBody>
      </p:sp>
      <p:sp>
        <p:nvSpPr>
          <p:cNvPr id="14" name="Google Shape;14;p1"/>
          <p:cNvSpPr txBox="1">
            <a:spLocks noGrp="1"/>
          </p:cNvSpPr>
          <p:nvPr>
            <p:ph type="sldNum" idx="12"/>
          </p:nvPr>
        </p:nvSpPr>
        <p:spPr>
          <a:xfrm>
            <a:off x="8519160" y="6356376"/>
            <a:ext cx="2773680" cy="365125"/>
          </a:xfrm>
          <a:prstGeom prst="rect">
            <a:avLst/>
          </a:prstGeom>
          <a:noFill/>
          <a:ln>
            <a:noFill/>
          </a:ln>
        </p:spPr>
        <p:txBody>
          <a:bodyPr spcFirstLastPara="1" wrap="square" lIns="94065" tIns="47031" rIns="94065" bIns="47031"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eaLnBrk="1" fontAlgn="auto" hangingPunct="1">
              <a:spcAft>
                <a:spcPts val="0"/>
              </a:spcAft>
              <a:buClr>
                <a:srgbClr val="000000"/>
              </a:buClr>
            </a:pPr>
            <a:fld id="{00000000-1234-1234-1234-123412341234}" type="slidenum">
              <a:rPr lang="en-US" kern="0" smtClean="0"/>
              <a:pPr eaLnBrk="1" fontAlgn="auto" hangingPunct="1">
                <a:spcAft>
                  <a:spcPts val="0"/>
                </a:spcAft>
                <a:buClr>
                  <a:srgbClr val="000000"/>
                </a:buClr>
              </a:pPr>
              <a:t>‹#›</a:t>
            </a:fld>
            <a:endParaRPr lang="en-US" kern="0"/>
          </a:p>
        </p:txBody>
      </p:sp>
    </p:spTree>
    <p:extLst>
      <p:ext uri="{BB962C8B-B14F-4D97-AF65-F5344CB8AC3E}">
        <p14:creationId xmlns:p14="http://schemas.microsoft.com/office/powerpoint/2010/main" val="2315529689"/>
      </p:ext>
    </p:extLst>
  </p:cSld>
  <p:clrMap bg1="lt1" tx1="dk1" bg2="dk2" tx2="lt2" accent1="accent1" accent2="accent2" accent3="accent3" accent4="accent4" accent5="accent5" accent6="accent6" hlink="hlink" folHlink="folHlink"/>
  <p:sldLayoutIdLst>
    <p:sldLayoutId id="2147483724" r:id="rId1"/>
    <p:sldLayoutId id="2147483725"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6.png"/><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5">
            <a:extLst>
              <a:ext uri="{FF2B5EF4-FFF2-40B4-BE49-F238E27FC236}">
                <a16:creationId xmlns:a16="http://schemas.microsoft.com/office/drawing/2014/main" id="{23A9FB46-12E4-6DF6-737C-28227406A8ED}"/>
              </a:ext>
            </a:extLst>
          </p:cNvPr>
          <p:cNvSpPr>
            <a:spLocks noChangeArrowheads="1"/>
          </p:cNvSpPr>
          <p:nvPr/>
        </p:nvSpPr>
        <p:spPr bwMode="auto">
          <a:xfrm>
            <a:off x="1901756" y="1483722"/>
            <a:ext cx="6877453" cy="858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50000"/>
              </a:lnSpc>
              <a:spcAft>
                <a:spcPts val="1211"/>
              </a:spcAft>
            </a:pPr>
            <a:r>
              <a:rPr lang="en-US" sz="3200" b="1" dirty="0">
                <a:solidFill>
                  <a:srgbClr val="FF0000"/>
                </a:solidFill>
                <a:highlight>
                  <a:srgbClr val="FFFF00"/>
                </a:highlight>
                <a:latin typeface="Cambria" pitchFamily="18" charset="0"/>
                <a:ea typeface="Times New Roman" pitchFamily="18" charset="0"/>
                <a:cs typeface="Arial" pitchFamily="34" charset="0"/>
              </a:rPr>
              <a:t>UNIT-2</a:t>
            </a:r>
            <a:r>
              <a:rPr lang="en-US" sz="3200" dirty="0">
                <a:solidFill>
                  <a:srgbClr val="FF0000"/>
                </a:solidFill>
                <a:highlight>
                  <a:srgbClr val="FFFF00"/>
                </a:highlight>
                <a:latin typeface="Arial" pitchFamily="34" charset="0"/>
                <a:ea typeface="Times New Roman" pitchFamily="18" charset="0"/>
                <a:cs typeface="Arial" pitchFamily="34" charset="0"/>
              </a:rPr>
              <a:t>: </a:t>
            </a:r>
            <a:r>
              <a:rPr lang="en-US" sz="3200" b="1" dirty="0">
                <a:solidFill>
                  <a:srgbClr val="002060"/>
                </a:solidFill>
                <a:highlight>
                  <a:srgbClr val="FFFF00"/>
                </a:highlight>
                <a:latin typeface="Cambria" panose="02040503050406030204" pitchFamily="18" charset="0"/>
                <a:ea typeface="Times New Roman" pitchFamily="18" charset="0"/>
                <a:cs typeface="Arial" pitchFamily="34" charset="0"/>
              </a:rPr>
              <a:t>Advanced </a:t>
            </a:r>
            <a:r>
              <a:rPr lang="en-US" altLang="en-US" sz="3200" b="1" dirty="0">
                <a:solidFill>
                  <a:srgbClr val="002060"/>
                </a:solidFill>
                <a:highlight>
                  <a:srgbClr val="FFFF00"/>
                </a:highlight>
                <a:latin typeface="Cambria" panose="02040503050406030204" pitchFamily="18" charset="0"/>
              </a:rPr>
              <a:t>Trees &amp; Heaps</a:t>
            </a:r>
          </a:p>
        </p:txBody>
      </p:sp>
      <p:sp>
        <p:nvSpPr>
          <p:cNvPr id="4" name="TextBox 3">
            <a:extLst>
              <a:ext uri="{FF2B5EF4-FFF2-40B4-BE49-F238E27FC236}">
                <a16:creationId xmlns:a16="http://schemas.microsoft.com/office/drawing/2014/main" id="{AEBB3989-1C92-2458-692C-31DDDD639DAD}"/>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pic>
        <p:nvPicPr>
          <p:cNvPr id="9" name="Picture 8">
            <a:extLst>
              <a:ext uri="{FF2B5EF4-FFF2-40B4-BE49-F238E27FC236}">
                <a16:creationId xmlns:a16="http://schemas.microsoft.com/office/drawing/2014/main" id="{C9B56A2B-72BC-65C3-B0E0-158E7C31622C}"/>
              </a:ext>
            </a:extLst>
          </p:cNvPr>
          <p:cNvPicPr>
            <a:picLocks noChangeAspect="1"/>
          </p:cNvPicPr>
          <p:nvPr/>
        </p:nvPicPr>
        <p:blipFill>
          <a:blip r:embed="rId2"/>
          <a:stretch>
            <a:fillRect/>
          </a:stretch>
        </p:blipFill>
        <p:spPr>
          <a:xfrm>
            <a:off x="865758" y="2342420"/>
            <a:ext cx="9119686" cy="4338536"/>
          </a:xfrm>
          <a:prstGeom prst="rect">
            <a:avLst/>
          </a:prstGeom>
        </p:spPr>
      </p:pic>
      <p:sp>
        <p:nvSpPr>
          <p:cNvPr id="11" name="TextBox 10">
            <a:extLst>
              <a:ext uri="{FF2B5EF4-FFF2-40B4-BE49-F238E27FC236}">
                <a16:creationId xmlns:a16="http://schemas.microsoft.com/office/drawing/2014/main" id="{72E5EC54-7D31-82DA-0099-722E7EE91193}"/>
              </a:ext>
            </a:extLst>
          </p:cNvPr>
          <p:cNvSpPr txBox="1"/>
          <p:nvPr/>
        </p:nvSpPr>
        <p:spPr>
          <a:xfrm>
            <a:off x="2091445" y="561162"/>
            <a:ext cx="6498077" cy="707886"/>
          </a:xfrm>
          <a:prstGeom prst="rect">
            <a:avLst/>
          </a:prstGeom>
          <a:noFill/>
        </p:spPr>
        <p:txBody>
          <a:bodyPr wrap="square">
            <a:spAutoFit/>
          </a:bodyPr>
          <a:lstStyle/>
          <a:p>
            <a:pPr algn="ctr" defTabSz="1188720" eaLnBrk="1" hangingPunct="1"/>
            <a:r>
              <a:rPr lang="en-US" sz="4000" b="1" dirty="0">
                <a:solidFill>
                  <a:srgbClr val="FF0000"/>
                </a:solidFill>
                <a:highlight>
                  <a:srgbClr val="FFCCFF"/>
                </a:highlight>
                <a:latin typeface="Cambria" pitchFamily="18" charset="0"/>
                <a:ea typeface="Times New Roman" pitchFamily="18" charset="0"/>
                <a:cs typeface="Arial" pitchFamily="34" charset="0"/>
              </a:rPr>
              <a:t>Advanced Data Structures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A518DE-B3CC-620A-00B6-C0CDD915058C}"/>
              </a:ext>
            </a:extLst>
          </p:cNvPr>
          <p:cNvSpPr txBox="1"/>
          <p:nvPr/>
        </p:nvSpPr>
        <p:spPr>
          <a:xfrm>
            <a:off x="1264593" y="1120676"/>
            <a:ext cx="7733492" cy="4616648"/>
          </a:xfrm>
          <a:prstGeom prst="rect">
            <a:avLst/>
          </a:prstGeom>
          <a:noFill/>
        </p:spPr>
        <p:txBody>
          <a:bodyPr wrap="square">
            <a:spAutoFit/>
          </a:bodyPr>
          <a:lstStyle/>
          <a:p>
            <a:pPr marL="342900" indent="-342900">
              <a:spcBef>
                <a:spcPts val="0"/>
              </a:spcBef>
              <a:spcAft>
                <a:spcPts val="0"/>
              </a:spcAft>
              <a:buFont typeface="+mj-lt"/>
              <a:buAutoNum type="arabicPeriod"/>
            </a:pPr>
            <a:r>
              <a:rPr lang="en-US" altLang="en-US" sz="2200" b="1" dirty="0">
                <a:solidFill>
                  <a:srgbClr val="FF0000"/>
                </a:solidFill>
                <a:latin typeface="Cambria" panose="02040503050406030204" pitchFamily="18" charset="0"/>
              </a:rPr>
              <a:t>Advanced Trees </a:t>
            </a:r>
          </a:p>
          <a:p>
            <a:pPr marL="719138" lvl="1" indent="-358775">
              <a:spcBef>
                <a:spcPts val="0"/>
              </a:spcBef>
              <a:spcAft>
                <a:spcPts val="0"/>
              </a:spcAft>
              <a:buAutoNum type="alphaLcParenR"/>
            </a:pPr>
            <a:r>
              <a:rPr lang="en-US" altLang="en-US" sz="2200" b="1" dirty="0">
                <a:latin typeface="Cambria" panose="02040503050406030204" pitchFamily="18" charset="0"/>
              </a:rPr>
              <a:t>Extended Binary Tree</a:t>
            </a:r>
          </a:p>
          <a:p>
            <a:pPr marL="719138" lvl="1" indent="-358775">
              <a:spcBef>
                <a:spcPts val="0"/>
              </a:spcBef>
              <a:spcAft>
                <a:spcPts val="0"/>
              </a:spcAft>
              <a:buAutoNum type="alphaLcParenR"/>
            </a:pPr>
            <a:r>
              <a:rPr lang="en-US" altLang="en-US" sz="2200" b="1" dirty="0">
                <a:latin typeface="Cambria" panose="02040503050406030204" pitchFamily="18" charset="0"/>
              </a:rPr>
              <a:t>Threaded Binary Tree ( using In-order )</a:t>
            </a:r>
          </a:p>
          <a:p>
            <a:pPr marL="360363" lvl="1">
              <a:spcBef>
                <a:spcPts val="0"/>
              </a:spcBef>
              <a:spcAft>
                <a:spcPts val="0"/>
              </a:spcAft>
            </a:pPr>
            <a:endParaRPr lang="en-US" altLang="en-US" sz="1000" b="1" dirty="0">
              <a:latin typeface="Cambria" panose="02040503050406030204" pitchFamily="18" charset="0"/>
            </a:endParaRPr>
          </a:p>
          <a:p>
            <a:pPr marL="365125" indent="-358775">
              <a:spcBef>
                <a:spcPts val="0"/>
              </a:spcBef>
              <a:spcAft>
                <a:spcPts val="0"/>
              </a:spcAft>
              <a:buFont typeface="+mj-lt"/>
              <a:buAutoNum type="arabicPeriod"/>
            </a:pPr>
            <a:r>
              <a:rPr lang="en-US" sz="2200" b="1" dirty="0">
                <a:solidFill>
                  <a:srgbClr val="FF0000"/>
                </a:solidFill>
                <a:latin typeface="Times New Roman"/>
                <a:cs typeface="Times New Roman"/>
              </a:rPr>
              <a:t>Algebraic Expression </a:t>
            </a:r>
          </a:p>
          <a:p>
            <a:pPr marL="719138" lvl="1" indent="-358775">
              <a:spcBef>
                <a:spcPts val="0"/>
              </a:spcBef>
              <a:spcAft>
                <a:spcPts val="0"/>
              </a:spcAft>
              <a:buAutoNum type="alphaLcParenR"/>
            </a:pPr>
            <a:r>
              <a:rPr lang="en-US" sz="2200" b="1" dirty="0">
                <a:latin typeface="Times New Roman"/>
                <a:cs typeface="Times New Roman"/>
              </a:rPr>
              <a:t>Representation of Algebraic Expression</a:t>
            </a:r>
          </a:p>
          <a:p>
            <a:pPr marL="719138" lvl="1" indent="-358775">
              <a:spcBef>
                <a:spcPts val="0"/>
              </a:spcBef>
              <a:spcAft>
                <a:spcPts val="0"/>
              </a:spcAft>
              <a:buAutoNum type="alphaLcParenR"/>
            </a:pPr>
            <a:r>
              <a:rPr lang="en-US" sz="2200" b="1" dirty="0">
                <a:latin typeface="Times New Roman"/>
                <a:cs typeface="Times New Roman"/>
              </a:rPr>
              <a:t>Implementation of Algebraic Expression</a:t>
            </a:r>
          </a:p>
          <a:p>
            <a:pPr marL="360363" lvl="1">
              <a:spcBef>
                <a:spcPts val="0"/>
              </a:spcBef>
              <a:spcAft>
                <a:spcPts val="0"/>
              </a:spcAft>
            </a:pPr>
            <a:endParaRPr lang="en-US" sz="1000" b="1" dirty="0">
              <a:latin typeface="Times New Roman"/>
              <a:cs typeface="Times New Roman"/>
            </a:endParaRPr>
          </a:p>
          <a:p>
            <a:pPr marL="365125" indent="-358775">
              <a:spcBef>
                <a:spcPts val="0"/>
              </a:spcBef>
              <a:spcAft>
                <a:spcPts val="0"/>
              </a:spcAft>
              <a:buFont typeface="+mj-lt"/>
              <a:buAutoNum type="arabicPeriod"/>
            </a:pPr>
            <a:r>
              <a:rPr lang="en-US" sz="2200" b="1" dirty="0">
                <a:solidFill>
                  <a:srgbClr val="FF0000"/>
                </a:solidFill>
                <a:latin typeface="Times New Roman"/>
                <a:cs typeface="Times New Roman"/>
              </a:rPr>
              <a:t>Binary Search Trees </a:t>
            </a:r>
          </a:p>
          <a:p>
            <a:pPr marL="719138" lvl="1" indent="-358775">
              <a:spcBef>
                <a:spcPts val="0"/>
              </a:spcBef>
              <a:spcAft>
                <a:spcPts val="0"/>
              </a:spcAft>
              <a:buAutoNum type="alphaLcParenR"/>
            </a:pPr>
            <a:r>
              <a:rPr lang="en-US" sz="2200" b="1" dirty="0">
                <a:latin typeface="Times New Roman"/>
                <a:cs typeface="Times New Roman"/>
              </a:rPr>
              <a:t>Definition of Binary Search Tree</a:t>
            </a:r>
          </a:p>
          <a:p>
            <a:pPr marL="719138" lvl="1" indent="-358775">
              <a:spcBef>
                <a:spcPts val="0"/>
              </a:spcBef>
              <a:spcAft>
                <a:spcPts val="0"/>
              </a:spcAft>
              <a:buAutoNum type="alphaLcParenR"/>
            </a:pPr>
            <a:r>
              <a:rPr lang="en-US" altLang="en-US" sz="2200" b="1" dirty="0">
                <a:latin typeface="Times New Roman"/>
                <a:cs typeface="Times New Roman"/>
              </a:rPr>
              <a:t>Binary Search Tree operations</a:t>
            </a:r>
          </a:p>
          <a:p>
            <a:pPr marL="360363" lvl="1">
              <a:spcBef>
                <a:spcPts val="0"/>
              </a:spcBef>
              <a:spcAft>
                <a:spcPts val="0"/>
              </a:spcAft>
            </a:pPr>
            <a:endParaRPr lang="en-US" altLang="en-US" sz="1000" b="1" dirty="0">
              <a:latin typeface="Times New Roman"/>
              <a:cs typeface="Times New Roman"/>
            </a:endParaRPr>
          </a:p>
          <a:p>
            <a:pPr marL="365125" indent="-358775">
              <a:spcBef>
                <a:spcPts val="0"/>
              </a:spcBef>
              <a:spcAft>
                <a:spcPts val="0"/>
              </a:spcAft>
              <a:buFont typeface="+mj-lt"/>
              <a:buAutoNum type="arabicPeriod"/>
            </a:pPr>
            <a:r>
              <a:rPr lang="en-US" sz="2200" b="1" dirty="0">
                <a:solidFill>
                  <a:srgbClr val="FF0000"/>
                </a:solidFill>
                <a:latin typeface="Times New Roman"/>
                <a:cs typeface="Times New Roman"/>
              </a:rPr>
              <a:t>Heaps</a:t>
            </a:r>
          </a:p>
          <a:p>
            <a:pPr marL="719138" lvl="1" indent="-358775">
              <a:spcBef>
                <a:spcPts val="0"/>
              </a:spcBef>
              <a:spcAft>
                <a:spcPts val="0"/>
              </a:spcAft>
              <a:buAutoNum type="alphaLcParenR"/>
            </a:pPr>
            <a:r>
              <a:rPr lang="en-US" sz="2200" b="1" dirty="0">
                <a:latin typeface="Times New Roman"/>
                <a:cs typeface="Times New Roman"/>
              </a:rPr>
              <a:t>Heap Introduction</a:t>
            </a:r>
          </a:p>
          <a:p>
            <a:pPr marL="719138" lvl="1" indent="-358775">
              <a:spcBef>
                <a:spcPts val="0"/>
              </a:spcBef>
              <a:spcAft>
                <a:spcPts val="0"/>
              </a:spcAft>
              <a:buAutoNum type="alphaLcParenR"/>
            </a:pPr>
            <a:r>
              <a:rPr lang="en-US" sz="2200" b="1" dirty="0">
                <a:latin typeface="Times New Roman"/>
                <a:cs typeface="Times New Roman"/>
              </a:rPr>
              <a:t>Types of Heap ( Min heap and Max heap )</a:t>
            </a:r>
          </a:p>
        </p:txBody>
      </p:sp>
      <p:sp>
        <p:nvSpPr>
          <p:cNvPr id="4" name="TextBox 3">
            <a:extLst>
              <a:ext uri="{FF2B5EF4-FFF2-40B4-BE49-F238E27FC236}">
                <a16:creationId xmlns:a16="http://schemas.microsoft.com/office/drawing/2014/main" id="{07344F75-911F-10F5-5E3A-6B4039BB8A38}"/>
              </a:ext>
            </a:extLst>
          </p:cNvPr>
          <p:cNvSpPr txBox="1"/>
          <p:nvPr/>
        </p:nvSpPr>
        <p:spPr>
          <a:xfrm>
            <a:off x="4007797" y="113670"/>
            <a:ext cx="1536969" cy="584775"/>
          </a:xfrm>
          <a:prstGeom prst="rect">
            <a:avLst/>
          </a:prstGeom>
          <a:noFill/>
        </p:spPr>
        <p:txBody>
          <a:bodyPr wrap="square">
            <a:spAutoFit/>
          </a:bodyPr>
          <a:lstStyle/>
          <a:p>
            <a:pPr algn="just" eaLnBrk="1" hangingPunct="1">
              <a:spcBef>
                <a:spcPts val="1211"/>
              </a:spcBef>
            </a:pPr>
            <a:r>
              <a:rPr lang="en-US" altLang="en-US" sz="3200" b="1" u="sng" dirty="0">
                <a:highlight>
                  <a:srgbClr val="FFFF00"/>
                </a:highlight>
                <a:latin typeface="Cambria" panose="02040503050406030204" pitchFamily="18" charset="0"/>
              </a:rPr>
              <a:t>Topics</a:t>
            </a:r>
          </a:p>
        </p:txBody>
      </p:sp>
      <p:sp>
        <p:nvSpPr>
          <p:cNvPr id="5" name="TextBox 4">
            <a:extLst>
              <a:ext uri="{FF2B5EF4-FFF2-40B4-BE49-F238E27FC236}">
                <a16:creationId xmlns:a16="http://schemas.microsoft.com/office/drawing/2014/main" id="{C70512B6-140A-49AD-9BF0-C2D13F5060CB}"/>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Tree>
    <p:extLst>
      <p:ext uri="{BB962C8B-B14F-4D97-AF65-F5344CB8AC3E}">
        <p14:creationId xmlns:p14="http://schemas.microsoft.com/office/powerpoint/2010/main" val="2081074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6">
            <a:extLst>
              <a:ext uri="{FF2B5EF4-FFF2-40B4-BE49-F238E27FC236}">
                <a16:creationId xmlns:a16="http://schemas.microsoft.com/office/drawing/2014/main" id="{495805A2-3392-FEA0-5F52-9D3C02C9C5A5}"/>
              </a:ext>
            </a:extLst>
          </p:cNvPr>
          <p:cNvSpPr>
            <a:spLocks noChangeArrowheads="1"/>
          </p:cNvSpPr>
          <p:nvPr/>
        </p:nvSpPr>
        <p:spPr bwMode="auto">
          <a:xfrm>
            <a:off x="773933" y="1044995"/>
            <a:ext cx="10461513" cy="23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US" altLang="en-US" sz="2400" b="1" dirty="0">
                <a:solidFill>
                  <a:srgbClr val="FF0000"/>
                </a:solidFill>
                <a:latin typeface="Cambria" panose="02040503050406030204" pitchFamily="18" charset="0"/>
              </a:rPr>
              <a:t>Extended Binary Tree:</a:t>
            </a:r>
          </a:p>
          <a:p>
            <a:pPr algn="just" eaLnBrk="1" hangingPunct="1"/>
            <a:endParaRPr lang="en-US" altLang="en-US" sz="100" dirty="0">
              <a:latin typeface="Cambria" panose="02040503050406030204" pitchFamily="18" charset="0"/>
            </a:endParaRPr>
          </a:p>
          <a:p>
            <a:pPr marR="68580" indent="360363" algn="just">
              <a:lnSpc>
                <a:spcPct val="107000"/>
              </a:lnSpc>
              <a:spcBef>
                <a:spcPts val="600"/>
              </a:spcBef>
              <a:spcAft>
                <a:spcPts val="800"/>
              </a:spcAft>
              <a:buNone/>
            </a:pPr>
            <a:r>
              <a:rPr lang="en-IN" sz="2000" kern="100" dirty="0">
                <a:effectLst/>
                <a:latin typeface="Cambria" panose="02040503050406030204" pitchFamily="18" charset="0"/>
                <a:ea typeface="Cambria" panose="02040503050406030204" pitchFamily="18" charset="0"/>
                <a:cs typeface="Gautami" panose="020B0502040204020203" pitchFamily="34" charset="0"/>
              </a:rPr>
              <a:t>An extended binary tree is a binary tree in which every node has either zero or two children. It means that in extended binary tree, all the NULL sub-trees of the original tree are replaced with special nodes called</a:t>
            </a:r>
            <a:r>
              <a:rPr lang="en-IN" sz="2000" kern="100" spc="200"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a:t>
            </a:r>
            <a:r>
              <a:rPr lang="en-IN" sz="2000" b="1" kern="100" dirty="0">
                <a:effectLst/>
                <a:latin typeface="Cambria" panose="02040503050406030204" pitchFamily="18" charset="0"/>
                <a:ea typeface="Cambria" panose="02040503050406030204" pitchFamily="18" charset="0"/>
                <a:cs typeface="Gautami" panose="020B0502040204020203" pitchFamily="34" charset="0"/>
              </a:rPr>
              <a:t>external nodes</a:t>
            </a:r>
            <a:r>
              <a:rPr lang="en-IN" sz="2000" kern="100" dirty="0">
                <a:effectLst/>
                <a:latin typeface="Cambria" panose="02040503050406030204" pitchFamily="18" charset="0"/>
                <a:ea typeface="Cambria" panose="02040503050406030204" pitchFamily="18" charset="0"/>
                <a:cs typeface="Gautami" panose="020B0502040204020203" pitchFamily="34" charset="0"/>
              </a:rPr>
              <a:t>” whereas other nodes are called “</a:t>
            </a:r>
            <a:r>
              <a:rPr lang="en-IN" sz="2000" b="1" kern="100" dirty="0">
                <a:effectLst/>
                <a:latin typeface="Cambria" panose="02040503050406030204" pitchFamily="18" charset="0"/>
                <a:ea typeface="Cambria" panose="02040503050406030204" pitchFamily="18" charset="0"/>
                <a:cs typeface="Gautami" panose="020B0502040204020203" pitchFamily="34" charset="0"/>
              </a:rPr>
              <a:t>internal nodes</a:t>
            </a:r>
            <a:r>
              <a:rPr lang="en-IN" sz="2000" kern="100" dirty="0">
                <a:effectLst/>
                <a:latin typeface="Cambria" panose="02040503050406030204" pitchFamily="18" charset="0"/>
                <a:ea typeface="Cambria" panose="02040503050406030204" pitchFamily="18" charset="0"/>
                <a:cs typeface="Gautami" panose="020B0502040204020203" pitchFamily="34" charset="0"/>
              </a:rPr>
              <a:t>”. </a:t>
            </a:r>
          </a:p>
          <a:p>
            <a:pPr marR="68580" algn="just">
              <a:lnSpc>
                <a:spcPct val="107000"/>
              </a:lnSpc>
              <a:spcBef>
                <a:spcPts val="600"/>
              </a:spcBef>
              <a:spcAft>
                <a:spcPts val="800"/>
              </a:spcAft>
              <a:buNone/>
            </a:pPr>
            <a:r>
              <a:rPr lang="en-IN" sz="2000" kern="100" dirty="0">
                <a:effectLst/>
                <a:latin typeface="Cambria" panose="02040503050406030204" pitchFamily="18" charset="0"/>
                <a:ea typeface="Cambria" panose="02040503050406030204" pitchFamily="18" charset="0"/>
                <a:cs typeface="Gautami" panose="020B0502040204020203" pitchFamily="34" charset="0"/>
              </a:rPr>
              <a:t>All external nodes are</a:t>
            </a:r>
            <a:r>
              <a:rPr lang="en-IN" sz="2000" kern="100" spc="-5"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leaf</a:t>
            </a:r>
            <a:r>
              <a:rPr lang="en-IN" sz="2000" kern="100" spc="-10"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nodes</a:t>
            </a:r>
            <a:r>
              <a:rPr lang="en-IN" sz="2000" kern="100" spc="-5"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and the</a:t>
            </a:r>
            <a:r>
              <a:rPr lang="en-IN" sz="2000" kern="100" spc="-10"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internal</a:t>
            </a:r>
            <a:r>
              <a:rPr lang="en-IN" sz="2000" kern="100" spc="-5"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nodes are</a:t>
            </a:r>
            <a:r>
              <a:rPr lang="en-IN" sz="2000" kern="100" spc="-10"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non-leaf</a:t>
            </a:r>
            <a:r>
              <a:rPr lang="en-IN" sz="2000" kern="100" spc="-10"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nodes.</a:t>
            </a:r>
            <a:r>
              <a:rPr lang="en-IN" sz="2000" kern="100" spc="-15"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They</a:t>
            </a:r>
            <a:r>
              <a:rPr lang="en-IN" sz="2000" kern="100" spc="-20"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are also</a:t>
            </a:r>
            <a:r>
              <a:rPr lang="en-IN" sz="2000" kern="100" spc="-5" dirty="0">
                <a:effectLst/>
                <a:latin typeface="Cambria" panose="02040503050406030204" pitchFamily="18" charset="0"/>
                <a:ea typeface="Cambria" panose="02040503050406030204" pitchFamily="18" charset="0"/>
                <a:cs typeface="Gautami" panose="020B0502040204020203" pitchFamily="34" charset="0"/>
              </a:rPr>
              <a:t> </a:t>
            </a:r>
            <a:r>
              <a:rPr lang="en-IN" sz="2000" kern="100" dirty="0">
                <a:effectLst/>
                <a:latin typeface="Cambria" panose="02040503050406030204" pitchFamily="18" charset="0"/>
                <a:ea typeface="Cambria" panose="02040503050406030204" pitchFamily="18" charset="0"/>
                <a:cs typeface="Gautami" panose="020B0502040204020203" pitchFamily="34" charset="0"/>
              </a:rPr>
              <a:t>called as “</a:t>
            </a:r>
            <a:r>
              <a:rPr lang="en-IN" sz="2000" b="1" kern="100" dirty="0">
                <a:effectLst/>
                <a:latin typeface="Cambria" panose="02040503050406030204" pitchFamily="18" charset="0"/>
                <a:ea typeface="Cambria" panose="02040503050406030204" pitchFamily="18" charset="0"/>
                <a:cs typeface="Gautami" panose="020B0502040204020203" pitchFamily="34" charset="0"/>
              </a:rPr>
              <a:t>Strict Binary Tree” </a:t>
            </a:r>
            <a:r>
              <a:rPr lang="en-IN" sz="2000" kern="100" dirty="0">
                <a:effectLst/>
                <a:latin typeface="Cambria" panose="02040503050406030204" pitchFamily="18" charset="0"/>
                <a:ea typeface="Cambria" panose="02040503050406030204" pitchFamily="18" charset="0"/>
                <a:cs typeface="Gautami" panose="020B0502040204020203" pitchFamily="34" charset="0"/>
              </a:rPr>
              <a:t>or</a:t>
            </a:r>
            <a:r>
              <a:rPr lang="en-IN" sz="2000" b="1" kern="100" dirty="0">
                <a:effectLst/>
                <a:latin typeface="Cambria" panose="02040503050406030204" pitchFamily="18" charset="0"/>
                <a:ea typeface="Cambria" panose="02040503050406030204" pitchFamily="18" charset="0"/>
                <a:cs typeface="Gautami" panose="020B0502040204020203" pitchFamily="34" charset="0"/>
              </a:rPr>
              <a:t> “Two-Tree”.</a:t>
            </a:r>
            <a:endParaRPr lang="en-IN" sz="2000" kern="100" dirty="0">
              <a:effectLst/>
              <a:latin typeface="Cambria" panose="02040503050406030204" pitchFamily="18" charset="0"/>
              <a:ea typeface="Cambria" panose="02040503050406030204" pitchFamily="18" charset="0"/>
              <a:cs typeface="Gautami" panose="020B0502040204020203" pitchFamily="34" charset="0"/>
            </a:endParaRPr>
          </a:p>
          <a:p>
            <a:pPr algn="just" eaLnBrk="1" hangingPunct="1"/>
            <a:endParaRPr lang="en-US" altLang="en-US" sz="2400" dirty="0">
              <a:latin typeface="Cambria" panose="02040503050406030204" pitchFamily="18" charset="0"/>
            </a:endParaRPr>
          </a:p>
        </p:txBody>
      </p:sp>
      <p:sp>
        <p:nvSpPr>
          <p:cNvPr id="3" name="TextBox 2">
            <a:extLst>
              <a:ext uri="{FF2B5EF4-FFF2-40B4-BE49-F238E27FC236}">
                <a16:creationId xmlns:a16="http://schemas.microsoft.com/office/drawing/2014/main" id="{19E3B431-A8BC-D7DD-6B43-5A0846D49AAB}"/>
              </a:ext>
            </a:extLst>
          </p:cNvPr>
          <p:cNvSpPr txBox="1"/>
          <p:nvPr/>
        </p:nvSpPr>
        <p:spPr>
          <a:xfrm>
            <a:off x="2996119" y="241716"/>
            <a:ext cx="4036979" cy="477054"/>
          </a:xfrm>
          <a:prstGeom prst="rect">
            <a:avLst/>
          </a:prstGeom>
          <a:noFill/>
        </p:spPr>
        <p:txBody>
          <a:bodyPr wrap="square">
            <a:spAutoFit/>
          </a:bodyPr>
          <a:lstStyle/>
          <a:p>
            <a:pPr algn="just" eaLnBrk="1" hangingPunct="1">
              <a:spcBef>
                <a:spcPts val="1211"/>
              </a:spcBef>
            </a:pPr>
            <a:r>
              <a:rPr lang="en-US" altLang="en-US" sz="2400" b="1" dirty="0">
                <a:highlight>
                  <a:srgbClr val="FFFF00"/>
                </a:highlight>
                <a:latin typeface="Cambria" panose="02040503050406030204" pitchFamily="18" charset="0"/>
              </a:rPr>
              <a:t>1. a) Extended Binary Tree</a:t>
            </a:r>
          </a:p>
        </p:txBody>
      </p:sp>
      <p:sp>
        <p:nvSpPr>
          <p:cNvPr id="4" name="TextBox 3">
            <a:extLst>
              <a:ext uri="{FF2B5EF4-FFF2-40B4-BE49-F238E27FC236}">
                <a16:creationId xmlns:a16="http://schemas.microsoft.com/office/drawing/2014/main" id="{DBDEF56C-FCAE-C3B2-DE5D-BF87C621905A}"/>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pic>
        <p:nvPicPr>
          <p:cNvPr id="5" name="Image 21">
            <a:extLst>
              <a:ext uri="{FF2B5EF4-FFF2-40B4-BE49-F238E27FC236}">
                <a16:creationId xmlns:a16="http://schemas.microsoft.com/office/drawing/2014/main" id="{32FDC1A3-D0C9-D7F0-D003-3FF51779E3C1}"/>
              </a:ext>
            </a:extLst>
          </p:cNvPr>
          <p:cNvPicPr>
            <a:picLocks/>
          </p:cNvPicPr>
          <p:nvPr/>
        </p:nvPicPr>
        <p:blipFill>
          <a:blip r:embed="rId2" cstate="print"/>
          <a:stretch>
            <a:fillRect/>
          </a:stretch>
        </p:blipFill>
        <p:spPr>
          <a:xfrm>
            <a:off x="1206230" y="3397390"/>
            <a:ext cx="8570068" cy="3041839"/>
          </a:xfrm>
          <a:prstGeom prst="rect">
            <a:avLst/>
          </a:prstGeom>
        </p:spPr>
      </p:pic>
      <p:sp>
        <p:nvSpPr>
          <p:cNvPr id="7" name="TextBox 6">
            <a:extLst>
              <a:ext uri="{FF2B5EF4-FFF2-40B4-BE49-F238E27FC236}">
                <a16:creationId xmlns:a16="http://schemas.microsoft.com/office/drawing/2014/main" id="{5EAF3F38-BADA-4E77-AAE3-F396F2D008A9}"/>
              </a:ext>
            </a:extLst>
          </p:cNvPr>
          <p:cNvSpPr txBox="1"/>
          <p:nvPr/>
        </p:nvSpPr>
        <p:spPr>
          <a:xfrm>
            <a:off x="6004689" y="6473277"/>
            <a:ext cx="3312267" cy="373757"/>
          </a:xfrm>
          <a:prstGeom prst="rect">
            <a:avLst/>
          </a:prstGeom>
          <a:noFill/>
        </p:spPr>
        <p:txBody>
          <a:bodyPr wrap="square">
            <a:spAutoFit/>
          </a:bodyPr>
          <a:lstStyle/>
          <a:p>
            <a:pPr algn="ctr">
              <a:lnSpc>
                <a:spcPct val="107000"/>
              </a:lnSpc>
              <a:spcBef>
                <a:spcPts val="1465"/>
              </a:spcBef>
              <a:spcAft>
                <a:spcPts val="800"/>
              </a:spcAft>
              <a:buNone/>
            </a:pPr>
            <a:r>
              <a:rPr lang="en-IN" sz="1800" b="1" kern="100" dirty="0">
                <a:effectLst/>
                <a:latin typeface="Cambria" panose="02040503050406030204" pitchFamily="18" charset="0"/>
                <a:ea typeface="Calibri" panose="020F0502020204030204" pitchFamily="34" charset="0"/>
                <a:cs typeface="Gautami" panose="020B0502040204020203" pitchFamily="34" charset="0"/>
              </a:rPr>
              <a:t>@</a:t>
            </a:r>
            <a:r>
              <a:rPr lang="en-IN" sz="1800" b="1" kern="100" spc="-15" dirty="0">
                <a:effectLst/>
                <a:latin typeface="Cambria" panose="02040503050406030204" pitchFamily="18" charset="0"/>
                <a:ea typeface="Calibri" panose="020F0502020204030204" pitchFamily="34" charset="0"/>
                <a:cs typeface="Gautami" panose="020B0502040204020203" pitchFamily="34" charset="0"/>
              </a:rPr>
              <a:t> </a:t>
            </a:r>
            <a:r>
              <a:rPr lang="en-IN" sz="1800" b="1" kern="100" dirty="0">
                <a:effectLst/>
                <a:latin typeface="Cambria" panose="02040503050406030204" pitchFamily="18" charset="0"/>
                <a:ea typeface="Calibri" panose="020F0502020204030204" pitchFamily="34" charset="0"/>
                <a:cs typeface="Gautami" panose="020B0502040204020203" pitchFamily="34" charset="0"/>
              </a:rPr>
              <a:t>Extended Binary </a:t>
            </a:r>
            <a:r>
              <a:rPr lang="en-IN" sz="1800" b="1" kern="100" spc="-20" dirty="0">
                <a:effectLst/>
                <a:latin typeface="Cambria" panose="02040503050406030204" pitchFamily="18" charset="0"/>
                <a:ea typeface="Calibri" panose="020F0502020204030204" pitchFamily="34" charset="0"/>
                <a:cs typeface="Gautami" panose="020B0502040204020203" pitchFamily="34" charset="0"/>
              </a:rPr>
              <a:t>Tree</a:t>
            </a:r>
            <a:endParaRPr lang="en-IN" sz="1600" kern="100" dirty="0">
              <a:effectLst/>
              <a:latin typeface="Calibri" panose="020F0502020204030204" pitchFamily="34" charset="0"/>
              <a:ea typeface="Calibri" panose="020F0502020204030204" pitchFamily="34" charset="0"/>
              <a:cs typeface="Gautami" panose="020B05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Rectangle 6">
            <a:extLst>
              <a:ext uri="{FF2B5EF4-FFF2-40B4-BE49-F238E27FC236}">
                <a16:creationId xmlns:a16="http://schemas.microsoft.com/office/drawing/2014/main" id="{136983B5-CD77-6E7B-99E3-BEF2CF09F21B}"/>
              </a:ext>
            </a:extLst>
          </p:cNvPr>
          <p:cNvSpPr>
            <a:spLocks noChangeArrowheads="1"/>
          </p:cNvSpPr>
          <p:nvPr/>
        </p:nvSpPr>
        <p:spPr bwMode="auto">
          <a:xfrm>
            <a:off x="865761" y="1061491"/>
            <a:ext cx="10447507" cy="2783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R="71120" algn="just">
              <a:lnSpc>
                <a:spcPct val="97000"/>
              </a:lnSpc>
              <a:spcBef>
                <a:spcPts val="525"/>
              </a:spcBef>
            </a:pPr>
            <a:r>
              <a:rPr lang="en-US" altLang="en-US" sz="2500" b="1" dirty="0">
                <a:solidFill>
                  <a:srgbClr val="FF0000"/>
                </a:solidFill>
                <a:latin typeface="Cambria" panose="02040503050406030204" pitchFamily="18" charset="0"/>
              </a:rPr>
              <a:t>Threaded Binary Tree:</a:t>
            </a:r>
            <a:endParaRPr lang="en-US" sz="2500" dirty="0">
              <a:effectLst/>
              <a:latin typeface="Cambria" panose="02040503050406030204" pitchFamily="18" charset="0"/>
              <a:ea typeface="Times New Roman" panose="02020603050405020304" pitchFamily="18" charset="0"/>
            </a:endParaRPr>
          </a:p>
          <a:p>
            <a:pPr marR="71120" indent="360363" algn="just">
              <a:lnSpc>
                <a:spcPct val="97000"/>
              </a:lnSpc>
              <a:spcBef>
                <a:spcPts val="525"/>
              </a:spcBef>
              <a:buNone/>
            </a:pPr>
            <a:r>
              <a:rPr lang="en-US" sz="2000" dirty="0">
                <a:effectLst/>
                <a:latin typeface="Cambria" panose="02040503050406030204" pitchFamily="18" charset="0"/>
                <a:ea typeface="Times New Roman" panose="02020603050405020304" pitchFamily="18" charset="0"/>
              </a:rPr>
              <a:t>A threaded binary tree is a binary tree in which every node that does not have a right child has a thread (or link) to its In-order successor. By doing this threading we avoid the recursive method of traversing a tree. Moreover, half of the entries in the lift- child and right-child fields will contain NULL pointers. </a:t>
            </a:r>
            <a:endParaRPr lang="en-IN" sz="2000" dirty="0">
              <a:effectLst/>
              <a:latin typeface="Times New Roman" panose="02020603050405020304" pitchFamily="18" charset="0"/>
              <a:ea typeface="Times New Roman" panose="02020603050405020304" pitchFamily="18" charset="0"/>
            </a:endParaRPr>
          </a:p>
          <a:p>
            <a:pPr marR="71120" algn="just">
              <a:lnSpc>
                <a:spcPct val="97000"/>
              </a:lnSpc>
              <a:spcBef>
                <a:spcPts val="525"/>
              </a:spcBef>
              <a:buNone/>
            </a:pPr>
            <a:r>
              <a:rPr lang="en-US" sz="2000" dirty="0">
                <a:effectLst/>
                <a:latin typeface="Cambria" panose="02040503050406030204" pitchFamily="18" charset="0"/>
                <a:ea typeface="Times New Roman" panose="02020603050405020304" pitchFamily="18" charset="0"/>
              </a:rPr>
              <a:t>These fields may be used more efficiently by replacing the NULL entries by Special pointers which points to nodes higher in the tree. Such types of </a:t>
            </a:r>
            <a:r>
              <a:rPr lang="en-US" sz="2000" b="1" dirty="0">
                <a:effectLst/>
                <a:latin typeface="Cambria" panose="02040503050406030204" pitchFamily="18" charset="0"/>
                <a:ea typeface="Times New Roman" panose="02020603050405020304" pitchFamily="18" charset="0"/>
              </a:rPr>
              <a:t>special pointers </a:t>
            </a:r>
            <a:r>
              <a:rPr lang="en-US" sz="2000" dirty="0">
                <a:effectLst/>
                <a:latin typeface="Cambria" panose="02040503050406030204" pitchFamily="18" charset="0"/>
                <a:ea typeface="Times New Roman" panose="02020603050405020304" pitchFamily="18" charset="0"/>
              </a:rPr>
              <a:t>are called</a:t>
            </a:r>
            <a:r>
              <a:rPr lang="en-US" sz="2000" b="1" dirty="0">
                <a:effectLst/>
                <a:latin typeface="Cambria" panose="02040503050406030204" pitchFamily="18" charset="0"/>
                <a:ea typeface="Times New Roman" panose="02020603050405020304" pitchFamily="18" charset="0"/>
              </a:rPr>
              <a:t> “threads</a:t>
            </a:r>
            <a:r>
              <a:rPr lang="en-US" sz="2000" dirty="0">
                <a:effectLst/>
                <a:latin typeface="Cambria" panose="02040503050406030204" pitchFamily="18" charset="0"/>
                <a:ea typeface="Times New Roman" panose="02020603050405020304" pitchFamily="18" charset="0"/>
              </a:rPr>
              <a:t>” and a binary tree with special pointers (threads) is called “</a:t>
            </a:r>
            <a:r>
              <a:rPr lang="en-US" sz="2000" b="1" dirty="0">
                <a:effectLst/>
                <a:latin typeface="Cambria" panose="02040503050406030204" pitchFamily="18" charset="0"/>
                <a:ea typeface="Times New Roman" panose="02020603050405020304" pitchFamily="18" charset="0"/>
              </a:rPr>
              <a:t>threaded binary tree</a:t>
            </a:r>
            <a:r>
              <a:rPr lang="en-US" sz="2000" dirty="0">
                <a:effectLst/>
                <a:latin typeface="Cambria" panose="02040503050406030204" pitchFamily="18" charset="0"/>
                <a:ea typeface="Times New Roman" panose="02020603050405020304" pitchFamily="18" charset="0"/>
              </a:rPr>
              <a:t>”.</a:t>
            </a:r>
            <a:endParaRPr lang="en-IN" sz="2000" dirty="0">
              <a:effectLst/>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a16="http://schemas.microsoft.com/office/drawing/2014/main" id="{1FF12D1F-5AB8-EFA4-7DC1-7610F42334EA}"/>
              </a:ext>
            </a:extLst>
          </p:cNvPr>
          <p:cNvSpPr txBox="1"/>
          <p:nvPr/>
        </p:nvSpPr>
        <p:spPr>
          <a:xfrm>
            <a:off x="3005847" y="210511"/>
            <a:ext cx="4105073" cy="461665"/>
          </a:xfrm>
          <a:prstGeom prst="rect">
            <a:avLst/>
          </a:prstGeom>
          <a:noFill/>
        </p:spPr>
        <p:txBody>
          <a:bodyPr wrap="square">
            <a:spAutoFit/>
          </a:bodyPr>
          <a:lstStyle/>
          <a:p>
            <a:pPr algn="just" eaLnBrk="1" hangingPunct="1">
              <a:spcAft>
                <a:spcPts val="1074"/>
              </a:spcAft>
            </a:pPr>
            <a:r>
              <a:rPr lang="en-US" altLang="en-US" sz="2400" b="1" dirty="0">
                <a:highlight>
                  <a:srgbClr val="FFFF00"/>
                </a:highlight>
                <a:latin typeface="Cambria" panose="02040503050406030204" pitchFamily="18" charset="0"/>
              </a:rPr>
              <a:t>1. b) Threaded Binary Tree</a:t>
            </a:r>
          </a:p>
        </p:txBody>
      </p:sp>
      <p:sp>
        <p:nvSpPr>
          <p:cNvPr id="5" name="TextBox 4">
            <a:extLst>
              <a:ext uri="{FF2B5EF4-FFF2-40B4-BE49-F238E27FC236}">
                <a16:creationId xmlns:a16="http://schemas.microsoft.com/office/drawing/2014/main" id="{ECB57337-12D7-EC47-EAE5-680615FA95D4}"/>
              </a:ext>
            </a:extLst>
          </p:cNvPr>
          <p:cNvSpPr txBox="1"/>
          <p:nvPr/>
        </p:nvSpPr>
        <p:spPr>
          <a:xfrm>
            <a:off x="10515601" y="6280917"/>
            <a:ext cx="1361872"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9" name="TextBox 8">
            <a:extLst>
              <a:ext uri="{FF2B5EF4-FFF2-40B4-BE49-F238E27FC236}">
                <a16:creationId xmlns:a16="http://schemas.microsoft.com/office/drawing/2014/main" id="{A34ADD73-23AF-32CA-0DBC-0EB3D616454C}"/>
              </a:ext>
            </a:extLst>
          </p:cNvPr>
          <p:cNvSpPr txBox="1"/>
          <p:nvPr/>
        </p:nvSpPr>
        <p:spPr>
          <a:xfrm>
            <a:off x="729574" y="3839049"/>
            <a:ext cx="10291865" cy="2626938"/>
          </a:xfrm>
          <a:prstGeom prst="rect">
            <a:avLst/>
          </a:prstGeom>
          <a:noFill/>
        </p:spPr>
        <p:txBody>
          <a:bodyPr wrap="square">
            <a:spAutoFit/>
          </a:bodyPr>
          <a:lstStyle/>
          <a:p>
            <a:pPr marR="78105" algn="just">
              <a:lnSpc>
                <a:spcPct val="97000"/>
              </a:lnSpc>
              <a:spcBef>
                <a:spcPts val="1445"/>
              </a:spcBef>
              <a:spcAft>
                <a:spcPts val="800"/>
              </a:spcAft>
              <a:buSzPts val="1300"/>
            </a:pPr>
            <a:r>
              <a:rPr lang="en-US" sz="2400" dirty="0">
                <a:latin typeface="Cambria" panose="02040503050406030204" pitchFamily="18" charset="0"/>
                <a:ea typeface="Times New Roman" panose="02020603050405020304" pitchFamily="18" charset="0"/>
              </a:rPr>
              <a:t>There</a:t>
            </a:r>
            <a:r>
              <a:rPr lang="en-US" sz="2400" spc="-30" dirty="0">
                <a:latin typeface="Cambria" panose="02040503050406030204" pitchFamily="18" charset="0"/>
                <a:ea typeface="Times New Roman" panose="02020603050405020304" pitchFamily="18" charset="0"/>
              </a:rPr>
              <a:t> </a:t>
            </a:r>
            <a:r>
              <a:rPr lang="en-US" sz="2400" dirty="0">
                <a:latin typeface="Cambria" panose="02040503050406030204" pitchFamily="18" charset="0"/>
                <a:ea typeface="Times New Roman" panose="02020603050405020304" pitchFamily="18" charset="0"/>
              </a:rPr>
              <a:t>are</a:t>
            </a:r>
            <a:r>
              <a:rPr lang="en-US" sz="2400" spc="-25" dirty="0">
                <a:latin typeface="Cambria" panose="02040503050406030204" pitchFamily="18" charset="0"/>
                <a:ea typeface="Times New Roman" panose="02020603050405020304" pitchFamily="18" charset="0"/>
              </a:rPr>
              <a:t> </a:t>
            </a:r>
            <a:r>
              <a:rPr lang="en-US" sz="2400" dirty="0">
                <a:latin typeface="Cambria" panose="02040503050406030204" pitchFamily="18" charset="0"/>
                <a:ea typeface="Times New Roman" panose="02020603050405020304" pitchFamily="18" charset="0"/>
              </a:rPr>
              <a:t>two</a:t>
            </a:r>
            <a:r>
              <a:rPr lang="en-US" sz="2400" spc="-25" dirty="0">
                <a:latin typeface="Cambria" panose="02040503050406030204" pitchFamily="18" charset="0"/>
                <a:ea typeface="Times New Roman" panose="02020603050405020304" pitchFamily="18" charset="0"/>
              </a:rPr>
              <a:t> </a:t>
            </a:r>
            <a:r>
              <a:rPr lang="en-US" sz="2400" dirty="0">
                <a:latin typeface="Cambria" panose="02040503050406030204" pitchFamily="18" charset="0"/>
                <a:ea typeface="Times New Roman" panose="02020603050405020304" pitchFamily="18" charset="0"/>
              </a:rPr>
              <a:t>types</a:t>
            </a:r>
            <a:r>
              <a:rPr lang="en-US" sz="2400" spc="-15" dirty="0">
                <a:latin typeface="Cambria" panose="02040503050406030204" pitchFamily="18" charset="0"/>
                <a:ea typeface="Times New Roman" panose="02020603050405020304" pitchFamily="18" charset="0"/>
              </a:rPr>
              <a:t> </a:t>
            </a:r>
            <a:r>
              <a:rPr lang="en-US" sz="2400" dirty="0">
                <a:latin typeface="Cambria" panose="02040503050406030204" pitchFamily="18" charset="0"/>
                <a:ea typeface="Times New Roman" panose="02020603050405020304" pitchFamily="18" charset="0"/>
              </a:rPr>
              <a:t>of</a:t>
            </a:r>
            <a:r>
              <a:rPr lang="en-US" sz="2400" spc="-20" dirty="0">
                <a:latin typeface="Cambria" panose="02040503050406030204" pitchFamily="18" charset="0"/>
                <a:ea typeface="Times New Roman" panose="02020603050405020304" pitchFamily="18" charset="0"/>
              </a:rPr>
              <a:t> </a:t>
            </a:r>
            <a:r>
              <a:rPr lang="en-US" sz="2400" dirty="0">
                <a:latin typeface="Cambria" panose="02040503050406030204" pitchFamily="18" charset="0"/>
                <a:ea typeface="Times New Roman" panose="02020603050405020304" pitchFamily="18" charset="0"/>
              </a:rPr>
              <a:t>threaded</a:t>
            </a:r>
            <a:r>
              <a:rPr lang="en-US" sz="2400" spc="-25" dirty="0">
                <a:latin typeface="Cambria" panose="02040503050406030204" pitchFamily="18" charset="0"/>
                <a:ea typeface="Times New Roman" panose="02020603050405020304" pitchFamily="18" charset="0"/>
              </a:rPr>
              <a:t> </a:t>
            </a:r>
            <a:r>
              <a:rPr lang="en-US" sz="2400" dirty="0">
                <a:latin typeface="Cambria" panose="02040503050406030204" pitchFamily="18" charset="0"/>
                <a:ea typeface="Times New Roman" panose="02020603050405020304" pitchFamily="18" charset="0"/>
              </a:rPr>
              <a:t>binary</a:t>
            </a:r>
            <a:r>
              <a:rPr lang="en-US" sz="2400" spc="-50" dirty="0">
                <a:latin typeface="Cambria" panose="02040503050406030204" pitchFamily="18" charset="0"/>
                <a:ea typeface="Times New Roman" panose="02020603050405020304" pitchFamily="18" charset="0"/>
              </a:rPr>
              <a:t> </a:t>
            </a:r>
            <a:r>
              <a:rPr lang="en-US" sz="2400" spc="-10" dirty="0">
                <a:latin typeface="Cambria" panose="02040503050406030204" pitchFamily="18" charset="0"/>
                <a:ea typeface="Times New Roman" panose="02020603050405020304" pitchFamily="18" charset="0"/>
              </a:rPr>
              <a:t>trees:</a:t>
            </a:r>
            <a:endParaRPr lang="en-IN" sz="2400" dirty="0">
              <a:latin typeface="Times New Roman" panose="02020603050405020304" pitchFamily="18" charset="0"/>
              <a:ea typeface="Times New Roman" panose="02020603050405020304" pitchFamily="18" charset="0"/>
            </a:endParaRPr>
          </a:p>
          <a:p>
            <a:pPr marL="342900" marR="78105" lvl="0" indent="-342900" algn="just">
              <a:lnSpc>
                <a:spcPct val="97000"/>
              </a:lnSpc>
              <a:spcBef>
                <a:spcPts val="1445"/>
              </a:spcBef>
              <a:spcAft>
                <a:spcPts val="800"/>
              </a:spcAft>
              <a:buSzPts val="1300"/>
              <a:buFont typeface="Times New Roman" panose="02020603050405020304" pitchFamily="18" charset="0"/>
              <a:buAutoNum type="romanLcParenR"/>
            </a:pPr>
            <a:r>
              <a:rPr lang="en-IN" sz="2400" b="1" i="1" kern="100" spc="-5" dirty="0">
                <a:effectLst/>
                <a:latin typeface="Cambria" panose="02040503050406030204" pitchFamily="18" charset="0"/>
                <a:ea typeface="Times New Roman" panose="02020603050405020304" pitchFamily="18" charset="0"/>
                <a:cs typeface="Gautami" panose="020B0502040204020203" pitchFamily="34" charset="0"/>
              </a:rPr>
              <a:t>Single Threaded Binary Tree</a:t>
            </a:r>
            <a:r>
              <a:rPr lang="en-IN" sz="2000" kern="100" spc="-5" dirty="0">
                <a:effectLst/>
                <a:latin typeface="Cambria" panose="02040503050406030204" pitchFamily="18" charset="0"/>
                <a:ea typeface="Times New Roman" panose="02020603050405020304" pitchFamily="18" charset="0"/>
                <a:cs typeface="Gautami" panose="020B0502040204020203" pitchFamily="34" charset="0"/>
              </a:rPr>
              <a:t>: A single threaded binary tree is a binary tree in which</a:t>
            </a:r>
            <a:r>
              <a:rPr lang="en-IN" sz="2000" kern="100" spc="200" dirty="0">
                <a:effectLst/>
                <a:latin typeface="Cambria" panose="02040503050406030204" pitchFamily="18" charset="0"/>
                <a:ea typeface="Times New Roman" panose="02020603050405020304" pitchFamily="18" charset="0"/>
                <a:cs typeface="Gautami" panose="020B0502040204020203" pitchFamily="34" charset="0"/>
              </a:rPr>
              <a:t> </a:t>
            </a:r>
            <a:r>
              <a:rPr lang="en-IN" sz="2000" kern="100" spc="-5" dirty="0">
                <a:effectLst/>
                <a:latin typeface="Cambria" panose="02040503050406030204" pitchFamily="18" charset="0"/>
                <a:ea typeface="Times New Roman" panose="02020603050405020304" pitchFamily="18" charset="0"/>
                <a:cs typeface="Gautami" panose="020B0502040204020203" pitchFamily="34" charset="0"/>
              </a:rPr>
              <a:t>a NULL right pointer is made to point to the In-order successor.</a:t>
            </a:r>
          </a:p>
          <a:p>
            <a:pPr marL="342900" marR="78105" indent="-342900" algn="just">
              <a:lnSpc>
                <a:spcPct val="97000"/>
              </a:lnSpc>
              <a:spcBef>
                <a:spcPts val="1445"/>
              </a:spcBef>
              <a:spcAft>
                <a:spcPts val="800"/>
              </a:spcAft>
              <a:buSzPts val="1300"/>
              <a:buFont typeface="Times New Roman" panose="02020603050405020304" pitchFamily="18" charset="0"/>
              <a:buAutoNum type="romanLcParenR"/>
            </a:pPr>
            <a:r>
              <a:rPr lang="en-IN" sz="2400" b="1" i="1" kern="100" spc="-5" dirty="0">
                <a:latin typeface="Cambria" panose="02040503050406030204" pitchFamily="18" charset="0"/>
                <a:cs typeface="Gautami" panose="020B0502040204020203" pitchFamily="34" charset="0"/>
              </a:rPr>
              <a:t>Double Threaded Binary Tree</a:t>
            </a:r>
            <a:r>
              <a:rPr lang="en-IN" sz="2000" b="1" i="1" kern="100" spc="-5" dirty="0">
                <a:latin typeface="Cambria" panose="02040503050406030204" pitchFamily="18" charset="0"/>
                <a:cs typeface="Gautami" panose="020B0502040204020203" pitchFamily="34" charset="0"/>
              </a:rPr>
              <a:t>: </a:t>
            </a:r>
            <a:r>
              <a:rPr lang="en-IN" sz="2000" kern="100" spc="-5" dirty="0">
                <a:latin typeface="Cambria" panose="02040503050406030204" pitchFamily="18" charset="0"/>
                <a:cs typeface="Gautami" panose="020B0502040204020203" pitchFamily="34" charset="0"/>
              </a:rPr>
              <a:t>A double threaded binary tree is a binary tree in which both the left and right NULL pointers are made to point to the In-order predecessor and successor respectively.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C87C-AD90-DFC3-D1D7-38113846DA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2627A0-793E-77F9-5B0F-9EF947F43808}"/>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pic>
        <p:nvPicPr>
          <p:cNvPr id="4" name="Picture 3">
            <a:extLst>
              <a:ext uri="{FF2B5EF4-FFF2-40B4-BE49-F238E27FC236}">
                <a16:creationId xmlns:a16="http://schemas.microsoft.com/office/drawing/2014/main" id="{66112399-DB0B-D580-BF99-93D2DB7C29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81726" y="198807"/>
            <a:ext cx="4501984" cy="2792704"/>
          </a:xfrm>
          <a:prstGeom prst="rect">
            <a:avLst/>
          </a:prstGeom>
          <a:noFill/>
          <a:ln>
            <a:noFill/>
          </a:ln>
        </p:spPr>
      </p:pic>
      <p:sp>
        <p:nvSpPr>
          <p:cNvPr id="6" name="TextBox 5">
            <a:extLst>
              <a:ext uri="{FF2B5EF4-FFF2-40B4-BE49-F238E27FC236}">
                <a16:creationId xmlns:a16="http://schemas.microsoft.com/office/drawing/2014/main" id="{CFE2860F-EA75-A4D7-A5FE-C49919A4457B}"/>
              </a:ext>
            </a:extLst>
          </p:cNvPr>
          <p:cNvSpPr txBox="1"/>
          <p:nvPr/>
        </p:nvSpPr>
        <p:spPr>
          <a:xfrm>
            <a:off x="440665" y="1506765"/>
            <a:ext cx="4108799" cy="738664"/>
          </a:xfrm>
          <a:prstGeom prst="rect">
            <a:avLst/>
          </a:prstGeom>
          <a:noFill/>
        </p:spPr>
        <p:txBody>
          <a:bodyPr wrap="square">
            <a:spAutoFit/>
          </a:bodyPr>
          <a:lstStyle/>
          <a:p>
            <a:pPr algn="just">
              <a:spcBef>
                <a:spcPts val="0"/>
              </a:spcBef>
              <a:spcAft>
                <a:spcPts val="0"/>
              </a:spcAft>
            </a:pPr>
            <a:r>
              <a:rPr lang="en-IN" sz="2000" kern="100" dirty="0">
                <a:effectLst/>
                <a:latin typeface="Cambria" panose="02040503050406030204" pitchFamily="18" charset="0"/>
                <a:ea typeface="Calibri" panose="020F0502020204030204" pitchFamily="34" charset="0"/>
                <a:cs typeface="Gautami" panose="020B0502040204020203" pitchFamily="34" charset="0"/>
              </a:rPr>
              <a:t>In-order</a:t>
            </a:r>
            <a:r>
              <a:rPr lang="en-IN" sz="2000" kern="100" spc="-20" dirty="0">
                <a:effectLst/>
                <a:latin typeface="Cambria" panose="02040503050406030204" pitchFamily="18" charset="0"/>
                <a:ea typeface="Calibri" panose="020F0502020204030204" pitchFamily="34" charset="0"/>
                <a:cs typeface="Gautami" panose="020B0502040204020203" pitchFamily="34" charset="0"/>
              </a:rPr>
              <a:t> </a:t>
            </a:r>
            <a:r>
              <a:rPr lang="en-IN" sz="2000" kern="100" dirty="0">
                <a:effectLst/>
                <a:latin typeface="Cambria" panose="02040503050406030204" pitchFamily="18" charset="0"/>
                <a:ea typeface="Calibri" panose="020F0502020204030204" pitchFamily="34" charset="0"/>
                <a:cs typeface="Gautami" panose="020B0502040204020203" pitchFamily="34" charset="0"/>
              </a:rPr>
              <a:t>of the</a:t>
            </a:r>
            <a:r>
              <a:rPr lang="en-IN" sz="2000" kern="100" spc="-20" dirty="0">
                <a:effectLst/>
                <a:latin typeface="Cambria" panose="02040503050406030204" pitchFamily="18" charset="0"/>
                <a:ea typeface="Calibri" panose="020F0502020204030204" pitchFamily="34" charset="0"/>
                <a:cs typeface="Gautami" panose="020B0502040204020203" pitchFamily="34" charset="0"/>
              </a:rPr>
              <a:t> </a:t>
            </a:r>
            <a:r>
              <a:rPr lang="en-IN" sz="2000" kern="100" dirty="0">
                <a:effectLst/>
                <a:latin typeface="Cambria" panose="02040503050406030204" pitchFamily="18" charset="0"/>
                <a:ea typeface="Calibri" panose="020F0502020204030204" pitchFamily="34" charset="0"/>
                <a:cs typeface="Gautami" panose="020B0502040204020203" pitchFamily="34" charset="0"/>
              </a:rPr>
              <a:t>give</a:t>
            </a:r>
            <a:r>
              <a:rPr lang="en-IN" sz="2000" kern="100" spc="-15" dirty="0">
                <a:effectLst/>
                <a:latin typeface="Cambria" panose="02040503050406030204" pitchFamily="18" charset="0"/>
                <a:ea typeface="Calibri" panose="020F0502020204030204" pitchFamily="34" charset="0"/>
                <a:cs typeface="Gautami" panose="020B0502040204020203" pitchFamily="34" charset="0"/>
              </a:rPr>
              <a:t> </a:t>
            </a:r>
            <a:r>
              <a:rPr lang="en-IN" sz="2000" kern="100" dirty="0">
                <a:effectLst/>
                <a:latin typeface="Cambria" panose="02040503050406030204" pitchFamily="18" charset="0"/>
                <a:ea typeface="Calibri" panose="020F0502020204030204" pitchFamily="34" charset="0"/>
                <a:cs typeface="Gautami" panose="020B0502040204020203" pitchFamily="34" charset="0"/>
              </a:rPr>
              <a:t>binary</a:t>
            </a:r>
            <a:r>
              <a:rPr lang="en-IN" sz="2000" kern="100" spc="-40" dirty="0">
                <a:effectLst/>
                <a:latin typeface="Cambria" panose="02040503050406030204" pitchFamily="18" charset="0"/>
                <a:ea typeface="Calibri" panose="020F0502020204030204" pitchFamily="34" charset="0"/>
                <a:cs typeface="Gautami" panose="020B0502040204020203" pitchFamily="34" charset="0"/>
              </a:rPr>
              <a:t> </a:t>
            </a:r>
            <a:r>
              <a:rPr lang="en-IN" sz="2000" kern="100" dirty="0">
                <a:effectLst/>
                <a:latin typeface="Cambria" panose="02040503050406030204" pitchFamily="18" charset="0"/>
                <a:ea typeface="Calibri" panose="020F0502020204030204" pitchFamily="34" charset="0"/>
                <a:cs typeface="Gautami" panose="020B0502040204020203" pitchFamily="34" charset="0"/>
              </a:rPr>
              <a:t>tree:</a:t>
            </a:r>
            <a:r>
              <a:rPr lang="en-IN" sz="2000" kern="100" spc="-5" dirty="0">
                <a:effectLst/>
                <a:latin typeface="Cambria" panose="02040503050406030204" pitchFamily="18" charset="0"/>
                <a:ea typeface="Calibri" panose="020F0502020204030204" pitchFamily="34" charset="0"/>
                <a:cs typeface="Gautami" panose="020B0502040204020203" pitchFamily="34" charset="0"/>
              </a:rPr>
              <a:t> </a:t>
            </a:r>
          </a:p>
          <a:p>
            <a:pPr algn="just">
              <a:spcBef>
                <a:spcPts val="0"/>
              </a:spcBef>
              <a:spcAft>
                <a:spcPts val="0"/>
              </a:spcAft>
            </a:pPr>
            <a:r>
              <a:rPr lang="en-IN" sz="2200" b="1" kern="100" dirty="0">
                <a:effectLst/>
                <a:latin typeface="Cambria" panose="02040503050406030204" pitchFamily="18" charset="0"/>
                <a:ea typeface="Calibri" panose="020F0502020204030204" pitchFamily="34" charset="0"/>
                <a:cs typeface="Gautami" panose="020B0502040204020203" pitchFamily="34" charset="0"/>
              </a:rPr>
              <a:t>1</a:t>
            </a:r>
            <a:r>
              <a:rPr lang="en-IN" sz="2200" b="1" kern="100" spc="-10" dirty="0">
                <a:effectLst/>
                <a:latin typeface="Cambria" panose="02040503050406030204" pitchFamily="18" charset="0"/>
                <a:ea typeface="Calibri" panose="020F0502020204030204" pitchFamily="34" charset="0"/>
                <a:cs typeface="Gautami" panose="020B0502040204020203" pitchFamily="34" charset="0"/>
              </a:rPr>
              <a:t>  </a:t>
            </a:r>
            <a:r>
              <a:rPr lang="en-IN" sz="2200" b="1" kern="100" dirty="0">
                <a:effectLst/>
                <a:latin typeface="Cambria" panose="02040503050406030204" pitchFamily="18" charset="0"/>
                <a:ea typeface="Calibri" panose="020F0502020204030204" pitchFamily="34" charset="0"/>
                <a:cs typeface="Gautami" panose="020B0502040204020203" pitchFamily="34" charset="0"/>
              </a:rPr>
              <a:t>4  7</a:t>
            </a:r>
            <a:r>
              <a:rPr lang="en-IN" sz="2200" b="1" kern="100" spc="-10" dirty="0">
                <a:effectLst/>
                <a:latin typeface="Cambria" panose="02040503050406030204" pitchFamily="18" charset="0"/>
                <a:ea typeface="Calibri" panose="020F0502020204030204" pitchFamily="34" charset="0"/>
                <a:cs typeface="Gautami" panose="020B0502040204020203" pitchFamily="34" charset="0"/>
              </a:rPr>
              <a:t>  </a:t>
            </a:r>
            <a:r>
              <a:rPr lang="en-IN" sz="2200" b="1" kern="100" dirty="0">
                <a:effectLst/>
                <a:latin typeface="Cambria" panose="02040503050406030204" pitchFamily="18" charset="0"/>
                <a:ea typeface="Calibri" panose="020F0502020204030204" pitchFamily="34" charset="0"/>
                <a:cs typeface="Gautami" panose="020B0502040204020203" pitchFamily="34" charset="0"/>
              </a:rPr>
              <a:t>11</a:t>
            </a:r>
            <a:r>
              <a:rPr lang="en-IN" sz="2200" b="1" kern="100" spc="-5" dirty="0">
                <a:effectLst/>
                <a:latin typeface="Cambria" panose="02040503050406030204" pitchFamily="18" charset="0"/>
                <a:ea typeface="Calibri" panose="020F0502020204030204" pitchFamily="34" charset="0"/>
                <a:cs typeface="Gautami" panose="020B0502040204020203" pitchFamily="34" charset="0"/>
              </a:rPr>
              <a:t>   </a:t>
            </a:r>
            <a:r>
              <a:rPr lang="en-IN" sz="2200" b="1" kern="100" dirty="0">
                <a:effectLst/>
                <a:latin typeface="Cambria" panose="02040503050406030204" pitchFamily="18" charset="0"/>
                <a:ea typeface="Calibri" panose="020F0502020204030204" pitchFamily="34" charset="0"/>
                <a:cs typeface="Gautami" panose="020B0502040204020203" pitchFamily="34" charset="0"/>
              </a:rPr>
              <a:t>20</a:t>
            </a:r>
            <a:r>
              <a:rPr lang="en-IN" sz="2200" b="1" kern="100" spc="-10" dirty="0">
                <a:effectLst/>
                <a:latin typeface="Cambria" panose="02040503050406030204" pitchFamily="18" charset="0"/>
                <a:ea typeface="Calibri" panose="020F0502020204030204" pitchFamily="34" charset="0"/>
                <a:cs typeface="Gautami" panose="020B0502040204020203" pitchFamily="34" charset="0"/>
              </a:rPr>
              <a:t>   </a:t>
            </a:r>
            <a:r>
              <a:rPr lang="en-IN" sz="2200" b="1" kern="100" dirty="0">
                <a:effectLst/>
                <a:latin typeface="Cambria" panose="02040503050406030204" pitchFamily="18" charset="0"/>
                <a:ea typeface="Calibri" panose="020F0502020204030204" pitchFamily="34" charset="0"/>
                <a:cs typeface="Gautami" panose="020B0502040204020203" pitchFamily="34" charset="0"/>
              </a:rPr>
              <a:t>23</a:t>
            </a:r>
            <a:r>
              <a:rPr lang="en-IN" sz="2200" b="1" kern="100" spc="-30" dirty="0">
                <a:effectLst/>
                <a:latin typeface="Cambria" panose="02040503050406030204" pitchFamily="18" charset="0"/>
                <a:ea typeface="Calibri" panose="020F0502020204030204" pitchFamily="34" charset="0"/>
                <a:cs typeface="Gautami" panose="020B0502040204020203" pitchFamily="34" charset="0"/>
              </a:rPr>
              <a:t>   </a:t>
            </a:r>
            <a:r>
              <a:rPr lang="en-IN" sz="2200" b="1" kern="100" dirty="0">
                <a:effectLst/>
                <a:latin typeface="Cambria" panose="02040503050406030204" pitchFamily="18" charset="0"/>
                <a:ea typeface="Calibri" panose="020F0502020204030204" pitchFamily="34" charset="0"/>
                <a:cs typeface="Gautami" panose="020B0502040204020203" pitchFamily="34" charset="0"/>
              </a:rPr>
              <a:t>24</a:t>
            </a:r>
            <a:r>
              <a:rPr lang="en-IN" sz="2200" b="1" kern="100" spc="-25" dirty="0">
                <a:effectLst/>
                <a:latin typeface="Cambria" panose="02040503050406030204" pitchFamily="18" charset="0"/>
                <a:ea typeface="Calibri" panose="020F0502020204030204" pitchFamily="34" charset="0"/>
                <a:cs typeface="Gautami" panose="020B0502040204020203" pitchFamily="34" charset="0"/>
              </a:rPr>
              <a:t>   </a:t>
            </a:r>
            <a:r>
              <a:rPr lang="en-IN" sz="2200" b="1" kern="100" dirty="0">
                <a:effectLst/>
                <a:latin typeface="Cambria" panose="02040503050406030204" pitchFamily="18" charset="0"/>
                <a:ea typeface="Calibri" panose="020F0502020204030204" pitchFamily="34" charset="0"/>
                <a:cs typeface="Gautami" panose="020B0502040204020203" pitchFamily="34" charset="0"/>
              </a:rPr>
              <a:t>30</a:t>
            </a:r>
            <a:r>
              <a:rPr lang="en-IN" sz="2200" b="1" kern="100" spc="-30" dirty="0">
                <a:effectLst/>
                <a:latin typeface="Cambria" panose="02040503050406030204" pitchFamily="18" charset="0"/>
                <a:ea typeface="Calibri" panose="020F0502020204030204" pitchFamily="34" charset="0"/>
                <a:cs typeface="Gautami" panose="020B0502040204020203" pitchFamily="34" charset="0"/>
              </a:rPr>
              <a:t>   </a:t>
            </a:r>
            <a:r>
              <a:rPr lang="en-IN" sz="2200" b="1" kern="100" spc="-25" dirty="0">
                <a:effectLst/>
                <a:latin typeface="Cambria" panose="02040503050406030204" pitchFamily="18" charset="0"/>
                <a:ea typeface="Calibri" panose="020F0502020204030204" pitchFamily="34" charset="0"/>
                <a:cs typeface="Gautami" panose="020B0502040204020203" pitchFamily="34" charset="0"/>
              </a:rPr>
              <a:t>34</a:t>
            </a:r>
            <a:endParaRPr lang="en-IN" sz="22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9" name="Picture 8">
            <a:extLst>
              <a:ext uri="{FF2B5EF4-FFF2-40B4-BE49-F238E27FC236}">
                <a16:creationId xmlns:a16="http://schemas.microsoft.com/office/drawing/2014/main" id="{BD28E281-0EEA-EA10-CDEC-0AAE821A5CA3}"/>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472928" y="3279645"/>
            <a:ext cx="5470672" cy="3023663"/>
          </a:xfrm>
          <a:prstGeom prst="rect">
            <a:avLst/>
          </a:prstGeom>
          <a:noFill/>
          <a:ln>
            <a:noFill/>
          </a:ln>
        </p:spPr>
      </p:pic>
      <p:pic>
        <p:nvPicPr>
          <p:cNvPr id="10" name="Image 27">
            <a:extLst>
              <a:ext uri="{FF2B5EF4-FFF2-40B4-BE49-F238E27FC236}">
                <a16:creationId xmlns:a16="http://schemas.microsoft.com/office/drawing/2014/main" id="{B3ED6930-F063-C8A0-EE64-99C56E2F3E80}"/>
              </a:ext>
            </a:extLst>
          </p:cNvPr>
          <p:cNvPicPr>
            <a:picLocks/>
          </p:cNvPicPr>
          <p:nvPr/>
        </p:nvPicPr>
        <p:blipFill>
          <a:blip r:embed="rId5" cstate="print">
            <a:extLst>
              <a:ext uri="{BEBA8EAE-BF5A-486C-A8C5-ECC9F3942E4B}">
                <a14:imgProps xmlns:a14="http://schemas.microsoft.com/office/drawing/2010/main">
                  <a14:imgLayer r:embed="rId6">
                    <a14:imgEffect>
                      <a14:colorTemperature colorTemp="11200"/>
                    </a14:imgEffect>
                  </a14:imgLayer>
                </a14:imgProps>
              </a:ext>
            </a:extLst>
          </a:blip>
          <a:stretch>
            <a:fillRect/>
          </a:stretch>
        </p:blipFill>
        <p:spPr>
          <a:xfrm>
            <a:off x="6063332" y="3377266"/>
            <a:ext cx="5470671" cy="3023663"/>
          </a:xfrm>
          <a:prstGeom prst="rect">
            <a:avLst/>
          </a:prstGeom>
        </p:spPr>
      </p:pic>
      <p:sp>
        <p:nvSpPr>
          <p:cNvPr id="12" name="TextBox 11">
            <a:extLst>
              <a:ext uri="{FF2B5EF4-FFF2-40B4-BE49-F238E27FC236}">
                <a16:creationId xmlns:a16="http://schemas.microsoft.com/office/drawing/2014/main" id="{789E0CF0-F037-D6FB-F9F7-AFE340F985E9}"/>
              </a:ext>
            </a:extLst>
          </p:cNvPr>
          <p:cNvSpPr txBox="1"/>
          <p:nvPr/>
        </p:nvSpPr>
        <p:spPr>
          <a:xfrm>
            <a:off x="1045722" y="6371465"/>
            <a:ext cx="3234447" cy="369332"/>
          </a:xfrm>
          <a:prstGeom prst="rect">
            <a:avLst/>
          </a:prstGeom>
          <a:noFill/>
        </p:spPr>
        <p:txBody>
          <a:bodyPr wrap="square">
            <a:spAutoFit/>
          </a:bodyPr>
          <a:lstStyle/>
          <a:p>
            <a:r>
              <a:rPr lang="en-IN" sz="1800" b="1" i="1" kern="100" spc="-5" dirty="0">
                <a:effectLst/>
                <a:latin typeface="Cambria" panose="02040503050406030204" pitchFamily="18" charset="0"/>
                <a:ea typeface="Times New Roman" panose="02020603050405020304" pitchFamily="18" charset="0"/>
                <a:cs typeface="Gautami" panose="020B0502040204020203" pitchFamily="34" charset="0"/>
              </a:rPr>
              <a:t>Single Threaded Binary Tree</a:t>
            </a:r>
            <a:endParaRPr lang="en-IN" b="1" i="1" kern="100" spc="-5" dirty="0">
              <a:latin typeface="Cambria" panose="02040503050406030204" pitchFamily="18" charset="0"/>
              <a:cs typeface="Gautami" panose="020B0502040204020203" pitchFamily="34" charset="0"/>
            </a:endParaRPr>
          </a:p>
        </p:txBody>
      </p:sp>
      <p:sp>
        <p:nvSpPr>
          <p:cNvPr id="14" name="TextBox 13">
            <a:extLst>
              <a:ext uri="{FF2B5EF4-FFF2-40B4-BE49-F238E27FC236}">
                <a16:creationId xmlns:a16="http://schemas.microsoft.com/office/drawing/2014/main" id="{BD33AA26-8190-59C7-08BE-A02D74066983}"/>
              </a:ext>
            </a:extLst>
          </p:cNvPr>
          <p:cNvSpPr txBox="1"/>
          <p:nvPr/>
        </p:nvSpPr>
        <p:spPr>
          <a:xfrm>
            <a:off x="6633331" y="6417352"/>
            <a:ext cx="3234447" cy="369332"/>
          </a:xfrm>
          <a:prstGeom prst="rect">
            <a:avLst/>
          </a:prstGeom>
          <a:noFill/>
        </p:spPr>
        <p:txBody>
          <a:bodyPr wrap="square">
            <a:spAutoFit/>
          </a:bodyPr>
          <a:lstStyle/>
          <a:p>
            <a:r>
              <a:rPr lang="en-IN" sz="1800" b="1" i="1" kern="100" spc="-5" dirty="0">
                <a:latin typeface="Cambria" panose="02040503050406030204" pitchFamily="18" charset="0"/>
                <a:cs typeface="Gautami" panose="020B0502040204020203" pitchFamily="34" charset="0"/>
              </a:rPr>
              <a:t>Double Threaded Binary Tree</a:t>
            </a:r>
            <a:endParaRPr lang="en-IN" dirty="0"/>
          </a:p>
        </p:txBody>
      </p:sp>
      <p:sp>
        <p:nvSpPr>
          <p:cNvPr id="7" name="TextBox 6">
            <a:extLst>
              <a:ext uri="{FF2B5EF4-FFF2-40B4-BE49-F238E27FC236}">
                <a16:creationId xmlns:a16="http://schemas.microsoft.com/office/drawing/2014/main" id="{9B526BDF-B809-DB69-99CC-DDE581D14EAD}"/>
              </a:ext>
            </a:extLst>
          </p:cNvPr>
          <p:cNvSpPr txBox="1"/>
          <p:nvPr/>
        </p:nvSpPr>
        <p:spPr>
          <a:xfrm>
            <a:off x="6996050" y="2910313"/>
            <a:ext cx="4317217" cy="369332"/>
          </a:xfrm>
          <a:prstGeom prst="rect">
            <a:avLst/>
          </a:prstGeom>
          <a:noFill/>
        </p:spPr>
        <p:txBody>
          <a:bodyPr wrap="square">
            <a:spAutoFit/>
          </a:bodyPr>
          <a:lstStyle/>
          <a:p>
            <a:r>
              <a:rPr lang="en-IN" b="1" i="1" kern="100" spc="-5" dirty="0">
                <a:latin typeface="Cambria" panose="02040503050406030204" pitchFamily="18" charset="0"/>
                <a:ea typeface="Times New Roman" panose="02020603050405020304" pitchFamily="18" charset="0"/>
                <a:cs typeface="Gautami" panose="020B0502040204020203" pitchFamily="34" charset="0"/>
              </a:rPr>
              <a:t>( </a:t>
            </a:r>
            <a:r>
              <a:rPr lang="en-IN" b="1" kern="100" spc="-5" dirty="0">
                <a:latin typeface="Cambria" panose="02040503050406030204" pitchFamily="18" charset="0"/>
                <a:ea typeface="Times New Roman" panose="02020603050405020304" pitchFamily="18" charset="0"/>
                <a:cs typeface="Gautami" panose="020B0502040204020203" pitchFamily="34" charset="0"/>
              </a:rPr>
              <a:t>In-order </a:t>
            </a:r>
            <a:r>
              <a:rPr lang="en-IN" b="1" kern="100" spc="-5" dirty="0">
                <a:latin typeface="Cambria" panose="02040503050406030204" pitchFamily="18" charset="0"/>
                <a:cs typeface="Gautami" panose="020B0502040204020203" pitchFamily="34" charset="0"/>
              </a:rPr>
              <a:t>predecessor and successor </a:t>
            </a:r>
            <a:r>
              <a:rPr lang="en-IN" b="1" i="1" kern="100" spc="-5" dirty="0">
                <a:latin typeface="Cambria" panose="02040503050406030204" pitchFamily="18" charset="0"/>
                <a:cs typeface="Gautami" panose="020B0502040204020203" pitchFamily="34" charset="0"/>
              </a:rPr>
              <a:t>)</a:t>
            </a:r>
            <a:endParaRPr lang="en-IN" dirty="0"/>
          </a:p>
        </p:txBody>
      </p:sp>
      <p:sp>
        <p:nvSpPr>
          <p:cNvPr id="13" name="TextBox 12">
            <a:extLst>
              <a:ext uri="{FF2B5EF4-FFF2-40B4-BE49-F238E27FC236}">
                <a16:creationId xmlns:a16="http://schemas.microsoft.com/office/drawing/2014/main" id="{FE8DD8D3-CC1C-78B9-BA26-5CF1150B7978}"/>
              </a:ext>
            </a:extLst>
          </p:cNvPr>
          <p:cNvSpPr txBox="1"/>
          <p:nvPr/>
        </p:nvSpPr>
        <p:spPr>
          <a:xfrm>
            <a:off x="1304643" y="2910313"/>
            <a:ext cx="2380844" cy="369332"/>
          </a:xfrm>
          <a:prstGeom prst="rect">
            <a:avLst/>
          </a:prstGeom>
          <a:noFill/>
        </p:spPr>
        <p:txBody>
          <a:bodyPr wrap="square">
            <a:spAutoFit/>
          </a:bodyPr>
          <a:lstStyle/>
          <a:p>
            <a:r>
              <a:rPr lang="en-IN" sz="1800" b="1" i="1" kern="100" spc="-5" dirty="0">
                <a:effectLst/>
                <a:latin typeface="Cambria" panose="02040503050406030204" pitchFamily="18" charset="0"/>
                <a:ea typeface="Times New Roman" panose="02020603050405020304" pitchFamily="18" charset="0"/>
                <a:cs typeface="Gautami" panose="020B0502040204020203" pitchFamily="34" charset="0"/>
              </a:rPr>
              <a:t>( </a:t>
            </a:r>
            <a:r>
              <a:rPr lang="en-IN" b="1" kern="100" spc="-5" dirty="0">
                <a:latin typeface="Cambria" panose="02040503050406030204" pitchFamily="18" charset="0"/>
                <a:ea typeface="Times New Roman" panose="02020603050405020304" pitchFamily="18" charset="0"/>
                <a:cs typeface="Gautami" panose="020B0502040204020203" pitchFamily="34" charset="0"/>
              </a:rPr>
              <a:t>In-order successor</a:t>
            </a:r>
            <a:r>
              <a:rPr lang="en-IN" b="1" i="1" kern="100" spc="-5" dirty="0">
                <a:latin typeface="Cambria" panose="02040503050406030204" pitchFamily="18" charset="0"/>
                <a:cs typeface="Gautami" panose="020B0502040204020203" pitchFamily="34" charset="0"/>
              </a:rPr>
              <a:t>)</a:t>
            </a:r>
            <a:endParaRPr lang="en-IN" b="1" dirty="0"/>
          </a:p>
        </p:txBody>
      </p:sp>
      <p:sp>
        <p:nvSpPr>
          <p:cNvPr id="11" name="TextBox 10">
            <a:extLst>
              <a:ext uri="{FF2B5EF4-FFF2-40B4-BE49-F238E27FC236}">
                <a16:creationId xmlns:a16="http://schemas.microsoft.com/office/drawing/2014/main" id="{726FD63B-9FA7-5DD0-8B96-61A6FE20F931}"/>
              </a:ext>
            </a:extLst>
          </p:cNvPr>
          <p:cNvSpPr txBox="1"/>
          <p:nvPr/>
        </p:nvSpPr>
        <p:spPr>
          <a:xfrm>
            <a:off x="1707711" y="435659"/>
            <a:ext cx="1288915" cy="369332"/>
          </a:xfrm>
          <a:prstGeom prst="rect">
            <a:avLst/>
          </a:prstGeom>
          <a:noFill/>
        </p:spPr>
        <p:txBody>
          <a:bodyPr wrap="square">
            <a:spAutoFit/>
          </a:bodyPr>
          <a:lstStyle/>
          <a:p>
            <a:r>
              <a:rPr lang="en-IN" sz="1800" b="1" kern="100" dirty="0">
                <a:latin typeface="Cambria" panose="02040503050406030204" pitchFamily="18" charset="0"/>
                <a:ea typeface="Calibri" panose="020F0502020204030204" pitchFamily="34" charset="0"/>
                <a:cs typeface="Gautami" panose="020B0502040204020203" pitchFamily="34" charset="0"/>
              </a:rPr>
              <a:t>Example:</a:t>
            </a:r>
            <a:r>
              <a:rPr lang="en-IN" sz="1800" b="1" kern="100" spc="-20" dirty="0">
                <a:latin typeface="Cambria" panose="02040503050406030204" pitchFamily="18" charset="0"/>
                <a:ea typeface="Calibri" panose="020F0502020204030204" pitchFamily="34" charset="0"/>
                <a:cs typeface="Gautami" panose="020B0502040204020203" pitchFamily="34" charset="0"/>
              </a:rPr>
              <a:t> </a:t>
            </a:r>
            <a:endParaRPr lang="en-IN" dirty="0"/>
          </a:p>
        </p:txBody>
      </p:sp>
    </p:spTree>
    <p:extLst>
      <p:ext uri="{BB962C8B-B14F-4D97-AF65-F5344CB8AC3E}">
        <p14:creationId xmlns:p14="http://schemas.microsoft.com/office/powerpoint/2010/main" val="3249712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E9AC99-6C4C-788B-82C9-583A5F4231CD}"/>
              </a:ext>
            </a:extLst>
          </p:cNvPr>
          <p:cNvSpPr txBox="1"/>
          <p:nvPr/>
        </p:nvSpPr>
        <p:spPr>
          <a:xfrm>
            <a:off x="2091447" y="276631"/>
            <a:ext cx="6342434" cy="461665"/>
          </a:xfrm>
          <a:prstGeom prst="rect">
            <a:avLst/>
          </a:prstGeom>
          <a:noFill/>
        </p:spPr>
        <p:txBody>
          <a:bodyPr wrap="square">
            <a:spAutoFit/>
          </a:bodyPr>
          <a:lstStyle/>
          <a:p>
            <a:pPr marL="6350">
              <a:spcBef>
                <a:spcPts val="100"/>
              </a:spcBef>
            </a:pPr>
            <a:r>
              <a:rPr lang="en-US" sz="2400" b="1" dirty="0">
                <a:highlight>
                  <a:srgbClr val="FFFF00"/>
                </a:highlight>
                <a:latin typeface="Times New Roman"/>
                <a:cs typeface="Times New Roman"/>
              </a:rPr>
              <a:t>2. a) </a:t>
            </a:r>
            <a:r>
              <a:rPr lang="en-IN" sz="2400" b="1" u="sng" dirty="0">
                <a:highlight>
                  <a:srgbClr val="FFFF00"/>
                </a:highlight>
                <a:latin typeface="Times New Roman"/>
                <a:cs typeface="Times New Roman"/>
              </a:rPr>
              <a:t>Representation of </a:t>
            </a:r>
            <a:r>
              <a:rPr lang="en-US" sz="2400" b="1" u="sng" dirty="0">
                <a:highlight>
                  <a:srgbClr val="FFFF00"/>
                </a:highlight>
                <a:latin typeface="Times New Roman"/>
                <a:cs typeface="Times New Roman"/>
              </a:rPr>
              <a:t>Algebraic Expressions</a:t>
            </a:r>
          </a:p>
        </p:txBody>
      </p:sp>
      <p:sp>
        <p:nvSpPr>
          <p:cNvPr id="4" name="TextBox 3">
            <a:extLst>
              <a:ext uri="{FF2B5EF4-FFF2-40B4-BE49-F238E27FC236}">
                <a16:creationId xmlns:a16="http://schemas.microsoft.com/office/drawing/2014/main" id="{29F5C780-46E7-FCE9-8E32-247F12B875D6}"/>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6" name="TextBox 5">
            <a:extLst>
              <a:ext uri="{FF2B5EF4-FFF2-40B4-BE49-F238E27FC236}">
                <a16:creationId xmlns:a16="http://schemas.microsoft.com/office/drawing/2014/main" id="{9165984E-9FE1-947D-BC0E-C72D5846FFCF}"/>
              </a:ext>
            </a:extLst>
          </p:cNvPr>
          <p:cNvSpPr txBox="1"/>
          <p:nvPr/>
        </p:nvSpPr>
        <p:spPr>
          <a:xfrm>
            <a:off x="651754" y="1084952"/>
            <a:ext cx="10787975" cy="4793492"/>
          </a:xfrm>
          <a:prstGeom prst="rect">
            <a:avLst/>
          </a:prstGeom>
          <a:noFill/>
        </p:spPr>
        <p:txBody>
          <a:bodyPr wrap="square">
            <a:spAutoFit/>
          </a:bodyPr>
          <a:lstStyle/>
          <a:p>
            <a:pPr algn="just">
              <a:spcAft>
                <a:spcPts val="0"/>
              </a:spcAft>
              <a:buNone/>
            </a:pPr>
            <a:r>
              <a:rPr lang="en-IN" sz="2200" b="1" kern="0" dirty="0">
                <a:solidFill>
                  <a:srgbClr val="000000"/>
                </a:solidFill>
                <a:effectLst/>
                <a:latin typeface="Cambria" panose="02040503050406030204" pitchFamily="18" charset="0"/>
                <a:ea typeface="Cambria" panose="02040503050406030204" pitchFamily="18" charset="0"/>
                <a:cs typeface="Arial" panose="020B0604020202020204" pitchFamily="34" charset="0"/>
              </a:rPr>
              <a:t>Algebraic Expressions: </a:t>
            </a:r>
            <a:r>
              <a:rPr lang="en-IN" sz="2200" kern="0" dirty="0">
                <a:solidFill>
                  <a:srgbClr val="000000"/>
                </a:solidFill>
                <a:effectLst/>
                <a:latin typeface="Cambria" panose="02040503050406030204" pitchFamily="18" charset="0"/>
                <a:ea typeface="Cambria" panose="02040503050406030204" pitchFamily="18" charset="0"/>
                <a:cs typeface="Arial" panose="020B0604020202020204" pitchFamily="34" charset="0"/>
              </a:rPr>
              <a:t>Algebraic expressions involve mathematical operations like addition, subtraction, multiplication, and division, typically with numerical values (constants or variables).</a:t>
            </a:r>
            <a:endParaRPr lang="en-IN" sz="2200" kern="100" dirty="0">
              <a:effectLst/>
              <a:latin typeface="Cambria" panose="02040503050406030204" pitchFamily="18" charset="0"/>
              <a:ea typeface="Cambria" panose="02040503050406030204" pitchFamily="18" charset="0"/>
              <a:cs typeface="Gautami" panose="020B0502040204020203" pitchFamily="34" charset="0"/>
            </a:endParaRPr>
          </a:p>
          <a:p>
            <a:pPr>
              <a:spcAft>
                <a:spcPts val="0"/>
              </a:spcAft>
              <a:buNone/>
            </a:pPr>
            <a:r>
              <a:rPr lang="en-IN" sz="700" b="1" kern="0" dirty="0">
                <a:effectLst/>
                <a:latin typeface="Cambria" panose="02040503050406030204" pitchFamily="18" charset="0"/>
                <a:ea typeface="Times New Roman" panose="02020603050405020304" pitchFamily="18" charset="0"/>
                <a:cs typeface="Arial" panose="020B0604020202020204" pitchFamily="34" charset="0"/>
              </a:rPr>
              <a:t> </a:t>
            </a:r>
            <a:endParaRPr lang="en-IN" sz="1400" kern="100" dirty="0">
              <a:effectLst/>
              <a:latin typeface="Calibri" panose="020F0502020204030204" pitchFamily="34" charset="0"/>
              <a:ea typeface="Calibri" panose="020F0502020204030204" pitchFamily="34" charset="0"/>
              <a:cs typeface="Gautami" panose="020B0502040204020203" pitchFamily="34" charset="0"/>
            </a:endParaRPr>
          </a:p>
          <a:p>
            <a:pPr>
              <a:spcAft>
                <a:spcPts val="0"/>
              </a:spcAft>
              <a:buNone/>
            </a:pPr>
            <a:r>
              <a:rPr lang="en-IN" sz="24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For example, Expression Tree for </a:t>
            </a: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3 + 4 * 2</a:t>
            </a:r>
          </a:p>
          <a:p>
            <a:pPr>
              <a:spcAft>
                <a:spcPts val="0"/>
              </a:spcAft>
              <a:buNone/>
            </a:pPr>
            <a:endParaRPr lang="en-IN" sz="500" b="1" kern="100" dirty="0">
              <a:ea typeface="Calibri" panose="020F0502020204030204" pitchFamily="34" charset="0"/>
              <a:cs typeface="Gautami" panose="020B0502040204020203" pitchFamily="34" charset="0"/>
            </a:endParaRPr>
          </a:p>
          <a:p>
            <a:pPr marL="447675" indent="-273050">
              <a:spcAft>
                <a:spcPts val="0"/>
              </a:spcAft>
              <a:buFont typeface="Wingdings" panose="05000000000000000000" pitchFamily="2" charset="2"/>
              <a:buChar char="§"/>
            </a:pP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Infix: 3 + 4 * 2</a:t>
            </a:r>
            <a:endParaRPr lang="en-IN" b="1" kern="100" dirty="0">
              <a:ea typeface="Calibri" panose="020F0502020204030204" pitchFamily="34" charset="0"/>
              <a:cs typeface="Gautami" panose="020B0502040204020203" pitchFamily="34" charset="0"/>
            </a:endParaRPr>
          </a:p>
          <a:p>
            <a:pPr marL="447675" indent="-273050">
              <a:spcAft>
                <a:spcPts val="0"/>
              </a:spcAft>
              <a:buFont typeface="Wingdings" panose="05000000000000000000" pitchFamily="2" charset="2"/>
              <a:buChar char="§"/>
            </a:pP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Postfix: 3 4 2 * +</a:t>
            </a:r>
            <a:endParaRPr lang="en-IN" b="1" kern="100" dirty="0">
              <a:ea typeface="Calibri" panose="020F0502020204030204" pitchFamily="34" charset="0"/>
              <a:cs typeface="Gautami" panose="020B0502040204020203" pitchFamily="34" charset="0"/>
            </a:endParaRPr>
          </a:p>
          <a:p>
            <a:pPr marL="447675" indent="-273050">
              <a:spcAft>
                <a:spcPts val="0"/>
              </a:spcAft>
              <a:buFont typeface="Wingdings" panose="05000000000000000000" pitchFamily="2" charset="2"/>
              <a:buChar char="§"/>
            </a:pP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Prefix: + 3 * 4 2</a:t>
            </a:r>
            <a:endParaRPr lang="en-IN" b="1" kern="100" dirty="0">
              <a:effectLst/>
              <a:latin typeface="Calibri" panose="020F0502020204030204" pitchFamily="34" charset="0"/>
              <a:ea typeface="Calibri" panose="020F0502020204030204" pitchFamily="34" charset="0"/>
              <a:cs typeface="Gautami" panose="020B0502040204020203" pitchFamily="34" charset="0"/>
            </a:endParaRPr>
          </a:p>
          <a:p>
            <a:pPr marL="630555">
              <a:lnSpc>
                <a:spcPct val="107000"/>
              </a:lnSpc>
              <a:spcAft>
                <a:spcPts val="800"/>
              </a:spcAft>
              <a:buNone/>
            </a:pPr>
            <a:r>
              <a:rPr lang="en-IN" sz="700" kern="0" dirty="0">
                <a:effectLst/>
                <a:latin typeface="Cambria" panose="02040503050406030204" pitchFamily="18" charset="0"/>
                <a:ea typeface="Times New Roman" panose="02020603050405020304" pitchFamily="18" charset="0"/>
                <a:cs typeface="Arial" panose="020B0604020202020204" pitchFamily="34" charset="0"/>
              </a:rPr>
              <a:t> </a:t>
            </a:r>
            <a:endParaRPr lang="en-IN" sz="1400" kern="100" dirty="0">
              <a:effectLst/>
              <a:latin typeface="Calibri" panose="020F0502020204030204" pitchFamily="34" charset="0"/>
              <a:ea typeface="Calibri" panose="020F0502020204030204" pitchFamily="34" charset="0"/>
              <a:cs typeface="Gautami" panose="020B0502040204020203" pitchFamily="34" charset="0"/>
            </a:endParaRPr>
          </a:p>
          <a:p>
            <a:pPr>
              <a:spcAft>
                <a:spcPts val="1200"/>
              </a:spcAft>
              <a:buNone/>
            </a:pPr>
            <a:r>
              <a:rPr lang="en-IN" sz="300" kern="0" dirty="0">
                <a:effectLst/>
                <a:latin typeface="Cambria" panose="02040503050406030204" pitchFamily="18" charset="0"/>
                <a:ea typeface="Times New Roman" panose="02020603050405020304" pitchFamily="18" charset="0"/>
                <a:cs typeface="Arial" panose="020B0604020202020204" pitchFamily="34" charset="0"/>
              </a:rPr>
              <a:t> </a:t>
            </a: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In this example:</a:t>
            </a:r>
            <a:endParaRPr lang="en-IN" sz="1600" kern="100" dirty="0">
              <a:solidFill>
                <a:srgbClr val="000000"/>
              </a:solidFill>
              <a:ea typeface="Calibri" panose="020F0502020204030204" pitchFamily="34" charset="0"/>
              <a:cs typeface="Gautami" panose="020B0502040204020203" pitchFamily="34" charset="0"/>
            </a:endParaRPr>
          </a:p>
          <a:p>
            <a:pPr marL="447675" indent="-273050">
              <a:spcAft>
                <a:spcPts val="800"/>
              </a:spcAft>
              <a:buFont typeface="Wingdings" panose="05000000000000000000" pitchFamily="2" charset="2"/>
              <a:buChar char="Ø"/>
            </a:pPr>
            <a:r>
              <a:rPr lang="en-IN" sz="2400" kern="0" dirty="0">
                <a:effectLst/>
                <a:latin typeface="Cambria" panose="02040503050406030204" pitchFamily="18" charset="0"/>
                <a:ea typeface="Times New Roman" panose="02020603050405020304" pitchFamily="18" charset="0"/>
                <a:cs typeface="Arial" panose="020B0604020202020204" pitchFamily="34" charset="0"/>
              </a:rPr>
              <a:t>The </a:t>
            </a:r>
            <a:r>
              <a:rPr lang="en-IN" sz="2400" b="1" kern="0" dirty="0">
                <a:effectLst/>
                <a:latin typeface="Cambria" panose="02040503050406030204" pitchFamily="18" charset="0"/>
                <a:ea typeface="Times New Roman" panose="02020603050405020304" pitchFamily="18" charset="0"/>
                <a:cs typeface="Arial" panose="020B0604020202020204" pitchFamily="34" charset="0"/>
              </a:rPr>
              <a:t>root</a:t>
            </a:r>
            <a:r>
              <a:rPr lang="en-IN" sz="2400" kern="0" dirty="0">
                <a:effectLst/>
                <a:latin typeface="Cambria" panose="02040503050406030204" pitchFamily="18" charset="0"/>
                <a:ea typeface="Times New Roman" panose="02020603050405020304" pitchFamily="18" charset="0"/>
                <a:cs typeface="Arial" panose="020B0604020202020204" pitchFamily="34" charset="0"/>
              </a:rPr>
              <a:t> is the </a:t>
            </a:r>
            <a:r>
              <a:rPr lang="en-IN" sz="2800" b="1" kern="0" dirty="0">
                <a:effectLst/>
                <a:latin typeface="Cambria" panose="02040503050406030204" pitchFamily="18" charset="0"/>
                <a:ea typeface="Times New Roman" panose="02020603050405020304" pitchFamily="18" charset="0"/>
                <a:cs typeface="Arial" panose="020B0604020202020204" pitchFamily="34" charset="0"/>
              </a:rPr>
              <a:t>+</a:t>
            </a:r>
            <a:r>
              <a:rPr lang="en-IN" sz="2400" kern="0" dirty="0">
                <a:effectLst/>
                <a:latin typeface="Cambria" panose="02040503050406030204" pitchFamily="18" charset="0"/>
                <a:ea typeface="Times New Roman" panose="02020603050405020304" pitchFamily="18" charset="0"/>
                <a:cs typeface="Arial" panose="020B0604020202020204" pitchFamily="34" charset="0"/>
              </a:rPr>
              <a:t> operator.</a:t>
            </a:r>
            <a:endParaRPr lang="en-IN" kern="100" dirty="0">
              <a:ea typeface="Calibri" panose="020F0502020204030204" pitchFamily="34" charset="0"/>
              <a:cs typeface="Gautami" panose="020B0502040204020203" pitchFamily="34" charset="0"/>
            </a:endParaRPr>
          </a:p>
          <a:p>
            <a:pPr marL="447675" indent="-273050">
              <a:spcAft>
                <a:spcPts val="800"/>
              </a:spcAft>
              <a:buFont typeface="Wingdings" panose="05000000000000000000" pitchFamily="2" charset="2"/>
              <a:buChar char="Ø"/>
            </a:pPr>
            <a:r>
              <a:rPr lang="en-IN" sz="2400" kern="0" dirty="0">
                <a:effectLst/>
                <a:latin typeface="Cambria" panose="02040503050406030204" pitchFamily="18" charset="0"/>
                <a:ea typeface="Times New Roman" panose="02020603050405020304" pitchFamily="18" charset="0"/>
                <a:cs typeface="Arial" panose="020B0604020202020204" pitchFamily="34" charset="0"/>
              </a:rPr>
              <a:t>The </a:t>
            </a:r>
            <a:r>
              <a:rPr lang="en-IN" sz="2400" b="1" kern="0" dirty="0">
                <a:effectLst/>
                <a:latin typeface="Cambria" panose="02040503050406030204" pitchFamily="18" charset="0"/>
                <a:ea typeface="Times New Roman" panose="02020603050405020304" pitchFamily="18" charset="0"/>
                <a:cs typeface="Arial" panose="020B0604020202020204" pitchFamily="34" charset="0"/>
              </a:rPr>
              <a:t>left child </a:t>
            </a:r>
            <a:r>
              <a:rPr lang="en-IN" sz="2400" kern="0" dirty="0">
                <a:effectLst/>
                <a:latin typeface="Cambria" panose="02040503050406030204" pitchFamily="18" charset="0"/>
                <a:ea typeface="Times New Roman" panose="02020603050405020304" pitchFamily="18" charset="0"/>
                <a:cs typeface="Arial" panose="020B0604020202020204" pitchFamily="34" charset="0"/>
              </a:rPr>
              <a:t>is the operand </a:t>
            </a:r>
            <a:r>
              <a:rPr lang="en-IN" sz="2400" b="1" kern="0" dirty="0">
                <a:effectLst/>
                <a:latin typeface="Cambria" panose="02040503050406030204" pitchFamily="18" charset="0"/>
                <a:ea typeface="Times New Roman" panose="02020603050405020304" pitchFamily="18" charset="0"/>
                <a:cs typeface="Arial" panose="020B0604020202020204" pitchFamily="34" charset="0"/>
              </a:rPr>
              <a:t>3</a:t>
            </a:r>
            <a:r>
              <a:rPr lang="en-IN" sz="2400" kern="0" dirty="0">
                <a:effectLst/>
                <a:latin typeface="Cambria" panose="02040503050406030204" pitchFamily="18" charset="0"/>
                <a:ea typeface="Times New Roman" panose="02020603050405020304" pitchFamily="18" charset="0"/>
                <a:cs typeface="Arial" panose="020B0604020202020204" pitchFamily="34" charset="0"/>
              </a:rPr>
              <a:t>.</a:t>
            </a:r>
            <a:endParaRPr lang="en-IN" kern="100" dirty="0">
              <a:ea typeface="Calibri" panose="020F0502020204030204" pitchFamily="34" charset="0"/>
              <a:cs typeface="Gautami" panose="020B0502040204020203" pitchFamily="34" charset="0"/>
            </a:endParaRPr>
          </a:p>
          <a:p>
            <a:pPr marL="447675" indent="-273050">
              <a:spcAft>
                <a:spcPts val="800"/>
              </a:spcAft>
              <a:buFont typeface="Wingdings" panose="05000000000000000000" pitchFamily="2" charset="2"/>
              <a:buChar char="Ø"/>
            </a:pPr>
            <a:r>
              <a:rPr lang="en-IN" sz="2200" kern="0" dirty="0">
                <a:effectLst/>
                <a:latin typeface="Cambria" panose="02040503050406030204" pitchFamily="18" charset="0"/>
                <a:ea typeface="Times New Roman" panose="02020603050405020304" pitchFamily="18" charset="0"/>
                <a:cs typeface="Arial" panose="020B0604020202020204" pitchFamily="34" charset="0"/>
              </a:rPr>
              <a:t>The </a:t>
            </a:r>
            <a:r>
              <a:rPr lang="en-IN" sz="2200" b="1" kern="0" dirty="0">
                <a:effectLst/>
                <a:latin typeface="Cambria" panose="02040503050406030204" pitchFamily="18" charset="0"/>
                <a:ea typeface="Times New Roman" panose="02020603050405020304" pitchFamily="18" charset="0"/>
                <a:cs typeface="Arial" panose="020B0604020202020204" pitchFamily="34" charset="0"/>
              </a:rPr>
              <a:t>right child </a:t>
            </a:r>
            <a:r>
              <a:rPr lang="en-IN" sz="2200" kern="0" dirty="0">
                <a:effectLst/>
                <a:latin typeface="Cambria" panose="02040503050406030204" pitchFamily="18" charset="0"/>
                <a:ea typeface="Times New Roman" panose="02020603050405020304" pitchFamily="18" charset="0"/>
                <a:cs typeface="Arial" panose="020B0604020202020204" pitchFamily="34" charset="0"/>
              </a:rPr>
              <a:t>is a multiplication (</a:t>
            </a:r>
            <a:r>
              <a:rPr lang="en-IN" sz="2200" b="1" kern="0" dirty="0">
                <a:effectLst/>
                <a:latin typeface="Cambria" panose="02040503050406030204" pitchFamily="18" charset="0"/>
                <a:ea typeface="Times New Roman" panose="02020603050405020304" pitchFamily="18" charset="0"/>
                <a:cs typeface="Arial" panose="020B0604020202020204" pitchFamily="34" charset="0"/>
              </a:rPr>
              <a:t>*</a:t>
            </a:r>
            <a:r>
              <a:rPr lang="en-IN" sz="2200" kern="0" dirty="0">
                <a:effectLst/>
                <a:latin typeface="Cambria" panose="02040503050406030204" pitchFamily="18" charset="0"/>
                <a:ea typeface="Times New Roman" panose="02020603050405020304" pitchFamily="18" charset="0"/>
                <a:cs typeface="Arial" panose="020B0604020202020204" pitchFamily="34" charset="0"/>
              </a:rPr>
              <a:t>) operation, which itself has operands </a:t>
            </a:r>
            <a:r>
              <a:rPr lang="en-IN" sz="2200" b="1" kern="0" dirty="0">
                <a:effectLst/>
                <a:latin typeface="Cambria" panose="02040503050406030204" pitchFamily="18" charset="0"/>
                <a:ea typeface="Times New Roman" panose="02020603050405020304" pitchFamily="18" charset="0"/>
                <a:cs typeface="Arial" panose="020B0604020202020204" pitchFamily="34" charset="0"/>
              </a:rPr>
              <a:t>4</a:t>
            </a:r>
            <a:r>
              <a:rPr lang="en-IN" sz="2200" kern="0" dirty="0">
                <a:effectLst/>
                <a:latin typeface="Cambria" panose="02040503050406030204" pitchFamily="18" charset="0"/>
                <a:ea typeface="Times New Roman" panose="02020603050405020304" pitchFamily="18" charset="0"/>
                <a:cs typeface="Arial" panose="020B0604020202020204" pitchFamily="34" charset="0"/>
              </a:rPr>
              <a:t> and </a:t>
            </a:r>
            <a:r>
              <a:rPr lang="en-IN" sz="2200" b="1" kern="0" dirty="0">
                <a:effectLst/>
                <a:latin typeface="Cambria" panose="02040503050406030204" pitchFamily="18" charset="0"/>
                <a:ea typeface="Times New Roman" panose="02020603050405020304" pitchFamily="18" charset="0"/>
                <a:cs typeface="Arial" panose="020B0604020202020204" pitchFamily="34" charset="0"/>
              </a:rPr>
              <a:t>2</a:t>
            </a:r>
            <a:r>
              <a:rPr lang="en-IN" sz="2200" kern="0" dirty="0">
                <a:effectLst/>
                <a:latin typeface="Cambria" panose="02040503050406030204" pitchFamily="18" charset="0"/>
                <a:ea typeface="Times New Roman" panose="02020603050405020304" pitchFamily="18" charset="0"/>
                <a:cs typeface="Arial" panose="020B0604020202020204" pitchFamily="34" charset="0"/>
              </a:rPr>
              <a:t>.</a:t>
            </a:r>
            <a:endParaRPr lang="en-IN" sz="2200" kern="1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10" name="TextBox 9">
            <a:extLst>
              <a:ext uri="{FF2B5EF4-FFF2-40B4-BE49-F238E27FC236}">
                <a16:creationId xmlns:a16="http://schemas.microsoft.com/office/drawing/2014/main" id="{36463FF5-7090-7E64-CDE7-A5B9A2B086D6}"/>
              </a:ext>
            </a:extLst>
          </p:cNvPr>
          <p:cNvSpPr txBox="1"/>
          <p:nvPr/>
        </p:nvSpPr>
        <p:spPr>
          <a:xfrm>
            <a:off x="6643989" y="2239929"/>
            <a:ext cx="3939705" cy="2862322"/>
          </a:xfrm>
          <a:prstGeom prst="rect">
            <a:avLst/>
          </a:prstGeom>
          <a:noFill/>
        </p:spPr>
        <p:txBody>
          <a:bodyPr wrap="square">
            <a:spAutoFit/>
          </a:bodyPr>
          <a:lstStyle/>
          <a:p>
            <a:pPr algn="ctr">
              <a:spcAft>
                <a:spcPts val="0"/>
              </a:spcAft>
              <a:buNone/>
            </a:pPr>
            <a:r>
              <a:rPr lang="en-IN" sz="36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a:t>
            </a:r>
          </a:p>
          <a:p>
            <a:pPr algn="ctr">
              <a:spcAft>
                <a:spcPts val="0"/>
              </a:spcAft>
              <a:buNone/>
            </a:pPr>
            <a:r>
              <a:rPr lang="en-IN" sz="36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a:t>
            </a:r>
            <a:endParaRPr lang="en-IN" sz="36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36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3      *</a:t>
            </a:r>
            <a:endParaRPr lang="en-IN" sz="36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36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   \</a:t>
            </a:r>
            <a:endParaRPr lang="en-IN" sz="36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36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4      2</a:t>
            </a:r>
            <a:endParaRPr lang="en-IN" sz="32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p:txBody>
      </p:sp>
    </p:spTree>
    <p:extLst>
      <p:ext uri="{BB962C8B-B14F-4D97-AF65-F5344CB8AC3E}">
        <p14:creationId xmlns:p14="http://schemas.microsoft.com/office/powerpoint/2010/main" val="2451635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F09A-AB75-7A62-8B16-6779A41569F0}"/>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321B318B-4D08-7B44-BC6B-DE90CE2A1C59}"/>
              </a:ext>
            </a:extLst>
          </p:cNvPr>
          <p:cNvGraphicFramePr>
            <a:graphicFrameLocks noGrp="1"/>
          </p:cNvGraphicFramePr>
          <p:nvPr>
            <p:extLst>
              <p:ext uri="{D42A27DB-BD31-4B8C-83A1-F6EECF244321}">
                <p14:modId xmlns:p14="http://schemas.microsoft.com/office/powerpoint/2010/main" val="1757380891"/>
              </p:ext>
            </p:extLst>
          </p:nvPr>
        </p:nvGraphicFramePr>
        <p:xfrm>
          <a:off x="829686" y="1073428"/>
          <a:ext cx="10113297" cy="4831261"/>
        </p:xfrm>
        <a:graphic>
          <a:graphicData uri="http://schemas.openxmlformats.org/drawingml/2006/table">
            <a:tbl>
              <a:tblPr firstRow="1" firstCol="1" bandRow="1">
                <a:tableStyleId>{5C22544A-7EE6-4342-B048-85BDC9FD1C3A}</a:tableStyleId>
              </a:tblPr>
              <a:tblGrid>
                <a:gridCol w="2167180">
                  <a:extLst>
                    <a:ext uri="{9D8B030D-6E8A-4147-A177-3AD203B41FA5}">
                      <a16:colId xmlns:a16="http://schemas.microsoft.com/office/drawing/2014/main" val="3795729151"/>
                    </a:ext>
                  </a:extLst>
                </a:gridCol>
                <a:gridCol w="1451632">
                  <a:extLst>
                    <a:ext uri="{9D8B030D-6E8A-4147-A177-3AD203B41FA5}">
                      <a16:colId xmlns:a16="http://schemas.microsoft.com/office/drawing/2014/main" val="2425051392"/>
                    </a:ext>
                  </a:extLst>
                </a:gridCol>
                <a:gridCol w="1430015">
                  <a:extLst>
                    <a:ext uri="{9D8B030D-6E8A-4147-A177-3AD203B41FA5}">
                      <a16:colId xmlns:a16="http://schemas.microsoft.com/office/drawing/2014/main" val="1144080534"/>
                    </a:ext>
                  </a:extLst>
                </a:gridCol>
                <a:gridCol w="5064470">
                  <a:extLst>
                    <a:ext uri="{9D8B030D-6E8A-4147-A177-3AD203B41FA5}">
                      <a16:colId xmlns:a16="http://schemas.microsoft.com/office/drawing/2014/main" val="880007024"/>
                    </a:ext>
                  </a:extLst>
                </a:gridCol>
              </a:tblGrid>
              <a:tr h="682837">
                <a:tc>
                  <a:txBody>
                    <a:bodyPr/>
                    <a:lstStyle/>
                    <a:p>
                      <a:pPr algn="ctr">
                        <a:lnSpc>
                          <a:spcPct val="107000"/>
                        </a:lnSpc>
                        <a:spcAft>
                          <a:spcPts val="1800"/>
                        </a:spcAft>
                        <a:buNone/>
                      </a:pPr>
                      <a:r>
                        <a:rPr lang="en-IN" sz="1800" kern="0">
                          <a:effectLst/>
                        </a:rPr>
                        <a:t>Example</a:t>
                      </a:r>
                      <a:endParaRPr lang="en-IN" sz="1400" kern="10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tc>
                  <a:txBody>
                    <a:bodyPr/>
                    <a:lstStyle/>
                    <a:p>
                      <a:pPr algn="ctr">
                        <a:lnSpc>
                          <a:spcPct val="107000"/>
                        </a:lnSpc>
                        <a:spcAft>
                          <a:spcPts val="1800"/>
                        </a:spcAft>
                        <a:buNone/>
                      </a:pPr>
                      <a:r>
                        <a:rPr lang="en-IN" sz="1800" kern="0">
                          <a:effectLst/>
                        </a:rPr>
                        <a:t>Notation</a:t>
                      </a:r>
                      <a:endParaRPr lang="en-IN" sz="1400" kern="10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tc>
                  <a:txBody>
                    <a:bodyPr/>
                    <a:lstStyle/>
                    <a:p>
                      <a:pPr algn="ctr">
                        <a:lnSpc>
                          <a:spcPct val="107000"/>
                        </a:lnSpc>
                        <a:spcAft>
                          <a:spcPts val="1800"/>
                        </a:spcAft>
                        <a:buNone/>
                      </a:pPr>
                      <a:r>
                        <a:rPr lang="en-IN" sz="1800" kern="0">
                          <a:effectLst/>
                        </a:rPr>
                        <a:t>Example</a:t>
                      </a:r>
                      <a:endParaRPr lang="en-IN" sz="1400" kern="10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tc>
                  <a:txBody>
                    <a:bodyPr/>
                    <a:lstStyle/>
                    <a:p>
                      <a:pPr algn="ctr">
                        <a:lnSpc>
                          <a:spcPct val="107000"/>
                        </a:lnSpc>
                        <a:spcAft>
                          <a:spcPts val="1800"/>
                        </a:spcAft>
                        <a:buNone/>
                      </a:pPr>
                      <a:r>
                        <a:rPr lang="en-IN" sz="1800" kern="0">
                          <a:effectLst/>
                        </a:rPr>
                        <a:t>Expression Tree</a:t>
                      </a:r>
                      <a:endParaRPr lang="en-IN" sz="1400" kern="10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extLst>
                  <a:ext uri="{0D108BD9-81ED-4DB2-BD59-A6C34878D82A}">
                    <a16:rowId xmlns:a16="http://schemas.microsoft.com/office/drawing/2014/main" val="3211090653"/>
                  </a:ext>
                </a:extLst>
              </a:tr>
              <a:tr h="1382808">
                <a:tc rowSpan="3">
                  <a:txBody>
                    <a:bodyPr/>
                    <a:lstStyle/>
                    <a:p>
                      <a:pPr>
                        <a:lnSpc>
                          <a:spcPct val="107000"/>
                        </a:lnSpc>
                        <a:spcAft>
                          <a:spcPts val="1800"/>
                        </a:spcAft>
                        <a:buNone/>
                      </a:pPr>
                      <a:endParaRPr lang="en-IN" sz="18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endParaRPr>
                    </a:p>
                  </a:txBody>
                  <a:tcPr marL="152400" marR="152400" marT="114300" marB="114300" anchor="ctr"/>
                </a:tc>
                <a:tc>
                  <a:txBody>
                    <a:bodyPr/>
                    <a:lstStyle/>
                    <a:p>
                      <a:pPr>
                        <a:lnSpc>
                          <a:spcPct val="107000"/>
                        </a:lnSpc>
                        <a:spcAft>
                          <a:spcPts val="1800"/>
                        </a:spcAft>
                        <a:buNone/>
                      </a:pPr>
                      <a:r>
                        <a:rPr lang="en-IN" sz="2000" kern="0">
                          <a:effectLst/>
                        </a:rPr>
                        <a:t>Infix</a:t>
                      </a:r>
                      <a:endParaRPr lang="en-IN" sz="1600" kern="10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tc>
                  <a:txBody>
                    <a:bodyPr/>
                    <a:lstStyle/>
                    <a:p>
                      <a:pPr>
                        <a:lnSpc>
                          <a:spcPct val="107000"/>
                        </a:lnSpc>
                        <a:spcAft>
                          <a:spcPts val="1800"/>
                        </a:spcAft>
                        <a:buNone/>
                      </a:pPr>
                      <a:r>
                        <a:rPr lang="en-IN" sz="2000" kern="0" dirty="0">
                          <a:effectLst/>
                        </a:rPr>
                        <a:t>A + B * C</a:t>
                      </a:r>
                      <a:endParaRPr lang="en-IN" sz="1600" kern="100" dirty="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tc>
                  <a:txBody>
                    <a:bodyPr/>
                    <a:lstStyle/>
                    <a:p>
                      <a:pPr>
                        <a:lnSpc>
                          <a:spcPct val="107000"/>
                        </a:lnSpc>
                        <a:spcAft>
                          <a:spcPts val="1800"/>
                        </a:spcAft>
                        <a:buNone/>
                      </a:pPr>
                      <a:r>
                        <a:rPr lang="en-IN" sz="2000" kern="0" dirty="0">
                          <a:effectLst/>
                        </a:rPr>
                        <a:t>+ (root), with left child A and right child * (subtree with B and C as leaves)</a:t>
                      </a:r>
                      <a:endParaRPr lang="en-IN" sz="1600" kern="100" dirty="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extLst>
                  <a:ext uri="{0D108BD9-81ED-4DB2-BD59-A6C34878D82A}">
                    <a16:rowId xmlns:a16="http://schemas.microsoft.com/office/drawing/2014/main" val="2330997060"/>
                  </a:ext>
                </a:extLst>
              </a:tr>
              <a:tr h="1382808">
                <a:tc vMerge="1">
                  <a:txBody>
                    <a:bodyPr/>
                    <a:lstStyle/>
                    <a:p>
                      <a:endParaRPr lang="en-IN"/>
                    </a:p>
                  </a:txBody>
                  <a:tcPr/>
                </a:tc>
                <a:tc>
                  <a:txBody>
                    <a:bodyPr/>
                    <a:lstStyle/>
                    <a:p>
                      <a:pPr>
                        <a:lnSpc>
                          <a:spcPct val="107000"/>
                        </a:lnSpc>
                        <a:spcAft>
                          <a:spcPts val="1800"/>
                        </a:spcAft>
                        <a:buNone/>
                      </a:pPr>
                      <a:r>
                        <a:rPr lang="en-IN" sz="2000" kern="0">
                          <a:effectLst/>
                        </a:rPr>
                        <a:t>Postfix</a:t>
                      </a:r>
                      <a:endParaRPr lang="en-IN" sz="1600" kern="10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tc>
                  <a:txBody>
                    <a:bodyPr/>
                    <a:lstStyle/>
                    <a:p>
                      <a:pPr>
                        <a:lnSpc>
                          <a:spcPct val="107000"/>
                        </a:lnSpc>
                        <a:spcAft>
                          <a:spcPts val="1800"/>
                        </a:spcAft>
                        <a:buNone/>
                      </a:pPr>
                      <a:r>
                        <a:rPr lang="en-IN" sz="2000" kern="0" dirty="0">
                          <a:effectLst/>
                        </a:rPr>
                        <a:t>A B C * +</a:t>
                      </a:r>
                      <a:endParaRPr lang="en-IN" sz="1600" kern="100" dirty="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tc>
                  <a:txBody>
                    <a:bodyPr/>
                    <a:lstStyle/>
                    <a:p>
                      <a:pPr>
                        <a:lnSpc>
                          <a:spcPct val="107000"/>
                        </a:lnSpc>
                        <a:spcAft>
                          <a:spcPts val="1800"/>
                        </a:spcAft>
                        <a:buNone/>
                      </a:pPr>
                      <a:r>
                        <a:rPr lang="en-IN" sz="2000" kern="0">
                          <a:effectLst/>
                        </a:rPr>
                        <a:t>Same as the infix tree, but the construction order follows postfix operations</a:t>
                      </a:r>
                      <a:endParaRPr lang="en-IN" sz="1600" kern="10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extLst>
                  <a:ext uri="{0D108BD9-81ED-4DB2-BD59-A6C34878D82A}">
                    <a16:rowId xmlns:a16="http://schemas.microsoft.com/office/drawing/2014/main" val="2398565923"/>
                  </a:ext>
                </a:extLst>
              </a:tr>
              <a:tr h="1382808">
                <a:tc vMerge="1">
                  <a:txBody>
                    <a:bodyPr/>
                    <a:lstStyle/>
                    <a:p>
                      <a:endParaRPr lang="en-IN"/>
                    </a:p>
                  </a:txBody>
                  <a:tcPr/>
                </a:tc>
                <a:tc>
                  <a:txBody>
                    <a:bodyPr/>
                    <a:lstStyle/>
                    <a:p>
                      <a:pPr>
                        <a:lnSpc>
                          <a:spcPct val="107000"/>
                        </a:lnSpc>
                        <a:spcAft>
                          <a:spcPts val="1800"/>
                        </a:spcAft>
                        <a:buNone/>
                      </a:pPr>
                      <a:r>
                        <a:rPr lang="en-IN" sz="2000" kern="0">
                          <a:effectLst/>
                        </a:rPr>
                        <a:t>Prefix</a:t>
                      </a:r>
                      <a:endParaRPr lang="en-IN" sz="1600" kern="10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tc>
                  <a:txBody>
                    <a:bodyPr/>
                    <a:lstStyle/>
                    <a:p>
                      <a:pPr>
                        <a:lnSpc>
                          <a:spcPct val="107000"/>
                        </a:lnSpc>
                        <a:spcAft>
                          <a:spcPts val="1800"/>
                        </a:spcAft>
                        <a:buNone/>
                      </a:pPr>
                      <a:r>
                        <a:rPr lang="en-IN" sz="2000" kern="0">
                          <a:effectLst/>
                        </a:rPr>
                        <a:t>+ A * B C</a:t>
                      </a:r>
                      <a:endParaRPr lang="en-IN" sz="1600" kern="10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tc>
                  <a:txBody>
                    <a:bodyPr/>
                    <a:lstStyle/>
                    <a:p>
                      <a:pPr>
                        <a:lnSpc>
                          <a:spcPct val="107000"/>
                        </a:lnSpc>
                        <a:spcAft>
                          <a:spcPts val="1800"/>
                        </a:spcAft>
                        <a:buNone/>
                      </a:pPr>
                      <a:r>
                        <a:rPr lang="en-IN" sz="2000" kern="0" dirty="0">
                          <a:effectLst/>
                        </a:rPr>
                        <a:t>Same as the infix tree, but the construction order follows prefix operations</a:t>
                      </a:r>
                      <a:endParaRPr lang="en-IN" sz="1600" kern="100" dirty="0">
                        <a:effectLst/>
                        <a:latin typeface="Calibri" panose="020F0502020204030204" pitchFamily="34" charset="0"/>
                        <a:ea typeface="Calibri" panose="020F0502020204030204" pitchFamily="34" charset="0"/>
                        <a:cs typeface="Gautami" panose="020B0502040204020203" pitchFamily="34" charset="0"/>
                      </a:endParaRPr>
                    </a:p>
                  </a:txBody>
                  <a:tcPr marL="152400" marR="152400" marT="114300" marB="114300" anchor="ctr"/>
                </a:tc>
                <a:extLst>
                  <a:ext uri="{0D108BD9-81ED-4DB2-BD59-A6C34878D82A}">
                    <a16:rowId xmlns:a16="http://schemas.microsoft.com/office/drawing/2014/main" val="2090615313"/>
                  </a:ext>
                </a:extLst>
              </a:tr>
            </a:tbl>
          </a:graphicData>
        </a:graphic>
      </p:graphicFrame>
      <p:pic>
        <p:nvPicPr>
          <p:cNvPr id="1028" name="Picture 3" descr="custom img">
            <a:extLst>
              <a:ext uri="{FF2B5EF4-FFF2-40B4-BE49-F238E27FC236}">
                <a16:creationId xmlns:a16="http://schemas.microsoft.com/office/drawing/2014/main" id="{50E5A3F2-80FB-786D-BDAF-D4F82F479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217" y="2256183"/>
            <a:ext cx="2017644" cy="315070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BEBF1FA-925F-F926-DE66-C2109AF70A50}"/>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14" name="TextBox 13">
            <a:extLst>
              <a:ext uri="{FF2B5EF4-FFF2-40B4-BE49-F238E27FC236}">
                <a16:creationId xmlns:a16="http://schemas.microsoft.com/office/drawing/2014/main" id="{BA1D3CE9-5A7F-894D-DAF2-EC68AFB28B5C}"/>
              </a:ext>
            </a:extLst>
          </p:cNvPr>
          <p:cNvSpPr txBox="1"/>
          <p:nvPr/>
        </p:nvSpPr>
        <p:spPr>
          <a:xfrm>
            <a:off x="1789043" y="399231"/>
            <a:ext cx="6887817" cy="467564"/>
          </a:xfrm>
          <a:prstGeom prst="rect">
            <a:avLst/>
          </a:prstGeom>
          <a:noFill/>
        </p:spPr>
        <p:txBody>
          <a:bodyPr wrap="square">
            <a:spAutoFit/>
          </a:bodyPr>
          <a:lstStyle/>
          <a:p>
            <a:pPr>
              <a:lnSpc>
                <a:spcPct val="107000"/>
              </a:lnSpc>
              <a:spcAft>
                <a:spcPts val="1800"/>
              </a:spcAft>
              <a:buNone/>
            </a:pP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Comparison of Expression Trees with Example</a:t>
            </a:r>
            <a:endParaRPr lang="en-IN" kern="1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70153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8AA56-C408-9B22-8968-6FD087A05AF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F432403-F75F-859F-E496-EFAF4C39660A}"/>
              </a:ext>
            </a:extLst>
          </p:cNvPr>
          <p:cNvSpPr txBox="1"/>
          <p:nvPr/>
        </p:nvSpPr>
        <p:spPr>
          <a:xfrm>
            <a:off x="729574" y="1045997"/>
            <a:ext cx="10683430" cy="2877711"/>
          </a:xfrm>
          <a:prstGeom prst="rect">
            <a:avLst/>
          </a:prstGeom>
          <a:noFill/>
        </p:spPr>
        <p:txBody>
          <a:bodyPr wrap="square">
            <a:spAutoFit/>
          </a:bodyPr>
          <a:lstStyle/>
          <a:p>
            <a:r>
              <a:rPr lang="en-IN" sz="2000" b="1" u="sng" dirty="0">
                <a:latin typeface="Cambria" panose="02040503050406030204" pitchFamily="18" charset="0"/>
                <a:ea typeface="Cambria" panose="02040503050406030204" pitchFamily="18" charset="0"/>
              </a:rPr>
              <a:t>Construction of Infix to Expression Tree</a:t>
            </a:r>
          </a:p>
          <a:p>
            <a:endParaRPr lang="en-IN" sz="500" b="1" dirty="0">
              <a:latin typeface="Cambria" panose="02040503050406030204" pitchFamily="18" charset="0"/>
              <a:ea typeface="Cambria" panose="02040503050406030204" pitchFamily="18" charset="0"/>
            </a:endParaRPr>
          </a:p>
          <a:p>
            <a:r>
              <a:rPr lang="en-IN" dirty="0"/>
              <a:t>In infix notation, operators are placed between operands. This is the most common way of writing arithmetic expressions.</a:t>
            </a:r>
            <a:r>
              <a:rPr lang="en-IN" b="1" dirty="0"/>
              <a:t> </a:t>
            </a:r>
            <a:r>
              <a:rPr lang="en-IN" dirty="0"/>
              <a:t>The construction process of Infix to Expression Tree is as follows:</a:t>
            </a:r>
          </a:p>
          <a:p>
            <a:r>
              <a:rPr lang="en-IN" b="1" dirty="0"/>
              <a:t> </a:t>
            </a:r>
            <a:endParaRPr lang="en-IN" sz="2000" b="1" dirty="0">
              <a:latin typeface="Cambria" panose="02040503050406030204" pitchFamily="18" charset="0"/>
              <a:ea typeface="Cambria" panose="02040503050406030204" pitchFamily="18" charset="0"/>
            </a:endParaRPr>
          </a:p>
          <a:p>
            <a:pPr marL="895350" indent="-895350"/>
            <a:r>
              <a:rPr lang="en-IN" sz="2000" b="1" dirty="0">
                <a:latin typeface="Cambria" panose="02040503050406030204" pitchFamily="18" charset="0"/>
                <a:ea typeface="Cambria" panose="02040503050406030204" pitchFamily="18" charset="0"/>
              </a:rPr>
              <a:t>Step 1: </a:t>
            </a:r>
            <a:r>
              <a:rPr lang="en-IN" sz="2000" dirty="0">
                <a:latin typeface="Cambria" panose="02040503050406030204" pitchFamily="18" charset="0"/>
                <a:ea typeface="Cambria" panose="02040503050406030204" pitchFamily="18" charset="0"/>
              </a:rPr>
              <a:t>Start with the lowest precedence operator (if multiple operators are present) and make this operator the root of the tree.</a:t>
            </a:r>
          </a:p>
          <a:p>
            <a:pPr marL="895350" indent="-895350"/>
            <a:r>
              <a:rPr lang="en-IN" sz="2000" b="1" dirty="0">
                <a:latin typeface="Cambria" panose="02040503050406030204" pitchFamily="18" charset="0"/>
                <a:ea typeface="Cambria" panose="02040503050406030204" pitchFamily="18" charset="0"/>
              </a:rPr>
              <a:t>Step 2: </a:t>
            </a:r>
            <a:r>
              <a:rPr lang="en-IN" sz="2000" dirty="0">
                <a:latin typeface="Cambria" panose="02040503050406030204" pitchFamily="18" charset="0"/>
                <a:ea typeface="Cambria" panose="02040503050406030204" pitchFamily="18" charset="0"/>
              </a:rPr>
              <a:t>The left subtree is created from the part of the expression to the left of the operator, and the right subtree is created from the part of the expression to the right of the operator.</a:t>
            </a:r>
          </a:p>
          <a:p>
            <a:pPr marL="895350" indent="-895350"/>
            <a:r>
              <a:rPr lang="en-IN" sz="2000" b="1" dirty="0">
                <a:latin typeface="Cambria" panose="02040503050406030204" pitchFamily="18" charset="0"/>
                <a:ea typeface="Cambria" panose="02040503050406030204" pitchFamily="18" charset="0"/>
              </a:rPr>
              <a:t>Step 3: </a:t>
            </a:r>
            <a:r>
              <a:rPr lang="en-IN" sz="2000" dirty="0">
                <a:latin typeface="Cambria" panose="02040503050406030204" pitchFamily="18" charset="0"/>
                <a:ea typeface="Cambria" panose="02040503050406030204" pitchFamily="18" charset="0"/>
              </a:rPr>
              <a:t>Recursively apply this process to the left and right subexpressions</a:t>
            </a:r>
            <a:endParaRPr lang="en-US" sz="3600" dirty="0">
              <a:latin typeface="Cambria" panose="02040503050406030204" pitchFamily="18" charset="0"/>
              <a:ea typeface="Cambria" panose="02040503050406030204" pitchFamily="18" charset="0"/>
              <a:cs typeface="Times New Roman"/>
            </a:endParaRPr>
          </a:p>
        </p:txBody>
      </p:sp>
      <p:sp>
        <p:nvSpPr>
          <p:cNvPr id="2" name="TextBox 1">
            <a:extLst>
              <a:ext uri="{FF2B5EF4-FFF2-40B4-BE49-F238E27FC236}">
                <a16:creationId xmlns:a16="http://schemas.microsoft.com/office/drawing/2014/main" id="{A1CE6EE2-88D0-14CE-3A1C-EB3BDB3ABF2B}"/>
              </a:ext>
            </a:extLst>
          </p:cNvPr>
          <p:cNvSpPr txBox="1"/>
          <p:nvPr/>
        </p:nvSpPr>
        <p:spPr>
          <a:xfrm>
            <a:off x="1945532" y="241716"/>
            <a:ext cx="6750996" cy="461665"/>
          </a:xfrm>
          <a:prstGeom prst="rect">
            <a:avLst/>
          </a:prstGeom>
          <a:noFill/>
        </p:spPr>
        <p:txBody>
          <a:bodyPr wrap="square">
            <a:spAutoFit/>
          </a:bodyPr>
          <a:lstStyle/>
          <a:p>
            <a:pPr marL="6350">
              <a:spcBef>
                <a:spcPts val="100"/>
              </a:spcBef>
            </a:pPr>
            <a:r>
              <a:rPr lang="en-US" sz="2400" b="1" dirty="0">
                <a:highlight>
                  <a:srgbClr val="FFFF00"/>
                </a:highlight>
                <a:latin typeface="Times New Roman"/>
                <a:cs typeface="Times New Roman"/>
              </a:rPr>
              <a:t>2. b)</a:t>
            </a:r>
            <a:r>
              <a:rPr lang="en-IN" sz="2400" b="1" kern="0" dirty="0">
                <a:solidFill>
                  <a:srgbClr val="000000"/>
                </a:solidFill>
                <a:highlight>
                  <a:srgbClr val="FFFF00"/>
                </a:highlight>
                <a:latin typeface="Cambria" panose="02040503050406030204" pitchFamily="18" charset="0"/>
                <a:ea typeface="Cambria" panose="02040503050406030204" pitchFamily="18" charset="0"/>
                <a:cs typeface="Arial" panose="020B0604020202020204" pitchFamily="34" charset="0"/>
              </a:rPr>
              <a:t> Implementation of Algebraic Expressions</a:t>
            </a:r>
            <a:r>
              <a:rPr lang="en-US" sz="2400" b="1" dirty="0">
                <a:highlight>
                  <a:srgbClr val="FFFF00"/>
                </a:highlight>
                <a:latin typeface="Times New Roman"/>
                <a:cs typeface="Times New Roman"/>
              </a:rPr>
              <a:t> </a:t>
            </a:r>
            <a:endParaRPr lang="en-US" sz="1000" dirty="0">
              <a:highlight>
                <a:srgbClr val="FFFF00"/>
              </a:highlight>
              <a:latin typeface="Times New Roman"/>
              <a:cs typeface="Times New Roman"/>
            </a:endParaRPr>
          </a:p>
        </p:txBody>
      </p:sp>
      <p:sp>
        <p:nvSpPr>
          <p:cNvPr id="4" name="TextBox 3">
            <a:extLst>
              <a:ext uri="{FF2B5EF4-FFF2-40B4-BE49-F238E27FC236}">
                <a16:creationId xmlns:a16="http://schemas.microsoft.com/office/drawing/2014/main" id="{DEDD3E91-BD35-4087-6A0D-1C4B4B230C81}"/>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6" name="TextBox 5">
            <a:extLst>
              <a:ext uri="{FF2B5EF4-FFF2-40B4-BE49-F238E27FC236}">
                <a16:creationId xmlns:a16="http://schemas.microsoft.com/office/drawing/2014/main" id="{C1083024-F187-3D45-9BC8-97875A47C746}"/>
              </a:ext>
            </a:extLst>
          </p:cNvPr>
          <p:cNvSpPr txBox="1"/>
          <p:nvPr/>
        </p:nvSpPr>
        <p:spPr>
          <a:xfrm>
            <a:off x="535022" y="4032115"/>
            <a:ext cx="9182910" cy="2293513"/>
          </a:xfrm>
          <a:prstGeom prst="rect">
            <a:avLst/>
          </a:prstGeom>
          <a:noFill/>
        </p:spPr>
        <p:txBody>
          <a:bodyPr wrap="square">
            <a:spAutoFit/>
          </a:bodyPr>
          <a:lstStyle/>
          <a:p>
            <a:pPr algn="just">
              <a:lnSpc>
                <a:spcPct val="107000"/>
              </a:lnSpc>
              <a:spcAft>
                <a:spcPts val="800"/>
              </a:spcAft>
              <a:buNone/>
            </a:pPr>
            <a:r>
              <a:rPr lang="en-IN" sz="18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Example: </a:t>
            </a:r>
            <a:r>
              <a:rPr lang="en-IN" sz="24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A + B * C</a:t>
            </a:r>
            <a:endParaRPr lang="en-IN" sz="1600" kern="100" dirty="0">
              <a:ea typeface="Calibri" panose="020F0502020204030204" pitchFamily="34" charset="0"/>
              <a:cs typeface="Gautami" panose="020B0502040204020203" pitchFamily="34" charset="0"/>
            </a:endParaRPr>
          </a:p>
          <a:p>
            <a:pPr marL="447675" indent="-273050" algn="just">
              <a:lnSpc>
                <a:spcPct val="107000"/>
              </a:lnSpc>
              <a:spcAft>
                <a:spcPts val="800"/>
              </a:spcAft>
              <a:buFont typeface="Arial" panose="020B0604020202020204" pitchFamily="34" charset="0"/>
              <a:buChar char="•"/>
            </a:pP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The  </a:t>
            </a: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a:t>
            </a: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 has a lower precedence than </a:t>
            </a: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a:t>
            </a: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 so </a:t>
            </a: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a:t>
            </a: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 becomes the </a:t>
            </a:r>
            <a:r>
              <a:rPr lang="en-IN" sz="20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root.</a:t>
            </a:r>
            <a:endParaRPr lang="en-IN" sz="1600" b="1" kern="100" dirty="0">
              <a:ea typeface="Calibri" panose="020F0502020204030204" pitchFamily="34" charset="0"/>
              <a:cs typeface="Gautami" panose="020B0502040204020203" pitchFamily="34" charset="0"/>
            </a:endParaRPr>
          </a:p>
          <a:p>
            <a:pPr marL="447675" indent="-273050" algn="just">
              <a:lnSpc>
                <a:spcPct val="107000"/>
              </a:lnSpc>
              <a:spcAft>
                <a:spcPts val="800"/>
              </a:spcAft>
              <a:buFont typeface="Arial" panose="020B0604020202020204" pitchFamily="34" charset="0"/>
              <a:buChar char="•"/>
            </a:pP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Operand </a:t>
            </a: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A</a:t>
            </a: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 becomes the left child of </a:t>
            </a: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a:t>
            </a: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a:t>
            </a:r>
            <a:endParaRPr lang="en-IN" sz="1600" kern="100" dirty="0">
              <a:ea typeface="Calibri" panose="020F0502020204030204" pitchFamily="34" charset="0"/>
              <a:cs typeface="Gautami" panose="020B0502040204020203" pitchFamily="34" charset="0"/>
            </a:endParaRPr>
          </a:p>
          <a:p>
            <a:pPr marL="447675" indent="-273050" algn="just">
              <a:lnSpc>
                <a:spcPct val="107000"/>
              </a:lnSpc>
              <a:spcAft>
                <a:spcPts val="800"/>
              </a:spcAft>
              <a:buFont typeface="Arial" panose="020B0604020202020204" pitchFamily="34" charset="0"/>
              <a:buChar char="•"/>
            </a:pP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The expression </a:t>
            </a:r>
            <a:r>
              <a:rPr lang="en-IN" sz="20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B*C</a:t>
            </a: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 becomes the right subtree. Since </a:t>
            </a:r>
            <a:r>
              <a:rPr lang="en-IN" sz="2400" b="1"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a:t>
            </a:r>
            <a:r>
              <a:rPr lang="en-IN" sz="2000" kern="0" dirty="0">
                <a:solidFill>
                  <a:srgbClr val="000000"/>
                </a:solidFill>
                <a:effectLst/>
                <a:latin typeface="Cambria" panose="02040503050406030204" pitchFamily="18" charset="0"/>
                <a:ea typeface="Times New Roman" panose="02020603050405020304" pitchFamily="18" charset="0"/>
                <a:cs typeface="Arial" panose="020B0604020202020204" pitchFamily="34" charset="0"/>
              </a:rPr>
              <a:t> has the highest precedence, it is the root of this subtree, and B and C are its children.</a:t>
            </a:r>
            <a:endParaRPr lang="en-IN" sz="1600" kern="1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8" name="TextBox 7">
            <a:extLst>
              <a:ext uri="{FF2B5EF4-FFF2-40B4-BE49-F238E27FC236}">
                <a16:creationId xmlns:a16="http://schemas.microsoft.com/office/drawing/2014/main" id="{FC8257F6-1F75-42A3-3430-B550EFDA8C48}"/>
              </a:ext>
            </a:extLst>
          </p:cNvPr>
          <p:cNvSpPr txBox="1"/>
          <p:nvPr/>
        </p:nvSpPr>
        <p:spPr>
          <a:xfrm>
            <a:off x="9270208" y="3585966"/>
            <a:ext cx="2639158" cy="2246769"/>
          </a:xfrm>
          <a:prstGeom prst="rect">
            <a:avLst/>
          </a:prstGeom>
          <a:noFill/>
        </p:spPr>
        <p:txBody>
          <a:bodyPr wrap="square">
            <a:spAutoFit/>
          </a:bodyPr>
          <a:lstStyle/>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a:t>
            </a:r>
          </a:p>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2800" b="1" kern="0" dirty="0">
                <a:solidFill>
                  <a:srgbClr val="000000"/>
                </a:solidFill>
                <a:highlight>
                  <a:srgbClr val="C0C0C0"/>
                </a:highlight>
                <a:latin typeface="Cambria" panose="02040503050406030204" pitchFamily="18" charset="0"/>
                <a:ea typeface="Cambria" panose="02040503050406030204" pitchFamily="18" charset="0"/>
                <a:cs typeface="Arial" panose="020B0604020202020204" pitchFamily="34" charset="0"/>
              </a:rPr>
              <a:t>A</a:t>
            </a: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   \</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B      </a:t>
            </a:r>
            <a:r>
              <a:rPr lang="en-IN" sz="2800" b="1" kern="0" dirty="0">
                <a:solidFill>
                  <a:srgbClr val="000000"/>
                </a:solidFill>
                <a:highlight>
                  <a:srgbClr val="C0C0C0"/>
                </a:highlight>
                <a:latin typeface="Cambria" panose="02040503050406030204" pitchFamily="18" charset="0"/>
                <a:ea typeface="Cambria" panose="02040503050406030204" pitchFamily="18" charset="0"/>
                <a:cs typeface="Arial" panose="020B0604020202020204" pitchFamily="34" charset="0"/>
              </a:rPr>
              <a:t>C</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p:txBody>
      </p:sp>
    </p:spTree>
    <p:extLst>
      <p:ext uri="{BB962C8B-B14F-4D97-AF65-F5344CB8AC3E}">
        <p14:creationId xmlns:p14="http://schemas.microsoft.com/office/powerpoint/2010/main" val="1108620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6B758-2D3C-5449-87E9-35A6E29D264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F24545C-767A-9834-5C99-3ED46590A7D4}"/>
              </a:ext>
            </a:extLst>
          </p:cNvPr>
          <p:cNvSpPr txBox="1"/>
          <p:nvPr/>
        </p:nvSpPr>
        <p:spPr>
          <a:xfrm>
            <a:off x="729574" y="935112"/>
            <a:ext cx="10683430" cy="3323987"/>
          </a:xfrm>
          <a:prstGeom prst="rect">
            <a:avLst/>
          </a:prstGeom>
          <a:noFill/>
        </p:spPr>
        <p:txBody>
          <a:bodyPr wrap="square">
            <a:spAutoFit/>
          </a:bodyPr>
          <a:lstStyle/>
          <a:p>
            <a:r>
              <a:rPr lang="en-IN" sz="2000" b="1" u="sng" dirty="0">
                <a:latin typeface="Cambria" panose="02040503050406030204" pitchFamily="18" charset="0"/>
                <a:ea typeface="Cambria" panose="02040503050406030204" pitchFamily="18" charset="0"/>
              </a:rPr>
              <a:t>Construction of prefix to Expression Tree</a:t>
            </a:r>
          </a:p>
          <a:p>
            <a:endParaRPr lang="en-IN" sz="500" b="1" dirty="0">
              <a:latin typeface="Cambria" panose="02040503050406030204" pitchFamily="18" charset="0"/>
              <a:ea typeface="Cambria" panose="02040503050406030204" pitchFamily="18" charset="0"/>
            </a:endParaRPr>
          </a:p>
          <a:p>
            <a:r>
              <a:rPr lang="en-IN" sz="2000" dirty="0">
                <a:latin typeface="Cambria" panose="02040503050406030204" pitchFamily="18" charset="0"/>
                <a:ea typeface="Cambria" panose="02040503050406030204" pitchFamily="18" charset="0"/>
              </a:rPr>
              <a:t>In prefix notation, operators appear before their operands.</a:t>
            </a:r>
            <a:r>
              <a:rPr lang="en-IN" sz="2000" b="1"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The construction Process of Prefix to Expression Tree is as follows:</a:t>
            </a:r>
          </a:p>
          <a:p>
            <a:endParaRPr lang="en-IN" sz="500" b="1" dirty="0"/>
          </a:p>
          <a:p>
            <a:pPr marL="719138" indent="-719138"/>
            <a:r>
              <a:rPr lang="en-IN" sz="2000" b="1" dirty="0">
                <a:latin typeface="Cambria" panose="02040503050406030204" pitchFamily="18" charset="0"/>
                <a:ea typeface="Cambria" panose="02040503050406030204" pitchFamily="18" charset="0"/>
              </a:rPr>
              <a:t>Step 1:</a:t>
            </a:r>
            <a:r>
              <a:rPr lang="en-IN" sz="2000" dirty="0">
                <a:latin typeface="Cambria" panose="02040503050406030204" pitchFamily="18" charset="0"/>
                <a:ea typeface="Cambria" panose="02040503050406030204" pitchFamily="18" charset="0"/>
              </a:rPr>
              <a:t>  Start from the right of the prefix expression and push operands onto a stack.</a:t>
            </a:r>
          </a:p>
          <a:p>
            <a:pPr marL="719138" indent="-719138"/>
            <a:r>
              <a:rPr lang="en-IN" sz="2000" b="1" dirty="0">
                <a:latin typeface="Cambria" panose="02040503050406030204" pitchFamily="18" charset="0"/>
                <a:ea typeface="Cambria" panose="02040503050406030204" pitchFamily="18" charset="0"/>
              </a:rPr>
              <a:t>Step 2:  </a:t>
            </a:r>
            <a:r>
              <a:rPr lang="en-IN" sz="2000" dirty="0">
                <a:latin typeface="Cambria" panose="02040503050406030204" pitchFamily="18" charset="0"/>
                <a:ea typeface="Cambria" panose="02040503050406030204" pitchFamily="18" charset="0"/>
              </a:rPr>
              <a:t>When an operator is encountered, pop the required number of operands (2 for binary operators) from the stack, create a new node for the operator, and make the popped operands its children.</a:t>
            </a:r>
          </a:p>
          <a:p>
            <a:pPr marL="719138" indent="-719138"/>
            <a:r>
              <a:rPr lang="en-IN" sz="2000" b="1" dirty="0">
                <a:latin typeface="Cambria" panose="02040503050406030204" pitchFamily="18" charset="0"/>
                <a:ea typeface="Cambria" panose="02040503050406030204" pitchFamily="18" charset="0"/>
              </a:rPr>
              <a:t>Step 3:  </a:t>
            </a:r>
            <a:r>
              <a:rPr lang="en-IN" sz="2000" dirty="0">
                <a:latin typeface="Cambria" panose="02040503050406030204" pitchFamily="18" charset="0"/>
                <a:ea typeface="Cambria" panose="02040503050406030204" pitchFamily="18" charset="0"/>
              </a:rPr>
              <a:t>Push the new operator node back onto the stack.</a:t>
            </a:r>
          </a:p>
          <a:p>
            <a:pPr marL="719138" indent="-719138"/>
            <a:r>
              <a:rPr lang="en-IN" sz="2000" b="1" dirty="0">
                <a:latin typeface="Cambria" panose="02040503050406030204" pitchFamily="18" charset="0"/>
                <a:ea typeface="Cambria" panose="02040503050406030204" pitchFamily="18" charset="0"/>
              </a:rPr>
              <a:t>Step 4:  </a:t>
            </a:r>
            <a:r>
              <a:rPr lang="en-IN" sz="2000" dirty="0">
                <a:latin typeface="Cambria" panose="02040503050406030204" pitchFamily="18" charset="0"/>
                <a:ea typeface="Cambria" panose="02040503050406030204" pitchFamily="18" charset="0"/>
              </a:rPr>
              <a:t>At the end of the expression, the stack will contain a single node, which is the root of the expression tree.</a:t>
            </a:r>
          </a:p>
        </p:txBody>
      </p:sp>
      <p:sp>
        <p:nvSpPr>
          <p:cNvPr id="4" name="TextBox 3">
            <a:extLst>
              <a:ext uri="{FF2B5EF4-FFF2-40B4-BE49-F238E27FC236}">
                <a16:creationId xmlns:a16="http://schemas.microsoft.com/office/drawing/2014/main" id="{A611FA47-4DA2-B7AA-2406-F605E1C9EC7B}"/>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6" name="TextBox 5">
            <a:extLst>
              <a:ext uri="{FF2B5EF4-FFF2-40B4-BE49-F238E27FC236}">
                <a16:creationId xmlns:a16="http://schemas.microsoft.com/office/drawing/2014/main" id="{77E2908F-5321-3D0B-0D7E-C774A006E44B}"/>
              </a:ext>
            </a:extLst>
          </p:cNvPr>
          <p:cNvSpPr txBox="1"/>
          <p:nvPr/>
        </p:nvSpPr>
        <p:spPr>
          <a:xfrm>
            <a:off x="457200" y="4488836"/>
            <a:ext cx="8706255" cy="1692771"/>
          </a:xfrm>
          <a:prstGeom prst="rect">
            <a:avLst/>
          </a:prstGeom>
          <a:noFill/>
        </p:spPr>
        <p:txBody>
          <a:bodyPr wrap="square">
            <a:spAutoFit/>
          </a:bodyPr>
          <a:lstStyle/>
          <a:p>
            <a:r>
              <a:rPr lang="en-IN" sz="2000" b="1" dirty="0">
                <a:latin typeface="Cambria" panose="02040503050406030204" pitchFamily="18" charset="0"/>
                <a:ea typeface="Cambria" panose="02040503050406030204" pitchFamily="18" charset="0"/>
              </a:rPr>
              <a:t>Example:</a:t>
            </a:r>
            <a:r>
              <a:rPr lang="en-IN" sz="2000" dirty="0">
                <a:latin typeface="Cambria" panose="02040503050406030204" pitchFamily="18" charset="0"/>
                <a:ea typeface="Cambria" panose="02040503050406030204" pitchFamily="18" charset="0"/>
              </a:rPr>
              <a:t> </a:t>
            </a:r>
            <a:r>
              <a:rPr lang="en-IN" sz="2000" b="1" dirty="0">
                <a:latin typeface="Cambria" panose="02040503050406030204" pitchFamily="18" charset="0"/>
                <a:ea typeface="Cambria" panose="02040503050406030204" pitchFamily="18" charset="0"/>
              </a:rPr>
              <a:t>+ A * B C</a:t>
            </a:r>
          </a:p>
          <a:p>
            <a:endParaRPr lang="en-IN" sz="500" dirty="0">
              <a:latin typeface="Cambria" panose="02040503050406030204" pitchFamily="18" charset="0"/>
              <a:ea typeface="Cambria" panose="02040503050406030204" pitchFamily="18" charset="0"/>
            </a:endParaRPr>
          </a:p>
          <a:p>
            <a:pPr marL="360363" indent="-185738">
              <a:buFont typeface="Wingdings" panose="05000000000000000000" pitchFamily="2" charset="2"/>
              <a:buChar char="§"/>
            </a:pPr>
            <a:r>
              <a:rPr lang="en-IN" sz="2000" dirty="0">
                <a:latin typeface="Cambria" panose="02040503050406030204" pitchFamily="18" charset="0"/>
                <a:ea typeface="Cambria" panose="02040503050406030204" pitchFamily="18" charset="0"/>
              </a:rPr>
              <a:t>Push ‘A’, ‘B’, and ‘C’ onto the stack.</a:t>
            </a:r>
          </a:p>
          <a:p>
            <a:pPr marL="360363" indent="-185738">
              <a:buFont typeface="Wingdings" panose="05000000000000000000" pitchFamily="2" charset="2"/>
              <a:buChar char="§"/>
            </a:pPr>
            <a:r>
              <a:rPr lang="en-IN" sz="2000" dirty="0">
                <a:latin typeface="Cambria" panose="02040503050406030204" pitchFamily="18" charset="0"/>
                <a:ea typeface="Cambria" panose="02040503050406030204" pitchFamily="18" charset="0"/>
              </a:rPr>
              <a:t>Pop ‘C’ and ‘B’, create a node with *, and push it back onto the stack.</a:t>
            </a:r>
          </a:p>
          <a:p>
            <a:pPr marL="360363" indent="-185738">
              <a:buFont typeface="Wingdings" panose="05000000000000000000" pitchFamily="2" charset="2"/>
              <a:buChar char="§"/>
            </a:pPr>
            <a:r>
              <a:rPr lang="en-IN" sz="2000" dirty="0">
                <a:latin typeface="Cambria" panose="02040503050406030204" pitchFamily="18" charset="0"/>
                <a:ea typeface="Cambria" panose="02040503050406030204" pitchFamily="18" charset="0"/>
              </a:rPr>
              <a:t>Pop ‘A’ and the * node, create a node with + and push it back onto the stack.</a:t>
            </a:r>
          </a:p>
          <a:p>
            <a:pPr marL="360363" indent="-185738">
              <a:buFont typeface="Wingdings" panose="05000000000000000000" pitchFamily="2" charset="2"/>
              <a:buChar char="§"/>
            </a:pPr>
            <a:r>
              <a:rPr lang="en-IN" sz="2000" dirty="0">
                <a:latin typeface="Cambria" panose="02040503050406030204" pitchFamily="18" charset="0"/>
                <a:ea typeface="Cambria" panose="02040503050406030204" pitchFamily="18" charset="0"/>
              </a:rPr>
              <a:t>The final stack contains the root of the tree.</a:t>
            </a:r>
          </a:p>
        </p:txBody>
      </p:sp>
      <p:sp>
        <p:nvSpPr>
          <p:cNvPr id="8" name="TextBox 7">
            <a:extLst>
              <a:ext uri="{FF2B5EF4-FFF2-40B4-BE49-F238E27FC236}">
                <a16:creationId xmlns:a16="http://schemas.microsoft.com/office/drawing/2014/main" id="{B35277B9-DA8C-B528-0895-EA10F8FB82DB}"/>
              </a:ext>
            </a:extLst>
          </p:cNvPr>
          <p:cNvSpPr txBox="1"/>
          <p:nvPr/>
        </p:nvSpPr>
        <p:spPr>
          <a:xfrm>
            <a:off x="8719365" y="3865777"/>
            <a:ext cx="2639158" cy="2246769"/>
          </a:xfrm>
          <a:prstGeom prst="rect">
            <a:avLst/>
          </a:prstGeom>
          <a:noFill/>
        </p:spPr>
        <p:txBody>
          <a:bodyPr wrap="square">
            <a:spAutoFit/>
          </a:bodyPr>
          <a:lstStyle/>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a:t>
            </a:r>
          </a:p>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2800" b="1" kern="0" dirty="0">
                <a:solidFill>
                  <a:srgbClr val="000000"/>
                </a:solidFill>
                <a:highlight>
                  <a:srgbClr val="C0C0C0"/>
                </a:highlight>
                <a:latin typeface="Cambria" panose="02040503050406030204" pitchFamily="18" charset="0"/>
                <a:ea typeface="Cambria" panose="02040503050406030204" pitchFamily="18" charset="0"/>
                <a:cs typeface="Arial" panose="020B0604020202020204" pitchFamily="34" charset="0"/>
              </a:rPr>
              <a:t>A</a:t>
            </a: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   \</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B      </a:t>
            </a:r>
            <a:r>
              <a:rPr lang="en-IN" sz="2800" b="1" kern="0" dirty="0">
                <a:solidFill>
                  <a:srgbClr val="000000"/>
                </a:solidFill>
                <a:highlight>
                  <a:srgbClr val="C0C0C0"/>
                </a:highlight>
                <a:latin typeface="Cambria" panose="02040503050406030204" pitchFamily="18" charset="0"/>
                <a:ea typeface="Cambria" panose="02040503050406030204" pitchFamily="18" charset="0"/>
                <a:cs typeface="Arial" panose="020B0604020202020204" pitchFamily="34" charset="0"/>
              </a:rPr>
              <a:t>C</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p:txBody>
      </p:sp>
    </p:spTree>
    <p:extLst>
      <p:ext uri="{BB962C8B-B14F-4D97-AF65-F5344CB8AC3E}">
        <p14:creationId xmlns:p14="http://schemas.microsoft.com/office/powerpoint/2010/main" val="487333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D710A-7933-1D3E-3AC5-1BF40EFAADC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09EBBC1-BD9B-6A3A-0EA7-D59B9EA8ED2A}"/>
              </a:ext>
            </a:extLst>
          </p:cNvPr>
          <p:cNvSpPr txBox="1"/>
          <p:nvPr/>
        </p:nvSpPr>
        <p:spPr>
          <a:xfrm>
            <a:off x="729574" y="935112"/>
            <a:ext cx="10683430" cy="3354765"/>
          </a:xfrm>
          <a:prstGeom prst="rect">
            <a:avLst/>
          </a:prstGeom>
          <a:noFill/>
        </p:spPr>
        <p:txBody>
          <a:bodyPr wrap="square">
            <a:spAutoFit/>
          </a:bodyPr>
          <a:lstStyle/>
          <a:p>
            <a:r>
              <a:rPr lang="en-IN" sz="2000" b="1" u="sng" dirty="0">
                <a:latin typeface="Cambria" panose="02040503050406030204" pitchFamily="18" charset="0"/>
                <a:ea typeface="Cambria" panose="02040503050406030204" pitchFamily="18" charset="0"/>
              </a:rPr>
              <a:t>Construction of postfix to Expression Tree</a:t>
            </a:r>
          </a:p>
          <a:p>
            <a:endParaRPr lang="en-IN" sz="500" b="1" dirty="0">
              <a:latin typeface="Cambria" panose="02040503050406030204" pitchFamily="18" charset="0"/>
              <a:ea typeface="Cambria" panose="02040503050406030204" pitchFamily="18" charset="0"/>
            </a:endParaRPr>
          </a:p>
          <a:p>
            <a:r>
              <a:rPr lang="en-IN" sz="2000" dirty="0">
                <a:latin typeface="Cambria" panose="02040503050406030204" pitchFamily="18" charset="0"/>
                <a:ea typeface="Cambria" panose="02040503050406030204" pitchFamily="18" charset="0"/>
              </a:rPr>
              <a:t>In postfix notation, operators are placed after their operands.</a:t>
            </a:r>
            <a:r>
              <a:rPr lang="en-IN" sz="2000" b="1"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The construction process of Postfix to Expression Tree is as follows:</a:t>
            </a:r>
          </a:p>
          <a:p>
            <a:endParaRPr lang="en-IN" sz="500" b="1" dirty="0">
              <a:latin typeface="Cambria" panose="02040503050406030204" pitchFamily="18" charset="0"/>
              <a:ea typeface="Cambria" panose="02040503050406030204" pitchFamily="18" charset="0"/>
            </a:endParaRPr>
          </a:p>
          <a:p>
            <a:pPr marL="808038" indent="-808038"/>
            <a:r>
              <a:rPr lang="en-IN" sz="2000" b="1" dirty="0">
                <a:latin typeface="Cambria" panose="02040503050406030204" pitchFamily="18" charset="0"/>
                <a:ea typeface="Cambria" panose="02040503050406030204" pitchFamily="18" charset="0"/>
              </a:rPr>
              <a:t>Step 1: </a:t>
            </a:r>
            <a:r>
              <a:rPr lang="en-IN" sz="2000" dirty="0">
                <a:latin typeface="Cambria" panose="02040503050406030204" pitchFamily="18" charset="0"/>
                <a:ea typeface="Cambria" panose="02040503050406030204" pitchFamily="18" charset="0"/>
              </a:rPr>
              <a:t>Start from the left of the postfix expression and push operands onto a stack.</a:t>
            </a:r>
          </a:p>
          <a:p>
            <a:pPr marL="808038" indent="-808038"/>
            <a:r>
              <a:rPr lang="en-IN" sz="2000" b="1" dirty="0">
                <a:latin typeface="Cambria" panose="02040503050406030204" pitchFamily="18" charset="0"/>
                <a:ea typeface="Cambria" panose="02040503050406030204" pitchFamily="18" charset="0"/>
              </a:rPr>
              <a:t>Step 2: </a:t>
            </a:r>
            <a:r>
              <a:rPr lang="en-IN" sz="2000" dirty="0">
                <a:latin typeface="Cambria" panose="02040503050406030204" pitchFamily="18" charset="0"/>
                <a:ea typeface="Cambria" panose="02040503050406030204" pitchFamily="18" charset="0"/>
              </a:rPr>
              <a:t>When an operator is encountered, pop the required number of operands (2 for binary operators) from the stack, create a new node for the operator, and make the popped operands its children.</a:t>
            </a:r>
          </a:p>
          <a:p>
            <a:pPr marL="808038" indent="-808038"/>
            <a:r>
              <a:rPr lang="en-IN" sz="2000" b="1" dirty="0">
                <a:latin typeface="Cambria" panose="02040503050406030204" pitchFamily="18" charset="0"/>
                <a:ea typeface="Cambria" panose="02040503050406030204" pitchFamily="18" charset="0"/>
              </a:rPr>
              <a:t>Step 3: </a:t>
            </a:r>
            <a:r>
              <a:rPr lang="en-IN" sz="2000" dirty="0">
                <a:latin typeface="Cambria" panose="02040503050406030204" pitchFamily="18" charset="0"/>
                <a:ea typeface="Cambria" panose="02040503050406030204" pitchFamily="18" charset="0"/>
              </a:rPr>
              <a:t>Push the new operator node back onto the stack.</a:t>
            </a:r>
          </a:p>
          <a:p>
            <a:pPr marL="808038" indent="-808038"/>
            <a:r>
              <a:rPr lang="en-IN" sz="2000" b="1" dirty="0">
                <a:latin typeface="Cambria" panose="02040503050406030204" pitchFamily="18" charset="0"/>
                <a:ea typeface="Cambria" panose="02040503050406030204" pitchFamily="18" charset="0"/>
              </a:rPr>
              <a:t>Step 4:</a:t>
            </a:r>
            <a:r>
              <a:rPr lang="en-IN" sz="2000" dirty="0">
                <a:latin typeface="Cambria" panose="02040503050406030204" pitchFamily="18" charset="0"/>
                <a:ea typeface="Cambria" panose="02040503050406030204" pitchFamily="18" charset="0"/>
              </a:rPr>
              <a:t> At the end of the expression, the stack will contain a single node, which is the root of the expression tree.</a:t>
            </a:r>
          </a:p>
        </p:txBody>
      </p:sp>
      <p:sp>
        <p:nvSpPr>
          <p:cNvPr id="4" name="TextBox 3">
            <a:extLst>
              <a:ext uri="{FF2B5EF4-FFF2-40B4-BE49-F238E27FC236}">
                <a16:creationId xmlns:a16="http://schemas.microsoft.com/office/drawing/2014/main" id="{5C32B076-47C3-6D3F-AE4B-6AB8CDB3E24E}"/>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6" name="TextBox 5">
            <a:extLst>
              <a:ext uri="{FF2B5EF4-FFF2-40B4-BE49-F238E27FC236}">
                <a16:creationId xmlns:a16="http://schemas.microsoft.com/office/drawing/2014/main" id="{29804BEB-350A-184C-F263-1477D98DB255}"/>
              </a:ext>
            </a:extLst>
          </p:cNvPr>
          <p:cNvSpPr txBox="1"/>
          <p:nvPr/>
        </p:nvSpPr>
        <p:spPr>
          <a:xfrm>
            <a:off x="340970" y="4313240"/>
            <a:ext cx="8657115" cy="1821204"/>
          </a:xfrm>
          <a:prstGeom prst="rect">
            <a:avLst/>
          </a:prstGeom>
          <a:noFill/>
        </p:spPr>
        <p:txBody>
          <a:bodyPr wrap="square">
            <a:spAutoFit/>
          </a:bodyPr>
          <a:lstStyle/>
          <a:p>
            <a:pPr algn="just">
              <a:lnSpc>
                <a:spcPct val="107000"/>
              </a:lnSpc>
              <a:spcAft>
                <a:spcPts val="800"/>
              </a:spcAft>
              <a:buNone/>
            </a:pPr>
            <a:r>
              <a:rPr lang="en-IN" sz="1800" b="1" kern="0" dirty="0">
                <a:solidFill>
                  <a:srgbClr val="000000"/>
                </a:solidFill>
                <a:effectLst/>
                <a:latin typeface="Cambria" panose="02040503050406030204" pitchFamily="18" charset="0"/>
                <a:ea typeface="Cambria" panose="02040503050406030204" pitchFamily="18" charset="0"/>
                <a:cs typeface="Arial" panose="020B0604020202020204" pitchFamily="34" charset="0"/>
              </a:rPr>
              <a:t>Example: </a:t>
            </a:r>
            <a:r>
              <a:rPr lang="en-IN" sz="2400" kern="0" dirty="0">
                <a:solidFill>
                  <a:srgbClr val="000000"/>
                </a:solidFill>
                <a:effectLst/>
                <a:latin typeface="Cambria" panose="02040503050406030204" pitchFamily="18" charset="0"/>
                <a:ea typeface="Cambria" panose="02040503050406030204" pitchFamily="18" charset="0"/>
                <a:cs typeface="Arial" panose="020B0604020202020204" pitchFamily="34" charset="0"/>
              </a:rPr>
              <a:t>A B C * +</a:t>
            </a:r>
            <a:endParaRPr lang="en-IN" sz="1600" kern="100" dirty="0">
              <a:latin typeface="Cambria" panose="02040503050406030204" pitchFamily="18" charset="0"/>
              <a:ea typeface="Cambria" panose="02040503050406030204" pitchFamily="18" charset="0"/>
              <a:cs typeface="Gautami" panose="020B0502040204020203" pitchFamily="34" charset="0"/>
            </a:endParaRPr>
          </a:p>
          <a:p>
            <a:pPr marL="360363" lvl="0" indent="-273050">
              <a:buFont typeface="Wingdings" panose="05000000000000000000" pitchFamily="2" charset="2"/>
              <a:buChar char="§"/>
            </a:pPr>
            <a:r>
              <a:rPr lang="en-IN" sz="2000" dirty="0">
                <a:latin typeface="Cambria" panose="02040503050406030204" pitchFamily="18" charset="0"/>
                <a:ea typeface="Cambria" panose="02040503050406030204" pitchFamily="18" charset="0"/>
              </a:rPr>
              <a:t>Push ‘A’, ‘B’, and ‘C’ onto the stack.</a:t>
            </a:r>
          </a:p>
          <a:p>
            <a:pPr marL="360363" lvl="0" indent="-273050">
              <a:buFont typeface="Wingdings" panose="05000000000000000000" pitchFamily="2" charset="2"/>
              <a:buChar char="§"/>
            </a:pPr>
            <a:r>
              <a:rPr lang="en-IN" sz="2000" dirty="0">
                <a:latin typeface="Cambria" panose="02040503050406030204" pitchFamily="18" charset="0"/>
                <a:ea typeface="Cambria" panose="02040503050406030204" pitchFamily="18" charset="0"/>
              </a:rPr>
              <a:t>Pop ‘B’ and ‘C’, create a node with *, and push it back onto the stack.</a:t>
            </a:r>
          </a:p>
          <a:p>
            <a:pPr marL="360363" lvl="0" indent="-273050">
              <a:buFont typeface="Wingdings" panose="05000000000000000000" pitchFamily="2" charset="2"/>
              <a:buChar char="§"/>
            </a:pPr>
            <a:r>
              <a:rPr lang="en-IN" sz="2000" dirty="0">
                <a:latin typeface="Cambria" panose="02040503050406030204" pitchFamily="18" charset="0"/>
                <a:ea typeface="Cambria" panose="02040503050406030204" pitchFamily="18" charset="0"/>
              </a:rPr>
              <a:t>Pop ‘A’ and the * node, create a node with + and push it back onto the stack.</a:t>
            </a:r>
          </a:p>
          <a:p>
            <a:pPr marL="360363" lvl="0" indent="-273050">
              <a:buFont typeface="Wingdings" panose="05000000000000000000" pitchFamily="2" charset="2"/>
              <a:buChar char="§"/>
            </a:pPr>
            <a:r>
              <a:rPr lang="en-IN" sz="2000" dirty="0">
                <a:latin typeface="Cambria" panose="02040503050406030204" pitchFamily="18" charset="0"/>
                <a:ea typeface="Cambria" panose="02040503050406030204" pitchFamily="18" charset="0"/>
              </a:rPr>
              <a:t>The final stack contains the root of the tree.</a:t>
            </a:r>
          </a:p>
        </p:txBody>
      </p:sp>
      <p:sp>
        <p:nvSpPr>
          <p:cNvPr id="8" name="TextBox 7">
            <a:extLst>
              <a:ext uri="{FF2B5EF4-FFF2-40B4-BE49-F238E27FC236}">
                <a16:creationId xmlns:a16="http://schemas.microsoft.com/office/drawing/2014/main" id="{9655EC3F-F115-088A-F8F0-16AA7A8FBBCE}"/>
              </a:ext>
            </a:extLst>
          </p:cNvPr>
          <p:cNvSpPr txBox="1"/>
          <p:nvPr/>
        </p:nvSpPr>
        <p:spPr>
          <a:xfrm>
            <a:off x="8751429" y="3887675"/>
            <a:ext cx="2231098" cy="2246769"/>
          </a:xfrm>
          <a:prstGeom prst="rect">
            <a:avLst/>
          </a:prstGeom>
          <a:noFill/>
        </p:spPr>
        <p:txBody>
          <a:bodyPr wrap="square">
            <a:spAutoFit/>
          </a:bodyPr>
          <a:lstStyle/>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a:t>
            </a:r>
          </a:p>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2800" b="1" kern="0" dirty="0">
                <a:solidFill>
                  <a:srgbClr val="000000"/>
                </a:solidFill>
                <a:highlight>
                  <a:srgbClr val="C0C0C0"/>
                </a:highlight>
                <a:latin typeface="Cambria" panose="02040503050406030204" pitchFamily="18" charset="0"/>
                <a:ea typeface="Cambria" panose="02040503050406030204" pitchFamily="18" charset="0"/>
                <a:cs typeface="Arial" panose="020B0604020202020204" pitchFamily="34" charset="0"/>
              </a:rPr>
              <a:t>A</a:t>
            </a: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   \</a:t>
            </a:r>
            <a:endParaRPr lang="en-IN" sz="28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a:p>
            <a:pPr algn="ctr">
              <a:spcAft>
                <a:spcPts val="0"/>
              </a:spcAft>
              <a:buNone/>
            </a:pPr>
            <a:r>
              <a:rPr lang="en-IN" sz="2800" b="1" kern="0" dirty="0">
                <a:solidFill>
                  <a:srgbClr val="000000"/>
                </a:solidFill>
                <a:effectLst/>
                <a:highlight>
                  <a:srgbClr val="C0C0C0"/>
                </a:highlight>
                <a:latin typeface="Cambria" panose="02040503050406030204" pitchFamily="18" charset="0"/>
                <a:ea typeface="Cambria" panose="02040503050406030204" pitchFamily="18" charset="0"/>
                <a:cs typeface="Arial" panose="020B0604020202020204" pitchFamily="34" charset="0"/>
              </a:rPr>
              <a:t>          B      </a:t>
            </a:r>
            <a:r>
              <a:rPr lang="en-IN" sz="2800" b="1" kern="0" dirty="0">
                <a:solidFill>
                  <a:srgbClr val="000000"/>
                </a:solidFill>
                <a:highlight>
                  <a:srgbClr val="C0C0C0"/>
                </a:highlight>
                <a:latin typeface="Cambria" panose="02040503050406030204" pitchFamily="18" charset="0"/>
                <a:ea typeface="Cambria" panose="02040503050406030204" pitchFamily="18" charset="0"/>
                <a:cs typeface="Arial" panose="020B0604020202020204" pitchFamily="34" charset="0"/>
              </a:rPr>
              <a:t>C</a:t>
            </a:r>
            <a:endParaRPr lang="en-IN" sz="2400" b="1" kern="100" dirty="0">
              <a:effectLst/>
              <a:highlight>
                <a:srgbClr val="C0C0C0"/>
              </a:highlight>
              <a:latin typeface="Cambria" panose="02040503050406030204" pitchFamily="18" charset="0"/>
              <a:ea typeface="Cambria" panose="02040503050406030204" pitchFamily="18" charset="0"/>
              <a:cs typeface="Gautami" panose="020B0502040204020203" pitchFamily="34" charset="0"/>
            </a:endParaRPr>
          </a:p>
        </p:txBody>
      </p:sp>
    </p:spTree>
    <p:extLst>
      <p:ext uri="{BB962C8B-B14F-4D97-AF65-F5344CB8AC3E}">
        <p14:creationId xmlns:p14="http://schemas.microsoft.com/office/powerpoint/2010/main" val="4094339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2B7A-2821-82C4-F863-6865F663FB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8C62C1-3F15-9783-E0F0-484D1F35A9F0}"/>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5" name="TextBox 4">
            <a:extLst>
              <a:ext uri="{FF2B5EF4-FFF2-40B4-BE49-F238E27FC236}">
                <a16:creationId xmlns:a16="http://schemas.microsoft.com/office/drawing/2014/main" id="{FFF74D08-B07D-2E6D-C8D3-3DE49A3A2126}"/>
              </a:ext>
            </a:extLst>
          </p:cNvPr>
          <p:cNvSpPr txBox="1"/>
          <p:nvPr/>
        </p:nvSpPr>
        <p:spPr>
          <a:xfrm>
            <a:off x="3550595" y="303272"/>
            <a:ext cx="4163441" cy="584775"/>
          </a:xfrm>
          <a:prstGeom prst="rect">
            <a:avLst/>
          </a:prstGeom>
          <a:noFill/>
        </p:spPr>
        <p:txBody>
          <a:bodyPr wrap="square">
            <a:spAutoFit/>
          </a:bodyPr>
          <a:lstStyle/>
          <a:p>
            <a:pPr marL="6350">
              <a:spcBef>
                <a:spcPts val="100"/>
              </a:spcBef>
            </a:pPr>
            <a:r>
              <a:rPr lang="en-US" sz="2800" b="1" dirty="0">
                <a:highlight>
                  <a:srgbClr val="FFFF00"/>
                </a:highlight>
                <a:latin typeface="Times New Roman"/>
                <a:cs typeface="Times New Roman"/>
              </a:rPr>
              <a:t>3</a:t>
            </a:r>
            <a:r>
              <a:rPr lang="en-US" sz="3200" b="1" dirty="0">
                <a:highlight>
                  <a:srgbClr val="FFFF00"/>
                </a:highlight>
                <a:latin typeface="Times New Roman"/>
                <a:cs typeface="Times New Roman"/>
              </a:rPr>
              <a:t>. </a:t>
            </a:r>
            <a:r>
              <a:rPr lang="en-US" sz="2800" b="1" dirty="0">
                <a:highlight>
                  <a:srgbClr val="FFFF00"/>
                </a:highlight>
                <a:latin typeface="Times New Roman"/>
                <a:cs typeface="Times New Roman"/>
              </a:rPr>
              <a:t>a)</a:t>
            </a:r>
            <a:r>
              <a:rPr lang="en-IN" sz="2800" b="1" kern="0" dirty="0">
                <a:solidFill>
                  <a:srgbClr val="000000"/>
                </a:solidFill>
                <a:highlight>
                  <a:srgbClr val="FFFF00"/>
                </a:highlight>
                <a:latin typeface="Cambria" panose="02040503050406030204" pitchFamily="18" charset="0"/>
                <a:ea typeface="Cambria" panose="02040503050406030204" pitchFamily="18" charset="0"/>
                <a:cs typeface="Arial" panose="020B0604020202020204" pitchFamily="34" charset="0"/>
              </a:rPr>
              <a:t> Binary Search Tree</a:t>
            </a:r>
            <a:r>
              <a:rPr lang="en-US" sz="2800" b="1" dirty="0">
                <a:highlight>
                  <a:srgbClr val="FFFF00"/>
                </a:highlight>
                <a:latin typeface="Times New Roman"/>
                <a:cs typeface="Times New Roman"/>
              </a:rPr>
              <a:t> </a:t>
            </a:r>
            <a:endParaRPr lang="en-US" sz="1000" dirty="0">
              <a:highlight>
                <a:srgbClr val="FFFF00"/>
              </a:highlight>
              <a:latin typeface="Times New Roman"/>
              <a:cs typeface="Times New Roman"/>
            </a:endParaRPr>
          </a:p>
        </p:txBody>
      </p:sp>
      <p:sp>
        <p:nvSpPr>
          <p:cNvPr id="7" name="TextBox 6">
            <a:extLst>
              <a:ext uri="{FF2B5EF4-FFF2-40B4-BE49-F238E27FC236}">
                <a16:creationId xmlns:a16="http://schemas.microsoft.com/office/drawing/2014/main" id="{ABDA48F8-DCC1-6D5F-F79F-E2C3FA76B4C2}"/>
              </a:ext>
            </a:extLst>
          </p:cNvPr>
          <p:cNvSpPr txBox="1"/>
          <p:nvPr/>
        </p:nvSpPr>
        <p:spPr>
          <a:xfrm>
            <a:off x="408560" y="1150097"/>
            <a:ext cx="7305476" cy="5001369"/>
          </a:xfrm>
          <a:prstGeom prst="rect">
            <a:avLst/>
          </a:prstGeom>
          <a:noFill/>
        </p:spPr>
        <p:txBody>
          <a:bodyPr wrap="square">
            <a:spAutoFit/>
          </a:bodyPr>
          <a:lstStyle/>
          <a:p>
            <a:pPr marR="248285" algn="just">
              <a:spcBef>
                <a:spcPts val="595"/>
              </a:spcBef>
              <a:buNone/>
            </a:pPr>
            <a:r>
              <a:rPr lang="en-US" sz="2400" b="1" dirty="0">
                <a:effectLst/>
                <a:latin typeface="Cambria" panose="02040503050406030204" pitchFamily="18" charset="0"/>
                <a:ea typeface="Cambria" panose="02040503050406030204" pitchFamily="18" charset="0"/>
              </a:rPr>
              <a:t>What is Binary Search Tree? </a:t>
            </a:r>
          </a:p>
          <a:p>
            <a:pPr marL="342900" marR="248285" indent="-342900" algn="just">
              <a:spcBef>
                <a:spcPts val="595"/>
              </a:spcBef>
              <a:buFont typeface="Wingdings" panose="05000000000000000000" pitchFamily="2" charset="2"/>
              <a:buChar char="v"/>
            </a:pPr>
            <a:r>
              <a:rPr lang="en-US" sz="2000" dirty="0">
                <a:effectLst/>
                <a:latin typeface="Cambria" panose="02040503050406030204" pitchFamily="18" charset="0"/>
                <a:ea typeface="Cambria" panose="02040503050406030204" pitchFamily="18" charset="0"/>
              </a:rPr>
              <a:t>Binary search tree is a rooted binary tree data structure in</a:t>
            </a:r>
            <a:r>
              <a:rPr lang="en-US" sz="2000" spc="-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which every</a:t>
            </a:r>
            <a:r>
              <a:rPr lang="en-US" sz="2000" spc="-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node</a:t>
            </a:r>
            <a:r>
              <a:rPr lang="en-US" sz="2000" spc="-1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contains</a:t>
            </a:r>
            <a:r>
              <a:rPr lang="en-US" sz="2000" spc="-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only </a:t>
            </a:r>
            <a:r>
              <a:rPr lang="en-US" sz="2000" b="1" dirty="0">
                <a:effectLst/>
                <a:latin typeface="Cambria" panose="02040503050406030204" pitchFamily="18" charset="0"/>
                <a:ea typeface="Cambria" panose="02040503050406030204" pitchFamily="18" charset="0"/>
              </a:rPr>
              <a:t>smaller</a:t>
            </a:r>
            <a:r>
              <a:rPr lang="en-US" sz="2000" b="1" spc="-15" dirty="0">
                <a:effectLst/>
                <a:latin typeface="Cambria" panose="02040503050406030204" pitchFamily="18" charset="0"/>
                <a:ea typeface="Cambria" panose="02040503050406030204" pitchFamily="18" charset="0"/>
              </a:rPr>
              <a:t> </a:t>
            </a:r>
            <a:r>
              <a:rPr lang="en-US" sz="2000" b="1" dirty="0">
                <a:effectLst/>
                <a:latin typeface="Cambria" panose="02040503050406030204" pitchFamily="18" charset="0"/>
                <a:ea typeface="Cambria" panose="02040503050406030204" pitchFamily="18" charset="0"/>
              </a:rPr>
              <a:t>values in</a:t>
            </a:r>
            <a:r>
              <a:rPr lang="en-US" sz="2000" b="1" spc="-5" dirty="0">
                <a:effectLst/>
                <a:latin typeface="Cambria" panose="02040503050406030204" pitchFamily="18" charset="0"/>
                <a:ea typeface="Cambria" panose="02040503050406030204" pitchFamily="18" charset="0"/>
              </a:rPr>
              <a:t> </a:t>
            </a:r>
            <a:r>
              <a:rPr lang="en-US" sz="2000" b="1" dirty="0">
                <a:effectLst/>
                <a:latin typeface="Cambria" panose="02040503050406030204" pitchFamily="18" charset="0"/>
                <a:ea typeface="Cambria" panose="02040503050406030204" pitchFamily="18" charset="0"/>
              </a:rPr>
              <a:t>its left</a:t>
            </a:r>
            <a:r>
              <a:rPr lang="en-US" sz="2000" b="1" spc="-5" dirty="0">
                <a:effectLst/>
                <a:latin typeface="Cambria" panose="02040503050406030204" pitchFamily="18" charset="0"/>
                <a:ea typeface="Cambria" panose="02040503050406030204" pitchFamily="18" charset="0"/>
              </a:rPr>
              <a:t> </a:t>
            </a:r>
            <a:r>
              <a:rPr lang="en-US" sz="2000" b="1" dirty="0">
                <a:effectLst/>
                <a:latin typeface="Cambria" panose="02040503050406030204" pitchFamily="18" charset="0"/>
                <a:ea typeface="Cambria" panose="02040503050406030204" pitchFamily="18" charset="0"/>
              </a:rPr>
              <a:t>sub-tree </a:t>
            </a:r>
            <a:r>
              <a:rPr lang="en-US" sz="2000" dirty="0">
                <a:effectLst/>
                <a:latin typeface="Cambria" panose="02040503050406030204" pitchFamily="18" charset="0"/>
                <a:ea typeface="Cambria" panose="02040503050406030204" pitchFamily="18" charset="0"/>
              </a:rPr>
              <a:t>and only</a:t>
            </a:r>
            <a:r>
              <a:rPr lang="en-US" sz="2000" spc="-5" dirty="0">
                <a:effectLst/>
                <a:latin typeface="Cambria" panose="02040503050406030204" pitchFamily="18" charset="0"/>
                <a:ea typeface="Cambria" panose="02040503050406030204" pitchFamily="18" charset="0"/>
              </a:rPr>
              <a:t> </a:t>
            </a:r>
            <a:r>
              <a:rPr lang="en-US" sz="2000" b="1" dirty="0">
                <a:effectLst/>
                <a:latin typeface="Cambria" panose="02040503050406030204" pitchFamily="18" charset="0"/>
                <a:ea typeface="Cambria" panose="02040503050406030204" pitchFamily="18" charset="0"/>
              </a:rPr>
              <a:t>larger values in its right sub-tree</a:t>
            </a:r>
            <a:r>
              <a:rPr lang="en-US" sz="2000" dirty="0">
                <a:effectLst/>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BSTs are primarily used for efficient searching, insertion, and deletion of elements. For </a:t>
            </a:r>
            <a:r>
              <a:rPr lang="en-US" sz="2000" dirty="0"/>
              <a:t>Examples, searching for a specific name in a phone book or finding a word in a dictionary. </a:t>
            </a:r>
            <a:endParaRPr lang="en-IN" sz="2000" dirty="0">
              <a:effectLst/>
              <a:latin typeface="Cambria" panose="02040503050406030204" pitchFamily="18" charset="0"/>
              <a:ea typeface="Cambria" panose="02040503050406030204" pitchFamily="18" charset="0"/>
            </a:endParaRPr>
          </a:p>
          <a:p>
            <a:pPr marL="342900" marR="248285" indent="-342900" algn="just">
              <a:spcBef>
                <a:spcPts val="595"/>
              </a:spcBef>
              <a:buFont typeface="Wingdings" panose="05000000000000000000" pitchFamily="2" charset="2"/>
              <a:buChar char="v"/>
            </a:pPr>
            <a:r>
              <a:rPr lang="en-US" sz="2000" dirty="0">
                <a:effectLst/>
                <a:latin typeface="Cambria" panose="02040503050406030204" pitchFamily="18" charset="0"/>
                <a:ea typeface="Cambria" panose="02040503050406030204" pitchFamily="18" charset="0"/>
              </a:rPr>
              <a:t>The binary search tree is an advanced algorithm used</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for analyzing the node, its left and right branches, which are modeled in a tree structure and it enables faster lookups, insertions, and deletions of nodes. This makes the program really fast and accurate. </a:t>
            </a:r>
            <a:endParaRPr lang="en-IN" sz="2000" dirty="0">
              <a:effectLst/>
              <a:latin typeface="Cambria" panose="02040503050406030204" pitchFamily="18" charset="0"/>
              <a:ea typeface="Cambria" panose="02040503050406030204" pitchFamily="18" charset="0"/>
            </a:endParaRPr>
          </a:p>
          <a:p>
            <a:pPr marL="342900" marR="248285" indent="-342900" algn="just">
              <a:spcBef>
                <a:spcPts val="595"/>
              </a:spcBef>
              <a:buFont typeface="Wingdings" panose="05000000000000000000" pitchFamily="2" charset="2"/>
              <a:buChar char="v"/>
            </a:pPr>
            <a:r>
              <a:rPr lang="en-US" sz="2000" dirty="0">
                <a:effectLst/>
                <a:latin typeface="Cambria" panose="02040503050406030204" pitchFamily="18" charset="0"/>
                <a:ea typeface="Cambria" panose="02040503050406030204" pitchFamily="18" charset="0"/>
              </a:rPr>
              <a:t>Binary Search Tree (BST) is commonly utilized to implement complex searches, robust game logics, auto- complete activities, and graphics. </a:t>
            </a:r>
          </a:p>
        </p:txBody>
      </p:sp>
      <p:pic>
        <p:nvPicPr>
          <p:cNvPr id="8" name="Image 8">
            <a:extLst>
              <a:ext uri="{FF2B5EF4-FFF2-40B4-BE49-F238E27FC236}">
                <a16:creationId xmlns:a16="http://schemas.microsoft.com/office/drawing/2014/main" id="{DF2D0799-F6D6-AA6D-8F63-29F034400273}"/>
              </a:ext>
            </a:extLst>
          </p:cNvPr>
          <p:cNvPicPr>
            <a:picLocks/>
          </p:cNvPicPr>
          <p:nvPr/>
        </p:nvPicPr>
        <p:blipFill>
          <a:blip r:embed="rId2" cstate="print"/>
          <a:stretch>
            <a:fillRect/>
          </a:stretch>
        </p:blipFill>
        <p:spPr>
          <a:xfrm>
            <a:off x="7607030" y="1453433"/>
            <a:ext cx="3871610" cy="3867597"/>
          </a:xfrm>
          <a:prstGeom prst="rect">
            <a:avLst/>
          </a:prstGeom>
        </p:spPr>
      </p:pic>
      <p:sp>
        <p:nvSpPr>
          <p:cNvPr id="10" name="TextBox 9">
            <a:extLst>
              <a:ext uri="{FF2B5EF4-FFF2-40B4-BE49-F238E27FC236}">
                <a16:creationId xmlns:a16="http://schemas.microsoft.com/office/drawing/2014/main" id="{AA68BE3B-11FF-8D9C-037A-93BC9F4CE4E9}"/>
              </a:ext>
            </a:extLst>
          </p:cNvPr>
          <p:cNvSpPr txBox="1"/>
          <p:nvPr/>
        </p:nvSpPr>
        <p:spPr>
          <a:xfrm>
            <a:off x="510700" y="6151466"/>
            <a:ext cx="8672209" cy="430887"/>
          </a:xfrm>
          <a:prstGeom prst="rect">
            <a:avLst/>
          </a:prstGeom>
          <a:noFill/>
        </p:spPr>
        <p:txBody>
          <a:bodyPr wrap="square">
            <a:spAutoFit/>
          </a:bodyPr>
          <a:lstStyle/>
          <a:p>
            <a:pPr>
              <a:buNone/>
            </a:pPr>
            <a:r>
              <a:rPr lang="en-IN" sz="2200" b="1" dirty="0">
                <a:effectLst/>
                <a:latin typeface="Calibri Light" panose="020F0302020204030204" pitchFamily="34" charset="0"/>
                <a:ea typeface="Times New Roman" panose="02020603050405020304" pitchFamily="18" charset="0"/>
                <a:cs typeface="Times New Roman" panose="02020603050405020304" pitchFamily="18" charset="0"/>
              </a:rPr>
              <a:t>Note: We are considering that BSTs cannot contain duplicate Nodes.</a:t>
            </a:r>
            <a:endParaRPr lang="en-IN" sz="2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35254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BCE1F-C224-FAE1-B145-EEA9D402F47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9181CD9-AA90-88B4-90E0-68FE8C1D86FA}"/>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8" name="TextBox 7">
            <a:extLst>
              <a:ext uri="{FF2B5EF4-FFF2-40B4-BE49-F238E27FC236}">
                <a16:creationId xmlns:a16="http://schemas.microsoft.com/office/drawing/2014/main" id="{CBF00F93-9990-D09B-7BD3-FD78E01B585F}"/>
              </a:ext>
            </a:extLst>
          </p:cNvPr>
          <p:cNvSpPr txBox="1"/>
          <p:nvPr/>
        </p:nvSpPr>
        <p:spPr>
          <a:xfrm>
            <a:off x="729574" y="953709"/>
            <a:ext cx="10549647" cy="830997"/>
          </a:xfrm>
          <a:prstGeom prst="rect">
            <a:avLst/>
          </a:prstGeom>
          <a:noFill/>
        </p:spPr>
        <p:txBody>
          <a:bodyPr wrap="square">
            <a:spAutoFit/>
          </a:bodyPr>
          <a:lstStyle/>
          <a:p>
            <a:pPr marR="248285" algn="just">
              <a:spcBef>
                <a:spcPts val="595"/>
              </a:spcBef>
              <a:buNone/>
            </a:pPr>
            <a:r>
              <a:rPr lang="en-US" sz="2400" b="1" dirty="0">
                <a:effectLst/>
                <a:latin typeface="Cambria" panose="02040503050406030204" pitchFamily="18" charset="0"/>
                <a:ea typeface="Times New Roman" panose="02020603050405020304" pitchFamily="18" charset="0"/>
              </a:rPr>
              <a:t>For example</a:t>
            </a:r>
            <a:r>
              <a:rPr lang="en-US" sz="2400" dirty="0">
                <a:effectLst/>
                <a:latin typeface="Cambria" panose="02040503050406030204" pitchFamily="18" charset="0"/>
                <a:ea typeface="Times New Roman" panose="02020603050405020304" pitchFamily="18" charset="0"/>
              </a:rPr>
              <a:t>, In the below tree, left sub-tree of every node contains nodes with smaller values and right sub-tree of every node contains larger values.</a:t>
            </a:r>
            <a:endParaRPr lang="en-IN" sz="2400" dirty="0">
              <a:effectLst/>
              <a:latin typeface="Times New Roman" panose="02020603050405020304" pitchFamily="18" charset="0"/>
              <a:ea typeface="Times New Roman" panose="02020603050405020304" pitchFamily="18" charset="0"/>
            </a:endParaRPr>
          </a:p>
        </p:txBody>
      </p:sp>
      <p:pic>
        <p:nvPicPr>
          <p:cNvPr id="9" name="Image 9" descr="Binary Search Tree | Example | Construction | Gate Vidyalay">
            <a:extLst>
              <a:ext uri="{FF2B5EF4-FFF2-40B4-BE49-F238E27FC236}">
                <a16:creationId xmlns:a16="http://schemas.microsoft.com/office/drawing/2014/main" id="{749E6B2A-3C69-B0A7-A54A-75380B74D17B}"/>
              </a:ext>
            </a:extLst>
          </p:cNvPr>
          <p:cNvPicPr>
            <a:picLocks/>
          </p:cNvPicPr>
          <p:nvPr/>
        </p:nvPicPr>
        <p:blipFill>
          <a:blip r:embed="rId2" cstate="print"/>
          <a:stretch>
            <a:fillRect/>
          </a:stretch>
        </p:blipFill>
        <p:spPr>
          <a:xfrm>
            <a:off x="972766" y="1963203"/>
            <a:ext cx="9134272" cy="4385808"/>
          </a:xfrm>
          <a:prstGeom prst="rect">
            <a:avLst/>
          </a:prstGeom>
        </p:spPr>
      </p:pic>
    </p:spTree>
    <p:extLst>
      <p:ext uri="{BB962C8B-B14F-4D97-AF65-F5344CB8AC3E}">
        <p14:creationId xmlns:p14="http://schemas.microsoft.com/office/powerpoint/2010/main" val="4141518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9310E-6E57-DC2A-16A5-D76C07E59E6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D7FEB3-5D7A-0CAB-EA36-73298F5701C5}"/>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6" name="TextBox 5">
            <a:extLst>
              <a:ext uri="{FF2B5EF4-FFF2-40B4-BE49-F238E27FC236}">
                <a16:creationId xmlns:a16="http://schemas.microsoft.com/office/drawing/2014/main" id="{4CA16EFF-26BF-6A2A-4428-14BB87BE4A2C}"/>
              </a:ext>
            </a:extLst>
          </p:cNvPr>
          <p:cNvSpPr txBox="1"/>
          <p:nvPr/>
        </p:nvSpPr>
        <p:spPr>
          <a:xfrm>
            <a:off x="1726660" y="387193"/>
            <a:ext cx="6892047" cy="369332"/>
          </a:xfrm>
          <a:prstGeom prst="rect">
            <a:avLst/>
          </a:prstGeom>
          <a:noFill/>
        </p:spPr>
        <p:txBody>
          <a:bodyPr wrap="square">
            <a:spAutoFit/>
          </a:bodyPr>
          <a:lstStyle/>
          <a:p>
            <a:pPr>
              <a:buNone/>
            </a:pPr>
            <a:r>
              <a:rPr lang="en-IN" sz="1800" b="1" dirty="0">
                <a:effectLst/>
                <a:latin typeface="Cambria" panose="02040503050406030204" pitchFamily="18" charset="0"/>
                <a:ea typeface="Times New Roman" panose="02020603050405020304" pitchFamily="18" charset="0"/>
              </a:rPr>
              <a:t>Given the root of a binary tree. Check whether it is a BST or not.</a:t>
            </a:r>
            <a:endParaRPr lang="en-IN" sz="1800" dirty="0">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8C26EB20-0603-5901-7000-87BE4872C070}"/>
              </a:ext>
            </a:extLst>
          </p:cNvPr>
          <p:cNvSpPr txBox="1"/>
          <p:nvPr/>
        </p:nvSpPr>
        <p:spPr>
          <a:xfrm>
            <a:off x="749039" y="866037"/>
            <a:ext cx="5963054" cy="369332"/>
          </a:xfrm>
          <a:prstGeom prst="rect">
            <a:avLst/>
          </a:prstGeom>
          <a:noFill/>
        </p:spPr>
        <p:txBody>
          <a:bodyPr wrap="square">
            <a:spAutoFit/>
          </a:bodyPr>
          <a:lstStyle/>
          <a:p>
            <a:pPr>
              <a:buNone/>
            </a:pPr>
            <a:r>
              <a:rPr lang="en-IN" sz="1800" b="1" dirty="0">
                <a:effectLst/>
                <a:latin typeface="Cambria" panose="02040503050406030204" pitchFamily="18" charset="0"/>
                <a:ea typeface="Times New Roman" panose="02020603050405020304" pitchFamily="18" charset="0"/>
              </a:rPr>
              <a:t>Example1: Input:</a:t>
            </a:r>
            <a:r>
              <a:rPr lang="en-IN" sz="1800" dirty="0">
                <a:effectLst/>
                <a:latin typeface="Cambria" panose="02040503050406030204" pitchFamily="18" charset="0"/>
                <a:ea typeface="Times New Roman" panose="02020603050405020304" pitchFamily="18" charset="0"/>
              </a:rPr>
              <a:t> root = [2, 1, 3, N, N, N, 5]</a:t>
            </a:r>
            <a:endParaRPr lang="en-IN" sz="1800" dirty="0">
              <a:effectLst/>
              <a:latin typeface="Times New Roman" panose="02020603050405020304" pitchFamily="18" charset="0"/>
              <a:ea typeface="Times New Roman" panose="02020603050405020304" pitchFamily="18" charset="0"/>
            </a:endParaRPr>
          </a:p>
        </p:txBody>
      </p:sp>
      <p:pic>
        <p:nvPicPr>
          <p:cNvPr id="9" name="Picture 8">
            <a:extLst>
              <a:ext uri="{FF2B5EF4-FFF2-40B4-BE49-F238E27FC236}">
                <a16:creationId xmlns:a16="http://schemas.microsoft.com/office/drawing/2014/main" id="{4A766CD7-C179-6BC3-B996-D5C8E08534A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4242" y="1296008"/>
            <a:ext cx="3339021" cy="1364208"/>
          </a:xfrm>
          <a:prstGeom prst="rect">
            <a:avLst/>
          </a:prstGeom>
          <a:noFill/>
          <a:ln>
            <a:noFill/>
          </a:ln>
        </p:spPr>
      </p:pic>
      <p:sp>
        <p:nvSpPr>
          <p:cNvPr id="12" name="TextBox 11">
            <a:extLst>
              <a:ext uri="{FF2B5EF4-FFF2-40B4-BE49-F238E27FC236}">
                <a16:creationId xmlns:a16="http://schemas.microsoft.com/office/drawing/2014/main" id="{D366EB4D-183F-EF39-E5B7-413877266F63}"/>
              </a:ext>
            </a:extLst>
          </p:cNvPr>
          <p:cNvSpPr txBox="1"/>
          <p:nvPr/>
        </p:nvSpPr>
        <p:spPr>
          <a:xfrm>
            <a:off x="3900789" y="1332719"/>
            <a:ext cx="7446524" cy="1031051"/>
          </a:xfrm>
          <a:prstGeom prst="rect">
            <a:avLst/>
          </a:prstGeom>
          <a:noFill/>
        </p:spPr>
        <p:txBody>
          <a:bodyPr wrap="square">
            <a:spAutoFit/>
          </a:bodyPr>
          <a:lstStyle/>
          <a:p>
            <a:pPr>
              <a:buNone/>
            </a:pPr>
            <a:r>
              <a:rPr lang="en-IN" sz="1800" b="1" dirty="0">
                <a:effectLst/>
                <a:latin typeface="Cambria" panose="02040503050406030204" pitchFamily="18" charset="0"/>
                <a:ea typeface="Times New Roman" panose="02020603050405020304" pitchFamily="18" charset="0"/>
              </a:rPr>
              <a:t>Output: </a:t>
            </a:r>
            <a:r>
              <a:rPr lang="en-IN" sz="1800" dirty="0">
                <a:effectLst/>
                <a:latin typeface="Cambria" panose="02040503050406030204" pitchFamily="18" charset="0"/>
                <a:ea typeface="Times New Roman" panose="02020603050405020304" pitchFamily="18" charset="0"/>
              </a:rPr>
              <a:t>true</a:t>
            </a:r>
            <a:endParaRPr lang="en-IN" sz="1800" dirty="0">
              <a:effectLst/>
              <a:latin typeface="Times New Roman" panose="02020603050405020304" pitchFamily="18" charset="0"/>
              <a:ea typeface="Times New Roman" panose="02020603050405020304" pitchFamily="18" charset="0"/>
            </a:endParaRPr>
          </a:p>
          <a:p>
            <a:pPr>
              <a:buNone/>
            </a:pPr>
            <a:r>
              <a:rPr lang="en-IN" sz="700" b="1" dirty="0">
                <a:effectLst/>
                <a:latin typeface="Cambria" panose="020405030504060302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buNone/>
            </a:pPr>
            <a:r>
              <a:rPr lang="en-IN" sz="1800" b="1" dirty="0">
                <a:effectLst/>
                <a:latin typeface="Cambria" panose="02040503050406030204" pitchFamily="18" charset="0"/>
                <a:ea typeface="Calibri" panose="020F0502020204030204" pitchFamily="34" charset="0"/>
                <a:cs typeface="Gautami" panose="020B0502040204020203" pitchFamily="34" charset="0"/>
              </a:rPr>
              <a:t>Explanation: </a:t>
            </a:r>
            <a:r>
              <a:rPr lang="en-IN" sz="1800" dirty="0">
                <a:effectLst/>
                <a:latin typeface="Cambria" panose="02040503050406030204" pitchFamily="18" charset="0"/>
                <a:ea typeface="Calibri" panose="020F0502020204030204" pitchFamily="34" charset="0"/>
                <a:cs typeface="Gautami" panose="020B0502040204020203" pitchFamily="34" charset="0"/>
              </a:rPr>
              <a:t>The left subtree of every node contains smaller keys and right subtree of every node contains greater keys. Hence, the tree is a BST.</a:t>
            </a:r>
            <a:endParaRPr lang="en-IN" dirty="0"/>
          </a:p>
        </p:txBody>
      </p:sp>
      <p:sp>
        <p:nvSpPr>
          <p:cNvPr id="14" name="TextBox 13">
            <a:extLst>
              <a:ext uri="{FF2B5EF4-FFF2-40B4-BE49-F238E27FC236}">
                <a16:creationId xmlns:a16="http://schemas.microsoft.com/office/drawing/2014/main" id="{5A1FB619-EC61-ED22-2382-77F7F9BB3F9D}"/>
              </a:ext>
            </a:extLst>
          </p:cNvPr>
          <p:cNvSpPr txBox="1"/>
          <p:nvPr/>
        </p:nvSpPr>
        <p:spPr>
          <a:xfrm>
            <a:off x="384242" y="2850278"/>
            <a:ext cx="5963054" cy="369332"/>
          </a:xfrm>
          <a:prstGeom prst="rect">
            <a:avLst/>
          </a:prstGeom>
          <a:noFill/>
        </p:spPr>
        <p:txBody>
          <a:bodyPr wrap="square">
            <a:spAutoFit/>
          </a:bodyPr>
          <a:lstStyle/>
          <a:p>
            <a:pPr>
              <a:buNone/>
            </a:pPr>
            <a:r>
              <a:rPr lang="en-IN" sz="1800" b="1" dirty="0">
                <a:effectLst/>
                <a:latin typeface="Cambria" panose="02040503050406030204" pitchFamily="18" charset="0"/>
                <a:ea typeface="Times New Roman" panose="02020603050405020304" pitchFamily="18" charset="0"/>
              </a:rPr>
              <a:t>Example2: Input: </a:t>
            </a:r>
            <a:r>
              <a:rPr lang="en-IN" sz="1800" dirty="0">
                <a:effectLst/>
                <a:latin typeface="Cambria" panose="02040503050406030204" pitchFamily="18" charset="0"/>
                <a:ea typeface="Times New Roman" panose="02020603050405020304" pitchFamily="18" charset="0"/>
              </a:rPr>
              <a:t>root = [2, N, 7, N, 6, N, 9] </a:t>
            </a:r>
            <a:endParaRPr lang="en-IN" sz="1800" dirty="0">
              <a:effectLst/>
              <a:latin typeface="Times New Roman" panose="02020603050405020304" pitchFamily="18" charset="0"/>
              <a:ea typeface="Times New Roman" panose="02020603050405020304" pitchFamily="18" charset="0"/>
            </a:endParaRPr>
          </a:p>
        </p:txBody>
      </p:sp>
      <p:pic>
        <p:nvPicPr>
          <p:cNvPr id="16" name="Picture 15">
            <a:extLst>
              <a:ext uri="{FF2B5EF4-FFF2-40B4-BE49-F238E27FC236}">
                <a16:creationId xmlns:a16="http://schemas.microsoft.com/office/drawing/2014/main" id="{2010CCBA-4F9A-433D-6A28-5BC17FC9BA3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4242" y="3316960"/>
            <a:ext cx="3339021" cy="1342902"/>
          </a:xfrm>
          <a:prstGeom prst="rect">
            <a:avLst/>
          </a:prstGeom>
          <a:noFill/>
          <a:ln>
            <a:noFill/>
          </a:ln>
        </p:spPr>
      </p:pic>
      <p:sp>
        <p:nvSpPr>
          <p:cNvPr id="18" name="TextBox 17">
            <a:extLst>
              <a:ext uri="{FF2B5EF4-FFF2-40B4-BE49-F238E27FC236}">
                <a16:creationId xmlns:a16="http://schemas.microsoft.com/office/drawing/2014/main" id="{A1C805DC-3783-4542-E555-7E63AB0F7EF6}"/>
              </a:ext>
            </a:extLst>
          </p:cNvPr>
          <p:cNvSpPr txBox="1"/>
          <p:nvPr/>
        </p:nvSpPr>
        <p:spPr>
          <a:xfrm>
            <a:off x="3835127" y="3270310"/>
            <a:ext cx="7334657" cy="1046440"/>
          </a:xfrm>
          <a:prstGeom prst="rect">
            <a:avLst/>
          </a:prstGeom>
          <a:noFill/>
        </p:spPr>
        <p:txBody>
          <a:bodyPr wrap="square">
            <a:spAutoFit/>
          </a:bodyPr>
          <a:lstStyle/>
          <a:p>
            <a:pPr>
              <a:buNone/>
            </a:pPr>
            <a:r>
              <a:rPr lang="en-IN" sz="1800" b="1" dirty="0">
                <a:effectLst/>
                <a:latin typeface="Cambria" panose="02040503050406030204" pitchFamily="18" charset="0"/>
                <a:ea typeface="Times New Roman" panose="02020603050405020304" pitchFamily="18" charset="0"/>
              </a:rPr>
              <a:t>Output: </a:t>
            </a:r>
            <a:r>
              <a:rPr lang="en-IN" sz="1800" dirty="0">
                <a:effectLst/>
                <a:latin typeface="Cambria" panose="02040503050406030204" pitchFamily="18" charset="0"/>
                <a:ea typeface="Times New Roman" panose="02020603050405020304" pitchFamily="18" charset="0"/>
              </a:rPr>
              <a:t>false</a:t>
            </a:r>
            <a:endParaRPr lang="en-IN" sz="1800" dirty="0">
              <a:effectLst/>
              <a:latin typeface="Times New Roman" panose="02020603050405020304" pitchFamily="18" charset="0"/>
              <a:ea typeface="Times New Roman" panose="02020603050405020304" pitchFamily="18" charset="0"/>
            </a:endParaRPr>
          </a:p>
          <a:p>
            <a:pPr>
              <a:buNone/>
            </a:pPr>
            <a:r>
              <a:rPr lang="en-IN" sz="800" b="1" dirty="0">
                <a:effectLst/>
                <a:latin typeface="Cambria" panose="020405030504060302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buNone/>
            </a:pPr>
            <a:r>
              <a:rPr lang="en-IN" sz="1800" b="1" dirty="0">
                <a:effectLst/>
                <a:latin typeface="Cambria" panose="02040503050406030204" pitchFamily="18" charset="0"/>
                <a:ea typeface="Times New Roman" panose="02020603050405020304" pitchFamily="18" charset="0"/>
              </a:rPr>
              <a:t>Explanation: </a:t>
            </a:r>
            <a:r>
              <a:rPr lang="en-IN" sz="1800" dirty="0">
                <a:effectLst/>
                <a:latin typeface="Cambria" panose="02040503050406030204" pitchFamily="18" charset="0"/>
                <a:ea typeface="Times New Roman" panose="02020603050405020304" pitchFamily="18" charset="0"/>
              </a:rPr>
              <a:t>Since the node to the right of node with key 7 has lesser key value, hence it is not a valid BST.</a:t>
            </a:r>
            <a:endParaRPr lang="en-IN" sz="1800" dirty="0">
              <a:effectLst/>
              <a:latin typeface="Times New Roman" panose="02020603050405020304" pitchFamily="18" charset="0"/>
              <a:ea typeface="Times New Roman" panose="02020603050405020304" pitchFamily="18" charset="0"/>
            </a:endParaRPr>
          </a:p>
        </p:txBody>
      </p:sp>
      <p:sp>
        <p:nvSpPr>
          <p:cNvPr id="20" name="TextBox 19">
            <a:extLst>
              <a:ext uri="{FF2B5EF4-FFF2-40B4-BE49-F238E27FC236}">
                <a16:creationId xmlns:a16="http://schemas.microsoft.com/office/drawing/2014/main" id="{C7782AAA-93C8-791C-A66B-24590D2DC72D}"/>
              </a:ext>
            </a:extLst>
          </p:cNvPr>
          <p:cNvSpPr txBox="1"/>
          <p:nvPr/>
        </p:nvSpPr>
        <p:spPr>
          <a:xfrm>
            <a:off x="384242" y="4834519"/>
            <a:ext cx="4888149" cy="369332"/>
          </a:xfrm>
          <a:prstGeom prst="rect">
            <a:avLst/>
          </a:prstGeom>
          <a:noFill/>
        </p:spPr>
        <p:txBody>
          <a:bodyPr wrap="square">
            <a:spAutoFit/>
          </a:bodyPr>
          <a:lstStyle/>
          <a:p>
            <a:pPr>
              <a:buNone/>
            </a:pPr>
            <a:r>
              <a:rPr lang="en-IN" sz="1800" b="1" dirty="0">
                <a:effectLst/>
                <a:latin typeface="Cambria" panose="02040503050406030204" pitchFamily="18" charset="0"/>
                <a:ea typeface="Times New Roman" panose="02020603050405020304" pitchFamily="18" charset="0"/>
              </a:rPr>
              <a:t>Example3: Input: </a:t>
            </a:r>
            <a:r>
              <a:rPr lang="en-IN" sz="1800" dirty="0">
                <a:effectLst/>
                <a:latin typeface="Cambria" panose="02040503050406030204" pitchFamily="18" charset="0"/>
                <a:ea typeface="Times New Roman" panose="02020603050405020304" pitchFamily="18" charset="0"/>
              </a:rPr>
              <a:t>root = [10, 5, 20, N, N, 9, 25]</a:t>
            </a:r>
            <a:endParaRPr lang="en-IN" sz="1800" dirty="0">
              <a:effectLst/>
              <a:latin typeface="Times New Roman" panose="02020603050405020304" pitchFamily="18" charset="0"/>
              <a:ea typeface="Times New Roman" panose="02020603050405020304" pitchFamily="18" charset="0"/>
            </a:endParaRPr>
          </a:p>
        </p:txBody>
      </p:sp>
      <p:pic>
        <p:nvPicPr>
          <p:cNvPr id="21" name="Picture 20">
            <a:extLst>
              <a:ext uri="{FF2B5EF4-FFF2-40B4-BE49-F238E27FC236}">
                <a16:creationId xmlns:a16="http://schemas.microsoft.com/office/drawing/2014/main" id="{C0A7000E-81CB-3963-2390-8B59B51309D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4242" y="5203852"/>
            <a:ext cx="3339021" cy="1461786"/>
          </a:xfrm>
          <a:prstGeom prst="rect">
            <a:avLst/>
          </a:prstGeom>
          <a:noFill/>
          <a:ln>
            <a:noFill/>
          </a:ln>
        </p:spPr>
      </p:pic>
      <p:sp>
        <p:nvSpPr>
          <p:cNvPr id="23" name="TextBox 22">
            <a:extLst>
              <a:ext uri="{FF2B5EF4-FFF2-40B4-BE49-F238E27FC236}">
                <a16:creationId xmlns:a16="http://schemas.microsoft.com/office/drawing/2014/main" id="{E1AEF4E3-8D81-5DAD-5E56-DAAE082BC55E}"/>
              </a:ext>
            </a:extLst>
          </p:cNvPr>
          <p:cNvSpPr txBox="1"/>
          <p:nvPr/>
        </p:nvSpPr>
        <p:spPr>
          <a:xfrm>
            <a:off x="3835127" y="5249866"/>
            <a:ext cx="6989315" cy="1031051"/>
          </a:xfrm>
          <a:prstGeom prst="rect">
            <a:avLst/>
          </a:prstGeom>
          <a:noFill/>
        </p:spPr>
        <p:txBody>
          <a:bodyPr wrap="square">
            <a:spAutoFit/>
          </a:bodyPr>
          <a:lstStyle/>
          <a:p>
            <a:pPr>
              <a:buNone/>
            </a:pPr>
            <a:r>
              <a:rPr lang="en-IN" sz="1800" b="1" dirty="0">
                <a:effectLst/>
                <a:latin typeface="Cambria" panose="02040503050406030204" pitchFamily="18" charset="0"/>
                <a:ea typeface="Times New Roman" panose="02020603050405020304" pitchFamily="18" charset="0"/>
              </a:rPr>
              <a:t>Output: </a:t>
            </a:r>
            <a:r>
              <a:rPr lang="en-IN" sz="1800" dirty="0">
                <a:effectLst/>
                <a:latin typeface="Cambria" panose="02040503050406030204" pitchFamily="18" charset="0"/>
                <a:ea typeface="Times New Roman" panose="02020603050405020304" pitchFamily="18" charset="0"/>
              </a:rPr>
              <a:t>false</a:t>
            </a:r>
            <a:endParaRPr lang="en-IN" sz="1800" dirty="0">
              <a:effectLst/>
              <a:latin typeface="Times New Roman" panose="02020603050405020304" pitchFamily="18" charset="0"/>
              <a:ea typeface="Times New Roman" panose="02020603050405020304" pitchFamily="18" charset="0"/>
            </a:endParaRPr>
          </a:p>
          <a:p>
            <a:pPr>
              <a:buNone/>
            </a:pPr>
            <a:r>
              <a:rPr lang="en-IN" sz="700" b="1" dirty="0">
                <a:effectLst/>
                <a:latin typeface="Cambria" panose="020405030504060302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buNone/>
            </a:pPr>
            <a:r>
              <a:rPr lang="en-IN" sz="1800" b="1" dirty="0">
                <a:effectLst/>
                <a:latin typeface="Cambria" panose="02040503050406030204" pitchFamily="18" charset="0"/>
                <a:ea typeface="Times New Roman" panose="02020603050405020304" pitchFamily="18" charset="0"/>
              </a:rPr>
              <a:t>Explanation: </a:t>
            </a:r>
            <a:r>
              <a:rPr lang="en-IN" sz="1800" dirty="0">
                <a:effectLst/>
                <a:latin typeface="Cambria" panose="02040503050406030204" pitchFamily="18" charset="0"/>
                <a:ea typeface="Times New Roman" panose="02020603050405020304" pitchFamily="18" charset="0"/>
              </a:rPr>
              <a:t>The node with key 9 present in the right subtree has lesser key value than root node.</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89168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17B96-3BFA-F62B-A31F-5616738F9B82}"/>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4E14CDD3-2A32-8F30-893C-3DFC81DEBE9D}"/>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4" name="TextBox 3">
            <a:extLst>
              <a:ext uri="{FF2B5EF4-FFF2-40B4-BE49-F238E27FC236}">
                <a16:creationId xmlns:a16="http://schemas.microsoft.com/office/drawing/2014/main" id="{B3A8A27C-2216-2DB4-43D5-F6450B076344}"/>
              </a:ext>
            </a:extLst>
          </p:cNvPr>
          <p:cNvSpPr txBox="1"/>
          <p:nvPr/>
        </p:nvSpPr>
        <p:spPr>
          <a:xfrm>
            <a:off x="661480" y="934255"/>
            <a:ext cx="10924161" cy="5663089"/>
          </a:xfrm>
          <a:prstGeom prst="rect">
            <a:avLst/>
          </a:prstGeom>
          <a:noFill/>
        </p:spPr>
        <p:txBody>
          <a:bodyPr wrap="square">
            <a:spAutoFit/>
          </a:bodyPr>
          <a:lstStyle/>
          <a:p>
            <a:pPr algn="just">
              <a:buNone/>
            </a:pPr>
            <a:r>
              <a:rPr lang="en-IN" sz="2000" b="1" dirty="0">
                <a:solidFill>
                  <a:srgbClr val="FF0000"/>
                </a:solidFill>
                <a:effectLst/>
                <a:latin typeface="Cambria" panose="02040503050406030204" pitchFamily="18" charset="0"/>
                <a:ea typeface="Times New Roman" panose="02020603050405020304" pitchFamily="18" charset="0"/>
              </a:rPr>
              <a:t>Scenario</a:t>
            </a:r>
            <a:r>
              <a:rPr lang="en-IN" sz="2000" b="1" dirty="0">
                <a:effectLst/>
                <a:latin typeface="Cambria" panose="02040503050406030204" pitchFamily="18" charset="0"/>
                <a:ea typeface="Times New Roman" panose="02020603050405020304" pitchFamily="18" charset="0"/>
              </a:rPr>
              <a:t>: </a:t>
            </a:r>
            <a:r>
              <a:rPr lang="en-IN" sz="2000" b="1" dirty="0">
                <a:solidFill>
                  <a:srgbClr val="7030A0"/>
                </a:solidFill>
                <a:effectLst/>
                <a:latin typeface="Cambria" panose="02040503050406030204" pitchFamily="18" charset="0"/>
                <a:ea typeface="Times New Roman" panose="02020603050405020304" pitchFamily="18" charset="0"/>
              </a:rPr>
              <a:t>Finding the smallest element </a:t>
            </a:r>
            <a:endParaRPr lang="en-IN" sz="2000" dirty="0">
              <a:solidFill>
                <a:srgbClr val="7030A0"/>
              </a:solidFill>
              <a:effectLst/>
              <a:latin typeface="Times New Roman" panose="02020603050405020304" pitchFamily="18" charset="0"/>
              <a:ea typeface="Times New Roman" panose="02020603050405020304" pitchFamily="18" charset="0"/>
            </a:endParaRPr>
          </a:p>
          <a:p>
            <a:pPr algn="just">
              <a:buNone/>
            </a:pPr>
            <a:r>
              <a:rPr lang="en-IN" sz="700" dirty="0">
                <a:effectLst/>
                <a:latin typeface="Cambria" panose="020405030504060302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buNone/>
            </a:pPr>
            <a:r>
              <a:rPr lang="en-IN" sz="2000" b="1" dirty="0">
                <a:effectLst/>
                <a:latin typeface="Cambria" panose="02040503050406030204" pitchFamily="18" charset="0"/>
                <a:ea typeface="Cambria" panose="02040503050406030204" pitchFamily="18" charset="0"/>
              </a:rPr>
              <a:t>Question:</a:t>
            </a:r>
            <a:r>
              <a:rPr lang="en-IN" sz="2000" dirty="0">
                <a:effectLst/>
                <a:latin typeface="Cambria" panose="02040503050406030204" pitchFamily="18" charset="0"/>
                <a:ea typeface="Cambria" panose="02040503050406030204" pitchFamily="18" charset="0"/>
              </a:rPr>
              <a:t> A user needs to quickly find the smallest element in a large dataset. They want to use a data structure that allows for efficient retrieval of the minimum value. Which data structure would be most suitable, and how would you implement it using a BST? </a:t>
            </a:r>
          </a:p>
          <a:p>
            <a:pPr algn="just">
              <a:buNone/>
            </a:pPr>
            <a:endParaRPr lang="en-IN" sz="500" b="1" dirty="0">
              <a:latin typeface="Cambria" panose="02040503050406030204" pitchFamily="18" charset="0"/>
              <a:ea typeface="Cambria" panose="02040503050406030204" pitchFamily="18" charset="0"/>
            </a:endParaRPr>
          </a:p>
          <a:p>
            <a:pPr algn="just">
              <a:buNone/>
            </a:pPr>
            <a:r>
              <a:rPr lang="en-IN" sz="2000" b="1" dirty="0">
                <a:effectLst/>
                <a:latin typeface="Cambria" panose="02040503050406030204" pitchFamily="18" charset="0"/>
                <a:ea typeface="Cambria" panose="02040503050406030204" pitchFamily="18" charset="0"/>
              </a:rPr>
              <a:t>Answer:</a:t>
            </a:r>
            <a:r>
              <a:rPr lang="en-IN" sz="2000" dirty="0">
                <a:effectLst/>
                <a:latin typeface="Cambria" panose="02040503050406030204" pitchFamily="18" charset="0"/>
                <a:ea typeface="Cambria" panose="02040503050406030204" pitchFamily="18" charset="0"/>
              </a:rPr>
              <a:t> A Binary Search Tree (BST) is an excellent choice for this scenario. The smallest element in a BST will always be the leftmost node. To find it, you would start at the root and repeatedly traverse to the left child until you reach a node with no left child. This node will be the smallest element in the BST. </a:t>
            </a:r>
          </a:p>
          <a:p>
            <a:pPr algn="just">
              <a:buNone/>
            </a:pPr>
            <a:r>
              <a:rPr lang="en-IN" sz="1800" b="1" dirty="0">
                <a:effectLst/>
                <a:latin typeface="Cambria" panose="020405030504060302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buNone/>
            </a:pPr>
            <a:r>
              <a:rPr lang="en-IN" sz="2000" b="1" dirty="0">
                <a:solidFill>
                  <a:srgbClr val="FF0000"/>
                </a:solidFill>
                <a:effectLst/>
                <a:latin typeface="Cambria" panose="02040503050406030204" pitchFamily="18" charset="0"/>
                <a:ea typeface="Times New Roman" panose="02020603050405020304" pitchFamily="18" charset="0"/>
              </a:rPr>
              <a:t>Scenario:</a:t>
            </a:r>
            <a:r>
              <a:rPr lang="en-IN" sz="2000" b="1" dirty="0">
                <a:effectLst/>
                <a:latin typeface="Cambria" panose="02040503050406030204" pitchFamily="18" charset="0"/>
                <a:ea typeface="Times New Roman" panose="02020603050405020304" pitchFamily="18" charset="0"/>
              </a:rPr>
              <a:t> </a:t>
            </a:r>
            <a:r>
              <a:rPr lang="en-IN" sz="2000" b="1" dirty="0">
                <a:solidFill>
                  <a:srgbClr val="7030A0"/>
                </a:solidFill>
                <a:effectLst/>
                <a:latin typeface="Cambria" panose="02040503050406030204" pitchFamily="18" charset="0"/>
                <a:ea typeface="Times New Roman" panose="02020603050405020304" pitchFamily="18" charset="0"/>
              </a:rPr>
              <a:t>Implementing a sorted dictionary </a:t>
            </a:r>
            <a:endParaRPr lang="en-IN" sz="2000" dirty="0">
              <a:solidFill>
                <a:srgbClr val="7030A0"/>
              </a:solidFill>
              <a:effectLst/>
              <a:latin typeface="Times New Roman" panose="02020603050405020304" pitchFamily="18" charset="0"/>
              <a:ea typeface="Times New Roman" panose="02020603050405020304" pitchFamily="18" charset="0"/>
            </a:endParaRPr>
          </a:p>
          <a:p>
            <a:pPr algn="just">
              <a:buNone/>
            </a:pPr>
            <a:r>
              <a:rPr lang="en-IN" sz="700" dirty="0">
                <a:effectLst/>
                <a:latin typeface="Cambria" panose="020405030504060302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buNone/>
            </a:pPr>
            <a:r>
              <a:rPr lang="en-IN" sz="2000" b="1" dirty="0">
                <a:effectLst/>
                <a:latin typeface="Cambria" panose="02040503050406030204" pitchFamily="18" charset="0"/>
                <a:ea typeface="Cambria" panose="02040503050406030204" pitchFamily="18" charset="0"/>
              </a:rPr>
              <a:t>Question:</a:t>
            </a:r>
            <a:r>
              <a:rPr lang="en-IN" sz="2000" dirty="0">
                <a:effectLst/>
                <a:latin typeface="Cambria" panose="02040503050406030204" pitchFamily="18" charset="0"/>
                <a:ea typeface="Cambria" panose="02040503050406030204" pitchFamily="18" charset="0"/>
              </a:rPr>
              <a:t> A software application needs to store a dictionary of words and their definitions, and it needs to be able to quickly look up words in alphabetical order. Which data structure is best suited for this task? </a:t>
            </a:r>
          </a:p>
          <a:p>
            <a:pPr algn="just">
              <a:buNone/>
            </a:pPr>
            <a:endParaRPr lang="en-IN" sz="500" b="1" dirty="0">
              <a:latin typeface="Cambria" panose="02040503050406030204" pitchFamily="18" charset="0"/>
              <a:ea typeface="Cambria" panose="02040503050406030204" pitchFamily="18" charset="0"/>
              <a:cs typeface="Gautami" panose="020B0502040204020203" pitchFamily="34" charset="0"/>
            </a:endParaRPr>
          </a:p>
          <a:p>
            <a:pPr algn="just">
              <a:buNone/>
            </a:pPr>
            <a:r>
              <a:rPr lang="en-IN" sz="2000" b="1" dirty="0">
                <a:effectLst/>
                <a:latin typeface="Cambria" panose="02040503050406030204" pitchFamily="18" charset="0"/>
                <a:ea typeface="Cambria" panose="02040503050406030204" pitchFamily="18" charset="0"/>
                <a:cs typeface="Gautami" panose="020B0502040204020203" pitchFamily="34" charset="0"/>
              </a:rPr>
              <a:t>Answer:</a:t>
            </a:r>
            <a:r>
              <a:rPr lang="en-IN" sz="2000" dirty="0">
                <a:effectLst/>
                <a:latin typeface="Cambria" panose="02040503050406030204" pitchFamily="18" charset="0"/>
                <a:ea typeface="Cambria" panose="02040503050406030204" pitchFamily="18" charset="0"/>
                <a:cs typeface="Gautami" panose="020B0502040204020203" pitchFamily="34" charset="0"/>
              </a:rPr>
              <a:t> A Binary Search Tree (BST) is well-suited for implementing a sorted dictionary. Because the BST is inherently sorted, you can easily traverse the nodes in ascending order to iterate through the dictionary alphabetically. The lookup of a word would also be efficient, as it leverages the BST's search properties. </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91514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B5E08-50D5-8877-2D08-E0C72AF45B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05197F-A93E-A4A4-7B3C-9E49C994FE99}"/>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5" name="TextBox 4">
            <a:extLst>
              <a:ext uri="{FF2B5EF4-FFF2-40B4-BE49-F238E27FC236}">
                <a16:creationId xmlns:a16="http://schemas.microsoft.com/office/drawing/2014/main" id="{E88349E2-B4DF-2134-6172-2CC1826F5514}"/>
              </a:ext>
            </a:extLst>
          </p:cNvPr>
          <p:cNvSpPr txBox="1"/>
          <p:nvPr/>
        </p:nvSpPr>
        <p:spPr>
          <a:xfrm>
            <a:off x="2130357" y="303272"/>
            <a:ext cx="6118698" cy="584775"/>
          </a:xfrm>
          <a:prstGeom prst="rect">
            <a:avLst/>
          </a:prstGeom>
          <a:noFill/>
        </p:spPr>
        <p:txBody>
          <a:bodyPr wrap="square">
            <a:spAutoFit/>
          </a:bodyPr>
          <a:lstStyle/>
          <a:p>
            <a:pPr marL="6350">
              <a:spcBef>
                <a:spcPts val="100"/>
              </a:spcBef>
            </a:pPr>
            <a:r>
              <a:rPr lang="en-US" sz="2800" b="1" dirty="0">
                <a:highlight>
                  <a:srgbClr val="FFFF00"/>
                </a:highlight>
                <a:latin typeface="Times New Roman"/>
                <a:cs typeface="Times New Roman"/>
              </a:rPr>
              <a:t>3</a:t>
            </a:r>
            <a:r>
              <a:rPr lang="en-US" sz="3200" b="1" dirty="0">
                <a:highlight>
                  <a:srgbClr val="FFFF00"/>
                </a:highlight>
                <a:latin typeface="Times New Roman"/>
                <a:cs typeface="Times New Roman"/>
              </a:rPr>
              <a:t>. </a:t>
            </a:r>
            <a:r>
              <a:rPr lang="en-US" sz="2800" b="1" dirty="0">
                <a:highlight>
                  <a:srgbClr val="FFFF00"/>
                </a:highlight>
                <a:latin typeface="Times New Roman"/>
                <a:cs typeface="Times New Roman"/>
              </a:rPr>
              <a:t>b)</a:t>
            </a:r>
            <a:r>
              <a:rPr lang="en-IN" sz="2800" b="1" kern="0" dirty="0">
                <a:solidFill>
                  <a:srgbClr val="000000"/>
                </a:solidFill>
                <a:highlight>
                  <a:srgbClr val="FFFF00"/>
                </a:highlight>
                <a:latin typeface="Cambria" panose="02040503050406030204" pitchFamily="18" charset="0"/>
                <a:ea typeface="Cambria" panose="02040503050406030204" pitchFamily="18" charset="0"/>
                <a:cs typeface="Arial" panose="020B0604020202020204" pitchFamily="34" charset="0"/>
              </a:rPr>
              <a:t> Binary Search Tree Operations</a:t>
            </a:r>
            <a:r>
              <a:rPr lang="en-US" sz="2800" b="1" dirty="0">
                <a:highlight>
                  <a:srgbClr val="FFFF00"/>
                </a:highlight>
                <a:latin typeface="Times New Roman"/>
                <a:cs typeface="Times New Roman"/>
              </a:rPr>
              <a:t> </a:t>
            </a:r>
            <a:endParaRPr lang="en-US" sz="1000" dirty="0">
              <a:highlight>
                <a:srgbClr val="FFFF00"/>
              </a:highlight>
              <a:latin typeface="Times New Roman"/>
              <a:cs typeface="Times New Roman"/>
            </a:endParaRPr>
          </a:p>
        </p:txBody>
      </p:sp>
      <p:sp>
        <p:nvSpPr>
          <p:cNvPr id="8" name="TextBox 7">
            <a:extLst>
              <a:ext uri="{FF2B5EF4-FFF2-40B4-BE49-F238E27FC236}">
                <a16:creationId xmlns:a16="http://schemas.microsoft.com/office/drawing/2014/main" id="{3C9F0A48-7EAF-22C9-FC93-7BDBC0EE9493}"/>
              </a:ext>
            </a:extLst>
          </p:cNvPr>
          <p:cNvSpPr txBox="1"/>
          <p:nvPr/>
        </p:nvSpPr>
        <p:spPr>
          <a:xfrm>
            <a:off x="632298" y="1064250"/>
            <a:ext cx="10719881" cy="5517472"/>
          </a:xfrm>
          <a:prstGeom prst="rect">
            <a:avLst/>
          </a:prstGeom>
          <a:noFill/>
        </p:spPr>
        <p:txBody>
          <a:bodyPr wrap="square">
            <a:spAutoFit/>
          </a:bodyPr>
          <a:lstStyle/>
          <a:p>
            <a:pPr>
              <a:lnSpc>
                <a:spcPct val="107000"/>
              </a:lnSpc>
              <a:spcBef>
                <a:spcPts val="570"/>
              </a:spcBef>
              <a:spcAft>
                <a:spcPts val="800"/>
              </a:spcAft>
              <a:buNone/>
            </a:pPr>
            <a:r>
              <a:rPr lang="en-IN" sz="2000" b="1" kern="100" dirty="0" err="1">
                <a:effectLst/>
                <a:latin typeface="Cambria" panose="02040503050406030204" pitchFamily="18" charset="0"/>
                <a:ea typeface="Cambria" panose="02040503050406030204" pitchFamily="18" charset="0"/>
                <a:cs typeface="Gautami" panose="020B0502040204020203" pitchFamily="34" charset="0"/>
              </a:rPr>
              <a:t>i</a:t>
            </a:r>
            <a:r>
              <a:rPr lang="en-IN" sz="2000" b="1" kern="100" dirty="0">
                <a:effectLst/>
                <a:latin typeface="Cambria" panose="02040503050406030204" pitchFamily="18" charset="0"/>
                <a:ea typeface="Cambria" panose="02040503050406030204" pitchFamily="18" charset="0"/>
                <a:cs typeface="Gautami" panose="020B0502040204020203" pitchFamily="34" charset="0"/>
              </a:rPr>
              <a:t>) </a:t>
            </a:r>
            <a:r>
              <a:rPr lang="en-IN" sz="2000" b="1" u="sng" kern="100" dirty="0">
                <a:effectLst/>
                <a:latin typeface="Cambria" panose="02040503050406030204" pitchFamily="18" charset="0"/>
                <a:ea typeface="Cambria" panose="02040503050406030204" pitchFamily="18" charset="0"/>
                <a:cs typeface="Gautami" panose="020B0502040204020203" pitchFamily="34" charset="0"/>
              </a:rPr>
              <a:t>Insertion</a:t>
            </a:r>
            <a:r>
              <a:rPr lang="en-IN" sz="2000" b="1" u="sng" kern="100" spc="-25" dirty="0">
                <a:effectLst/>
                <a:latin typeface="Cambria" panose="02040503050406030204" pitchFamily="18" charset="0"/>
                <a:ea typeface="Cambria" panose="02040503050406030204" pitchFamily="18" charset="0"/>
                <a:cs typeface="Gautami" panose="020B0502040204020203" pitchFamily="34" charset="0"/>
              </a:rPr>
              <a:t> </a:t>
            </a:r>
            <a:r>
              <a:rPr lang="en-IN" sz="2000" b="1" u="sng" kern="100" dirty="0">
                <a:effectLst/>
                <a:latin typeface="Cambria" panose="02040503050406030204" pitchFamily="18" charset="0"/>
                <a:ea typeface="Cambria" panose="02040503050406030204" pitchFamily="18" charset="0"/>
                <a:cs typeface="Gautami" panose="020B0502040204020203" pitchFamily="34" charset="0"/>
              </a:rPr>
              <a:t>Operation</a:t>
            </a:r>
            <a:r>
              <a:rPr lang="en-IN" sz="2000" b="1" u="sng" kern="100" spc="-30" dirty="0">
                <a:effectLst/>
                <a:latin typeface="Cambria" panose="02040503050406030204" pitchFamily="18" charset="0"/>
                <a:ea typeface="Cambria" panose="02040503050406030204" pitchFamily="18" charset="0"/>
                <a:cs typeface="Gautami" panose="020B0502040204020203" pitchFamily="34" charset="0"/>
              </a:rPr>
              <a:t> </a:t>
            </a:r>
            <a:r>
              <a:rPr lang="en-IN" sz="2000" b="1" u="sng" kern="100" dirty="0">
                <a:effectLst/>
                <a:latin typeface="Cambria" panose="02040503050406030204" pitchFamily="18" charset="0"/>
                <a:ea typeface="Cambria" panose="02040503050406030204" pitchFamily="18" charset="0"/>
                <a:cs typeface="Gautami" panose="020B0502040204020203" pitchFamily="34" charset="0"/>
              </a:rPr>
              <a:t>in</a:t>
            </a:r>
            <a:r>
              <a:rPr lang="en-IN" sz="2000" b="1" u="sng" kern="100" spc="-20" dirty="0">
                <a:effectLst/>
                <a:latin typeface="Cambria" panose="02040503050406030204" pitchFamily="18" charset="0"/>
                <a:ea typeface="Cambria" panose="02040503050406030204" pitchFamily="18" charset="0"/>
                <a:cs typeface="Gautami" panose="020B0502040204020203" pitchFamily="34" charset="0"/>
              </a:rPr>
              <a:t> BST</a:t>
            </a:r>
            <a:endParaRPr lang="en-IN" sz="1400" kern="100" dirty="0">
              <a:effectLst/>
              <a:latin typeface="Cambria" panose="02040503050406030204" pitchFamily="18" charset="0"/>
              <a:ea typeface="Cambria" panose="02040503050406030204" pitchFamily="18" charset="0"/>
              <a:cs typeface="Gautami" panose="020B0502040204020203" pitchFamily="34" charset="0"/>
            </a:endParaRPr>
          </a:p>
          <a:p>
            <a:pPr marR="254635" algn="just">
              <a:lnSpc>
                <a:spcPct val="107000"/>
              </a:lnSpc>
              <a:spcBef>
                <a:spcPts val="465"/>
              </a:spcBef>
              <a:spcAft>
                <a:spcPts val="800"/>
              </a:spcAft>
              <a:buNone/>
            </a:pPr>
            <a:r>
              <a:rPr lang="en-IN" sz="2200" kern="100" dirty="0">
                <a:effectLst/>
                <a:latin typeface="Cambria" panose="02040503050406030204" pitchFamily="18" charset="0"/>
                <a:ea typeface="Cambria" panose="02040503050406030204" pitchFamily="18" charset="0"/>
                <a:cs typeface="Gautami" panose="020B0502040204020203" pitchFamily="34" charset="0"/>
              </a:rPr>
              <a:t>In a binary search tree, the insertion operation is performed with</a:t>
            </a:r>
            <a:r>
              <a:rPr lang="en-IN" sz="2200" kern="100" spc="400" dirty="0">
                <a:effectLst/>
                <a:latin typeface="Cambria" panose="02040503050406030204" pitchFamily="18" charset="0"/>
                <a:ea typeface="Cambria" panose="02040503050406030204" pitchFamily="18" charset="0"/>
                <a:cs typeface="Gautami" panose="020B0502040204020203" pitchFamily="34" charset="0"/>
              </a:rPr>
              <a:t> </a:t>
            </a:r>
            <a:r>
              <a:rPr lang="en-IN" sz="2200" kern="100" dirty="0">
                <a:effectLst/>
                <a:latin typeface="Cambria" panose="02040503050406030204" pitchFamily="18" charset="0"/>
                <a:ea typeface="Cambria" panose="02040503050406030204" pitchFamily="18" charset="0"/>
                <a:cs typeface="Gautami" panose="020B0502040204020203" pitchFamily="34" charset="0"/>
              </a:rPr>
              <a:t>O(log n) time complexity. In binary search tree, new node is always inserted as a leaf node. </a:t>
            </a:r>
          </a:p>
          <a:p>
            <a:pPr marR="254635" algn="just">
              <a:lnSpc>
                <a:spcPct val="107000"/>
              </a:lnSpc>
              <a:spcBef>
                <a:spcPts val="465"/>
              </a:spcBef>
              <a:spcAft>
                <a:spcPts val="800"/>
              </a:spcAft>
              <a:buNone/>
            </a:pPr>
            <a:r>
              <a:rPr lang="en-IN" sz="2200" kern="100" dirty="0">
                <a:effectLst/>
                <a:latin typeface="Cambria" panose="02040503050406030204" pitchFamily="18" charset="0"/>
                <a:ea typeface="Cambria" panose="02040503050406030204" pitchFamily="18" charset="0"/>
                <a:cs typeface="Gautami" panose="020B0502040204020203" pitchFamily="34" charset="0"/>
              </a:rPr>
              <a:t>The </a:t>
            </a:r>
            <a:r>
              <a:rPr lang="en-IN" sz="2200" b="1" kern="100" dirty="0">
                <a:effectLst/>
                <a:latin typeface="Cambria" panose="02040503050406030204" pitchFamily="18" charset="0"/>
                <a:ea typeface="Cambria" panose="02040503050406030204" pitchFamily="18" charset="0"/>
                <a:cs typeface="Gautami" panose="020B0502040204020203" pitchFamily="34" charset="0"/>
              </a:rPr>
              <a:t>algorithm for insertion operation</a:t>
            </a:r>
            <a:r>
              <a:rPr lang="en-IN" sz="2200" kern="100" dirty="0">
                <a:effectLst/>
                <a:latin typeface="Cambria" panose="02040503050406030204" pitchFamily="18" charset="0"/>
                <a:ea typeface="Cambria" panose="02040503050406030204" pitchFamily="18" charset="0"/>
                <a:cs typeface="Gautami" panose="020B0502040204020203" pitchFamily="34" charset="0"/>
              </a:rPr>
              <a:t> is as follows:</a:t>
            </a:r>
          </a:p>
          <a:p>
            <a:pPr marL="540385" marR="92075" indent="-540385" algn="just">
              <a:lnSpc>
                <a:spcPct val="112000"/>
              </a:lnSpc>
              <a:spcBef>
                <a:spcPts val="0"/>
              </a:spcBef>
              <a:spcAft>
                <a:spcPts val="600"/>
              </a:spcAft>
              <a:buNone/>
            </a:pPr>
            <a:r>
              <a:rPr lang="en-US" sz="1800" b="1" dirty="0">
                <a:effectLst/>
                <a:latin typeface="Cambria" panose="02040503050406030204" pitchFamily="18" charset="0"/>
                <a:ea typeface="Cambria" panose="02040503050406030204" pitchFamily="18" charset="0"/>
              </a:rPr>
              <a:t>Step</a:t>
            </a:r>
            <a:r>
              <a:rPr lang="en-US" sz="1800" b="1" spc="-1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1</a:t>
            </a:r>
            <a:r>
              <a:rPr lang="en-US" sz="1800" dirty="0">
                <a:effectLst/>
                <a:latin typeface="Cambria" panose="02040503050406030204" pitchFamily="18" charset="0"/>
                <a:ea typeface="Cambria" panose="02040503050406030204" pitchFamily="18" charset="0"/>
              </a:rPr>
              <a:t>:</a:t>
            </a:r>
            <a:r>
              <a:rPr lang="en-US" sz="1800" spc="-1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Create</a:t>
            </a:r>
            <a:r>
              <a:rPr lang="en-US" sz="1800" spc="-15"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a</a:t>
            </a:r>
            <a:r>
              <a:rPr lang="en-US" sz="1800" spc="-35" dirty="0">
                <a:effectLst/>
                <a:latin typeface="Cambria" panose="02040503050406030204" pitchFamily="18" charset="0"/>
                <a:ea typeface="Cambria" panose="02040503050406030204" pitchFamily="18" charset="0"/>
              </a:rPr>
              <a:t> </a:t>
            </a:r>
            <a:r>
              <a:rPr lang="en-US" sz="1800" b="1" dirty="0" err="1">
                <a:effectLst/>
                <a:latin typeface="Cambria" panose="02040503050406030204" pitchFamily="18" charset="0"/>
                <a:ea typeface="Cambria" panose="02040503050406030204" pitchFamily="18" charset="0"/>
              </a:rPr>
              <a:t>newNode</a:t>
            </a:r>
            <a:r>
              <a:rPr lang="en-US" sz="1800" spc="-3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with</a:t>
            </a:r>
            <a:r>
              <a:rPr lang="en-US" sz="1800" spc="-1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given</a:t>
            </a:r>
            <a:r>
              <a:rPr lang="en-US" sz="1800" spc="-25"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value</a:t>
            </a:r>
            <a:r>
              <a:rPr lang="en-US" sz="1800" spc="-15"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and</a:t>
            </a:r>
            <a:r>
              <a:rPr lang="en-US" sz="1800" spc="-1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set</a:t>
            </a:r>
            <a:r>
              <a:rPr lang="en-US" sz="1800" spc="-1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its</a:t>
            </a:r>
            <a:r>
              <a:rPr lang="en-US" sz="1800" spc="-3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left</a:t>
            </a:r>
            <a:r>
              <a:rPr lang="en-US" sz="1800" spc="-1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and</a:t>
            </a:r>
            <a:r>
              <a:rPr lang="en-US" sz="1800" spc="-1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right</a:t>
            </a:r>
            <a:r>
              <a:rPr lang="en-US" sz="1800" spc="-3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to</a:t>
            </a:r>
            <a:r>
              <a:rPr lang="en-US" sz="1800" spc="-1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NULL</a:t>
            </a:r>
            <a:r>
              <a:rPr lang="en-US" sz="1800" dirty="0">
                <a:effectLst/>
                <a:latin typeface="Cambria" panose="02040503050406030204" pitchFamily="18" charset="0"/>
                <a:ea typeface="Cambria" panose="02040503050406030204" pitchFamily="18" charset="0"/>
              </a:rPr>
              <a:t>. </a:t>
            </a:r>
            <a:endParaRPr lang="en-IN" sz="1800" dirty="0">
              <a:effectLst/>
              <a:latin typeface="Cambria" panose="02040503050406030204" pitchFamily="18" charset="0"/>
              <a:ea typeface="Cambria" panose="02040503050406030204" pitchFamily="18" charset="0"/>
            </a:endParaRPr>
          </a:p>
          <a:p>
            <a:pPr marL="540385" marR="92075" indent="-540385" algn="just">
              <a:lnSpc>
                <a:spcPct val="112000"/>
              </a:lnSpc>
              <a:spcBef>
                <a:spcPts val="0"/>
              </a:spcBef>
              <a:spcAft>
                <a:spcPts val="600"/>
              </a:spcAft>
              <a:buNone/>
            </a:pPr>
            <a:r>
              <a:rPr lang="en-US" sz="1800" b="1" dirty="0">
                <a:effectLst/>
                <a:latin typeface="Cambria" panose="02040503050406030204" pitchFamily="18" charset="0"/>
                <a:ea typeface="Cambria" panose="02040503050406030204" pitchFamily="18" charset="0"/>
              </a:rPr>
              <a:t>Step 2</a:t>
            </a:r>
            <a:r>
              <a:rPr lang="en-US" sz="180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Check</a:t>
            </a:r>
            <a:r>
              <a:rPr lang="en-US" sz="1800" dirty="0">
                <a:effectLst/>
                <a:latin typeface="Cambria" panose="02040503050406030204" pitchFamily="18" charset="0"/>
                <a:ea typeface="Cambria" panose="02040503050406030204" pitchFamily="18" charset="0"/>
              </a:rPr>
              <a:t> whether </a:t>
            </a:r>
            <a:r>
              <a:rPr lang="en-US" sz="1800" b="1" dirty="0">
                <a:effectLst/>
                <a:latin typeface="Cambria" panose="02040503050406030204" pitchFamily="18" charset="0"/>
                <a:ea typeface="Cambria" panose="02040503050406030204" pitchFamily="18" charset="0"/>
              </a:rPr>
              <a:t>tree is Empty</a:t>
            </a:r>
            <a:r>
              <a:rPr lang="en-US" sz="1800" dirty="0">
                <a:effectLst/>
                <a:latin typeface="Cambria" panose="02040503050406030204" pitchFamily="18" charset="0"/>
                <a:ea typeface="Cambria" panose="02040503050406030204" pitchFamily="18" charset="0"/>
              </a:rPr>
              <a:t>.</a:t>
            </a:r>
            <a:endParaRPr lang="en-IN" sz="1800" dirty="0">
              <a:effectLst/>
              <a:latin typeface="Cambria" panose="02040503050406030204" pitchFamily="18" charset="0"/>
              <a:ea typeface="Cambria" panose="02040503050406030204" pitchFamily="18" charset="0"/>
            </a:endParaRPr>
          </a:p>
          <a:p>
            <a:pPr marL="540385" marR="92075" indent="-540385" algn="just">
              <a:lnSpc>
                <a:spcPct val="112000"/>
              </a:lnSpc>
              <a:spcBef>
                <a:spcPts val="0"/>
              </a:spcBef>
              <a:spcAft>
                <a:spcPts val="600"/>
              </a:spcAft>
              <a:buNone/>
            </a:pPr>
            <a:r>
              <a:rPr lang="en-US" sz="1800" b="1" dirty="0">
                <a:effectLst/>
                <a:latin typeface="Cambria" panose="02040503050406030204" pitchFamily="18" charset="0"/>
                <a:ea typeface="Cambria" panose="02040503050406030204" pitchFamily="18" charset="0"/>
              </a:rPr>
              <a:t>Step</a:t>
            </a:r>
            <a:r>
              <a:rPr lang="en-US" sz="1800" b="1" spc="-1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3</a:t>
            </a:r>
            <a:r>
              <a:rPr lang="en-US" sz="1800" dirty="0">
                <a:effectLst/>
                <a:latin typeface="Cambria" panose="02040503050406030204" pitchFamily="18" charset="0"/>
                <a:ea typeface="Cambria" panose="02040503050406030204" pitchFamily="18" charset="0"/>
              </a:rPr>
              <a:t>:</a:t>
            </a:r>
            <a:r>
              <a:rPr lang="en-US" sz="1800" spc="-1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If</a:t>
            </a:r>
            <a:r>
              <a:rPr lang="en-US" sz="1800" spc="-15"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the</a:t>
            </a:r>
            <a:r>
              <a:rPr lang="en-US" sz="1800" spc="-15"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tree</a:t>
            </a:r>
            <a:r>
              <a:rPr lang="en-US" sz="1800" b="1" spc="-1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is</a:t>
            </a:r>
            <a:r>
              <a:rPr lang="en-US" sz="1800" b="1" spc="-3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Empty</a:t>
            </a:r>
            <a:r>
              <a:rPr lang="en-US" sz="1800" dirty="0">
                <a:effectLst/>
                <a:latin typeface="Cambria" panose="02040503050406030204" pitchFamily="18" charset="0"/>
                <a:ea typeface="Cambria" panose="02040503050406030204" pitchFamily="18" charset="0"/>
              </a:rPr>
              <a:t>,</a:t>
            </a:r>
            <a:r>
              <a:rPr lang="en-US" sz="1800" spc="-2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then</a:t>
            </a:r>
            <a:r>
              <a:rPr lang="en-US" sz="1800" spc="-5"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set</a:t>
            </a:r>
            <a:r>
              <a:rPr lang="en-US" sz="1800" spc="-5"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root</a:t>
            </a:r>
            <a:r>
              <a:rPr lang="en-US" sz="1800" b="1" spc="-1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to</a:t>
            </a:r>
            <a:r>
              <a:rPr lang="en-US" sz="1800" b="1" spc="-5" dirty="0">
                <a:effectLst/>
                <a:latin typeface="Cambria" panose="02040503050406030204" pitchFamily="18" charset="0"/>
                <a:ea typeface="Cambria" panose="02040503050406030204" pitchFamily="18" charset="0"/>
              </a:rPr>
              <a:t> </a:t>
            </a:r>
            <a:r>
              <a:rPr lang="en-US" sz="1800" b="1" spc="-10" dirty="0" err="1">
                <a:effectLst/>
                <a:latin typeface="Cambria" panose="02040503050406030204" pitchFamily="18" charset="0"/>
                <a:ea typeface="Cambria" panose="02040503050406030204" pitchFamily="18" charset="0"/>
              </a:rPr>
              <a:t>newNode</a:t>
            </a:r>
            <a:r>
              <a:rPr lang="en-US" sz="1800" spc="-10" dirty="0">
                <a:effectLst/>
                <a:latin typeface="Cambria" panose="02040503050406030204" pitchFamily="18" charset="0"/>
                <a:ea typeface="Cambria" panose="02040503050406030204" pitchFamily="18" charset="0"/>
              </a:rPr>
              <a:t>.</a:t>
            </a:r>
            <a:endParaRPr lang="en-IN" sz="1800" dirty="0">
              <a:effectLst/>
              <a:latin typeface="Cambria" panose="02040503050406030204" pitchFamily="18" charset="0"/>
              <a:ea typeface="Cambria" panose="02040503050406030204" pitchFamily="18" charset="0"/>
            </a:endParaRPr>
          </a:p>
          <a:p>
            <a:pPr marL="540385" marR="92075" indent="-540385" algn="just">
              <a:lnSpc>
                <a:spcPct val="112000"/>
              </a:lnSpc>
              <a:spcBef>
                <a:spcPts val="0"/>
              </a:spcBef>
              <a:spcAft>
                <a:spcPts val="600"/>
              </a:spcAft>
              <a:buNone/>
            </a:pPr>
            <a:r>
              <a:rPr lang="en-US" sz="1800" b="1" dirty="0">
                <a:effectLst/>
                <a:latin typeface="Cambria" panose="02040503050406030204" pitchFamily="18" charset="0"/>
                <a:ea typeface="Cambria" panose="02040503050406030204" pitchFamily="18" charset="0"/>
              </a:rPr>
              <a:t>Step</a:t>
            </a:r>
            <a:r>
              <a:rPr lang="en-US" sz="1800" b="1" spc="-1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4</a:t>
            </a:r>
            <a:r>
              <a:rPr lang="en-US" sz="1800" dirty="0">
                <a:effectLst/>
                <a:latin typeface="Cambria" panose="02040503050406030204" pitchFamily="18" charset="0"/>
                <a:ea typeface="Cambria" panose="02040503050406030204" pitchFamily="18" charset="0"/>
              </a:rPr>
              <a:t>:</a:t>
            </a:r>
            <a:r>
              <a:rPr lang="en-US" sz="1800" spc="-1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If</a:t>
            </a:r>
            <a:r>
              <a:rPr lang="en-US" sz="1800" spc="-2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the</a:t>
            </a:r>
            <a:r>
              <a:rPr lang="en-US" sz="1800" spc="-15"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tree</a:t>
            </a:r>
            <a:r>
              <a:rPr lang="en-US" sz="1800" b="1" spc="-15"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is</a:t>
            </a:r>
            <a:r>
              <a:rPr lang="en-US" sz="1800" b="1" spc="-3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Not</a:t>
            </a:r>
            <a:r>
              <a:rPr lang="en-US" sz="1800" b="1" spc="-30"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Empty</a:t>
            </a:r>
            <a:r>
              <a:rPr lang="en-US" sz="1800" dirty="0">
                <a:effectLst/>
                <a:latin typeface="Cambria" panose="02040503050406030204" pitchFamily="18" charset="0"/>
                <a:ea typeface="Cambria" panose="02040503050406030204" pitchFamily="18" charset="0"/>
              </a:rPr>
              <a:t>,</a:t>
            </a:r>
            <a:r>
              <a:rPr lang="en-US" sz="1800" spc="-2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then</a:t>
            </a:r>
            <a:r>
              <a:rPr lang="en-US" sz="1800" spc="-25" dirty="0">
                <a:effectLst/>
                <a:latin typeface="Cambria" panose="02040503050406030204" pitchFamily="18" charset="0"/>
                <a:ea typeface="Cambria" panose="02040503050406030204" pitchFamily="18" charset="0"/>
              </a:rPr>
              <a:t> </a:t>
            </a:r>
            <a:r>
              <a:rPr lang="en-US" sz="1800" b="1" dirty="0">
                <a:effectLst/>
                <a:latin typeface="Cambria" panose="02040503050406030204" pitchFamily="18" charset="0"/>
                <a:ea typeface="Cambria" panose="02040503050406030204" pitchFamily="18" charset="0"/>
              </a:rPr>
              <a:t>check</a:t>
            </a:r>
            <a:r>
              <a:rPr lang="en-US" sz="1800" spc="-1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whether</a:t>
            </a:r>
            <a:r>
              <a:rPr lang="en-US" sz="1800" spc="-15"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value</a:t>
            </a:r>
            <a:r>
              <a:rPr lang="en-US" sz="1800" spc="-15"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of</a:t>
            </a:r>
            <a:r>
              <a:rPr lang="en-US" sz="1800" spc="-15" dirty="0">
                <a:effectLst/>
                <a:latin typeface="Cambria" panose="02040503050406030204" pitchFamily="18" charset="0"/>
                <a:ea typeface="Cambria" panose="02040503050406030204" pitchFamily="18" charset="0"/>
              </a:rPr>
              <a:t> </a:t>
            </a:r>
            <a:r>
              <a:rPr lang="en-US" sz="1800" b="1" dirty="0" err="1">
                <a:effectLst/>
                <a:latin typeface="Cambria" panose="02040503050406030204" pitchFamily="18" charset="0"/>
                <a:ea typeface="Cambria" panose="02040503050406030204" pitchFamily="18" charset="0"/>
              </a:rPr>
              <a:t>newNode</a:t>
            </a:r>
            <a:r>
              <a:rPr lang="en-US" sz="1800" spc="-15"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is </a:t>
            </a:r>
            <a:r>
              <a:rPr lang="en-US" sz="1800" b="1" dirty="0">
                <a:effectLst/>
                <a:latin typeface="Cambria" panose="02040503050406030204" pitchFamily="18" charset="0"/>
                <a:ea typeface="Cambria" panose="02040503050406030204" pitchFamily="18" charset="0"/>
              </a:rPr>
              <a:t>smaller</a:t>
            </a:r>
            <a:r>
              <a:rPr lang="en-US" sz="1800" dirty="0">
                <a:effectLst/>
                <a:latin typeface="Cambria" panose="02040503050406030204" pitchFamily="18" charset="0"/>
                <a:ea typeface="Cambria" panose="02040503050406030204" pitchFamily="18" charset="0"/>
              </a:rPr>
              <a:t> or </a:t>
            </a:r>
            <a:r>
              <a:rPr lang="en-US" sz="1800" b="1" dirty="0">
                <a:effectLst/>
                <a:latin typeface="Cambria" panose="02040503050406030204" pitchFamily="18" charset="0"/>
                <a:ea typeface="Cambria" panose="02040503050406030204" pitchFamily="18" charset="0"/>
              </a:rPr>
              <a:t>larger</a:t>
            </a:r>
            <a:r>
              <a:rPr lang="en-US" sz="1800" dirty="0">
                <a:effectLst/>
                <a:latin typeface="Cambria" panose="02040503050406030204" pitchFamily="18" charset="0"/>
                <a:ea typeface="Cambria" panose="02040503050406030204" pitchFamily="18" charset="0"/>
              </a:rPr>
              <a:t> than the node (here it is root node).</a:t>
            </a:r>
          </a:p>
          <a:p>
            <a:pPr marL="540385" marR="92075" indent="-540385" algn="just">
              <a:lnSpc>
                <a:spcPct val="112000"/>
              </a:lnSpc>
              <a:spcBef>
                <a:spcPts val="0"/>
              </a:spcBef>
              <a:spcAft>
                <a:spcPts val="600"/>
              </a:spcAft>
              <a:buNone/>
            </a:pPr>
            <a:r>
              <a:rPr lang="en-US" sz="1800" b="1" dirty="0">
                <a:effectLst/>
                <a:latin typeface="Cambria" panose="02040503050406030204" pitchFamily="18" charset="0"/>
                <a:ea typeface="Times New Roman" panose="02020603050405020304" pitchFamily="18" charset="0"/>
              </a:rPr>
              <a:t>Step 5</a:t>
            </a:r>
            <a:r>
              <a:rPr lang="en-US" sz="180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If </a:t>
            </a:r>
            <a:r>
              <a:rPr lang="en-US" sz="1800" b="1" dirty="0" err="1">
                <a:effectLst/>
                <a:latin typeface="Cambria" panose="02040503050406030204" pitchFamily="18" charset="0"/>
                <a:ea typeface="Times New Roman" panose="02020603050405020304" pitchFamily="18" charset="0"/>
              </a:rPr>
              <a:t>newNode</a:t>
            </a:r>
            <a:r>
              <a:rPr lang="en-US" sz="1800" b="1" dirty="0">
                <a:effectLst/>
                <a:latin typeface="Cambria" panose="02040503050406030204" pitchFamily="18" charset="0"/>
                <a:ea typeface="Times New Roman" panose="02020603050405020304" pitchFamily="18" charset="0"/>
              </a:rPr>
              <a:t> is smaller</a:t>
            </a:r>
            <a:r>
              <a:rPr lang="en-US" sz="1800" dirty="0">
                <a:effectLst/>
                <a:latin typeface="Cambria" panose="02040503050406030204" pitchFamily="18" charset="0"/>
                <a:ea typeface="Times New Roman" panose="02020603050405020304" pitchFamily="18" charset="0"/>
              </a:rPr>
              <a:t> than </a:t>
            </a:r>
            <a:r>
              <a:rPr lang="en-US" sz="1800" b="1" dirty="0">
                <a:effectLst/>
                <a:latin typeface="Cambria" panose="02040503050406030204" pitchFamily="18" charset="0"/>
                <a:ea typeface="Times New Roman" panose="02020603050405020304" pitchFamily="18" charset="0"/>
              </a:rPr>
              <a:t>or equal</a:t>
            </a:r>
            <a:r>
              <a:rPr lang="en-US" sz="1800" dirty="0">
                <a:effectLst/>
                <a:latin typeface="Cambria" panose="02040503050406030204" pitchFamily="18" charset="0"/>
                <a:ea typeface="Times New Roman" panose="02020603050405020304" pitchFamily="18" charset="0"/>
              </a:rPr>
              <a:t> to the node, then </a:t>
            </a:r>
            <a:r>
              <a:rPr lang="en-US" sz="1800" b="1" dirty="0">
                <a:effectLst/>
                <a:latin typeface="Cambria" panose="02040503050406030204" pitchFamily="18" charset="0"/>
                <a:ea typeface="Times New Roman" panose="02020603050405020304" pitchFamily="18" charset="0"/>
              </a:rPr>
              <a:t>move to its </a:t>
            </a:r>
            <a:r>
              <a:rPr lang="en-US" sz="1800" b="1" spc="-20" dirty="0">
                <a:effectLst/>
                <a:latin typeface="Cambria" panose="02040503050406030204" pitchFamily="18" charset="0"/>
                <a:ea typeface="Times New Roman" panose="02020603050405020304" pitchFamily="18" charset="0"/>
              </a:rPr>
              <a:t>left </a:t>
            </a:r>
            <a:r>
              <a:rPr lang="en-US" sz="1800" b="1" dirty="0">
                <a:effectLst/>
                <a:latin typeface="Cambria" panose="02040503050406030204" pitchFamily="18" charset="0"/>
                <a:ea typeface="Times New Roman" panose="02020603050405020304" pitchFamily="18" charset="0"/>
              </a:rPr>
              <a:t>child</a:t>
            </a:r>
            <a:r>
              <a:rPr lang="en-US" sz="1800" dirty="0">
                <a:effectLst/>
                <a:latin typeface="Cambria" panose="02040503050406030204" pitchFamily="18" charset="0"/>
                <a:ea typeface="Times New Roman" panose="02020603050405020304" pitchFamily="18" charset="0"/>
              </a:rPr>
              <a:t>.</a:t>
            </a:r>
            <a:r>
              <a:rPr lang="en-US" sz="1800" spc="-3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If</a:t>
            </a:r>
            <a:r>
              <a:rPr lang="en-US" sz="1800" b="1" spc="-15" dirty="0">
                <a:effectLst/>
                <a:latin typeface="Cambria" panose="02040503050406030204" pitchFamily="18" charset="0"/>
                <a:ea typeface="Times New Roman" panose="02020603050405020304" pitchFamily="18" charset="0"/>
              </a:rPr>
              <a:t> </a:t>
            </a:r>
            <a:r>
              <a:rPr lang="en-US" sz="1800" b="1" dirty="0" err="1">
                <a:effectLst/>
                <a:latin typeface="Cambria" panose="02040503050406030204" pitchFamily="18" charset="0"/>
                <a:ea typeface="Times New Roman" panose="02020603050405020304" pitchFamily="18" charset="0"/>
              </a:rPr>
              <a:t>newNode</a:t>
            </a:r>
            <a:r>
              <a:rPr lang="en-US" sz="1800" b="1" spc="-3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is</a:t>
            </a:r>
            <a:r>
              <a:rPr lang="en-US" sz="1800" b="1" spc="-3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larger</a:t>
            </a:r>
            <a:r>
              <a:rPr lang="en-US" sz="1800" spc="-1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than</a:t>
            </a:r>
            <a:r>
              <a:rPr lang="en-US" sz="1800" spc="-1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the</a:t>
            </a:r>
            <a:r>
              <a:rPr lang="en-US" sz="1800" spc="-1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node,</a:t>
            </a:r>
            <a:r>
              <a:rPr lang="en-US" sz="1800" spc="-2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then</a:t>
            </a:r>
            <a:r>
              <a:rPr lang="en-US" sz="1800"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move</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to</a:t>
            </a:r>
            <a:r>
              <a:rPr lang="en-US" sz="1800" b="1" spc="-3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its</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right</a:t>
            </a:r>
            <a:r>
              <a:rPr lang="en-US" sz="1800" b="1" spc="-5" dirty="0">
                <a:effectLst/>
                <a:latin typeface="Cambria" panose="02040503050406030204" pitchFamily="18" charset="0"/>
                <a:ea typeface="Times New Roman" panose="02020603050405020304" pitchFamily="18" charset="0"/>
              </a:rPr>
              <a:t> </a:t>
            </a:r>
            <a:r>
              <a:rPr lang="en-US" sz="1800" b="1" spc="-10" dirty="0">
                <a:effectLst/>
                <a:latin typeface="Cambria" panose="02040503050406030204" pitchFamily="18" charset="0"/>
                <a:ea typeface="Times New Roman" panose="02020603050405020304" pitchFamily="18" charset="0"/>
              </a:rPr>
              <a:t>child</a:t>
            </a:r>
            <a:r>
              <a:rPr lang="en-US" sz="1800" spc="-10" dirty="0">
                <a:effectLst/>
                <a:latin typeface="Cambria" panose="020405030504060302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540385" marR="92075" indent="-540385" algn="just">
              <a:lnSpc>
                <a:spcPct val="112000"/>
              </a:lnSpc>
              <a:spcBef>
                <a:spcPts val="0"/>
              </a:spcBef>
              <a:spcAft>
                <a:spcPts val="600"/>
              </a:spcAft>
              <a:buNone/>
            </a:pPr>
            <a:r>
              <a:rPr lang="en-US" sz="1800" b="1" dirty="0">
                <a:effectLst/>
                <a:latin typeface="Cambria" panose="02040503050406030204" pitchFamily="18" charset="0"/>
                <a:ea typeface="Times New Roman" panose="02020603050405020304" pitchFamily="18" charset="0"/>
              </a:rPr>
              <a:t>Step</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6</a:t>
            </a:r>
            <a:r>
              <a:rPr lang="en-US" sz="1800" dirty="0">
                <a:effectLst/>
                <a:latin typeface="Cambria" panose="02040503050406030204" pitchFamily="18" charset="0"/>
                <a:ea typeface="Times New Roman" panose="02020603050405020304" pitchFamily="18" charset="0"/>
              </a:rPr>
              <a:t>:</a:t>
            </a:r>
            <a:r>
              <a:rPr lang="en-US" sz="1800" spc="33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Repeat</a:t>
            </a:r>
            <a:r>
              <a:rPr lang="en-US" sz="1800" b="1" spc="-2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the</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above</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step</a:t>
            </a:r>
            <a:r>
              <a:rPr lang="en-US" sz="1800" b="1" spc="-2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until</a:t>
            </a:r>
            <a:r>
              <a:rPr lang="en-US" sz="1800" b="1" spc="-2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we</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reach</a:t>
            </a:r>
            <a:r>
              <a:rPr lang="en-US" sz="1800" b="1" spc="-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to</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a</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leaf</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node</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(reach</a:t>
            </a:r>
            <a:r>
              <a:rPr lang="en-US" sz="1800" b="1" spc="-2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to</a:t>
            </a:r>
            <a:r>
              <a:rPr lang="en-US" sz="1800" b="1" spc="-5" dirty="0">
                <a:effectLst/>
                <a:latin typeface="Cambria" panose="02040503050406030204" pitchFamily="18" charset="0"/>
                <a:ea typeface="Times New Roman" panose="02020603050405020304" pitchFamily="18" charset="0"/>
              </a:rPr>
              <a:t> </a:t>
            </a:r>
            <a:r>
              <a:rPr lang="en-US" sz="1800" b="1" spc="-10" dirty="0">
                <a:effectLst/>
                <a:latin typeface="Cambria" panose="02040503050406030204" pitchFamily="18" charset="0"/>
                <a:ea typeface="Times New Roman" panose="02020603050405020304" pitchFamily="18" charset="0"/>
              </a:rPr>
              <a:t>NULL).</a:t>
            </a:r>
            <a:endParaRPr lang="en-IN" sz="1800" dirty="0">
              <a:effectLst/>
              <a:latin typeface="Times New Roman" panose="02020603050405020304" pitchFamily="18" charset="0"/>
              <a:ea typeface="Times New Roman" panose="02020603050405020304" pitchFamily="18" charset="0"/>
            </a:endParaRPr>
          </a:p>
          <a:p>
            <a:pPr marL="540385" marR="92075" indent="-540385" algn="just">
              <a:lnSpc>
                <a:spcPct val="112000"/>
              </a:lnSpc>
              <a:spcBef>
                <a:spcPts val="0"/>
              </a:spcBef>
              <a:spcAft>
                <a:spcPts val="600"/>
              </a:spcAft>
              <a:buNone/>
            </a:pPr>
            <a:r>
              <a:rPr lang="en-US" sz="1800" b="1" dirty="0">
                <a:effectLst/>
                <a:latin typeface="Cambria" panose="02040503050406030204" pitchFamily="18" charset="0"/>
                <a:ea typeface="Times New Roman" panose="02020603050405020304" pitchFamily="18" charset="0"/>
              </a:rPr>
              <a:t>Step 7</a:t>
            </a:r>
            <a:r>
              <a:rPr lang="en-US" sz="180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After reaching a leaf node</a:t>
            </a:r>
            <a:r>
              <a:rPr lang="en-US" sz="1800" dirty="0">
                <a:effectLst/>
                <a:latin typeface="Cambria" panose="02040503050406030204" pitchFamily="18" charset="0"/>
                <a:ea typeface="Times New Roman" panose="02020603050405020304" pitchFamily="18" charset="0"/>
              </a:rPr>
              <a:t>, then </a:t>
            </a:r>
            <a:r>
              <a:rPr lang="en-US" sz="1800" b="1" dirty="0">
                <a:effectLst/>
                <a:latin typeface="Cambria" panose="02040503050406030204" pitchFamily="18" charset="0"/>
                <a:ea typeface="Times New Roman" panose="02020603050405020304" pitchFamily="18" charset="0"/>
              </a:rPr>
              <a:t>insert the </a:t>
            </a:r>
            <a:r>
              <a:rPr lang="en-US" sz="1800" b="1" dirty="0" err="1">
                <a:effectLst/>
                <a:latin typeface="Cambria" panose="02040503050406030204" pitchFamily="18" charset="0"/>
                <a:ea typeface="Times New Roman" panose="02020603050405020304" pitchFamily="18" charset="0"/>
              </a:rPr>
              <a:t>newNode</a:t>
            </a:r>
            <a:r>
              <a:rPr lang="en-US" sz="1800" b="1" dirty="0">
                <a:effectLst/>
                <a:latin typeface="Cambria" panose="02040503050406030204" pitchFamily="18" charset="0"/>
                <a:ea typeface="Times New Roman" panose="02020603050405020304" pitchFamily="18" charset="0"/>
              </a:rPr>
              <a:t> as left child if </a:t>
            </a:r>
            <a:r>
              <a:rPr lang="en-US" sz="1800" b="1" dirty="0" err="1">
                <a:effectLst/>
                <a:latin typeface="Cambria" panose="02040503050406030204" pitchFamily="18" charset="0"/>
                <a:ea typeface="Times New Roman" panose="02020603050405020304" pitchFamily="18" charset="0"/>
              </a:rPr>
              <a:t>newNode</a:t>
            </a:r>
            <a:r>
              <a:rPr lang="en-US" sz="1800" b="1" spc="-2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is</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smaller</a:t>
            </a:r>
            <a:r>
              <a:rPr lang="en-US" sz="1800" b="1" spc="-2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or</a:t>
            </a:r>
            <a:r>
              <a:rPr lang="en-US" sz="1800" b="1" spc="-2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equal</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to</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that</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leaf,</a:t>
            </a:r>
            <a:r>
              <a:rPr lang="en-US" sz="1800" spc="-2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else</a:t>
            </a:r>
            <a:r>
              <a:rPr lang="en-US" sz="1800" spc="-2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insert</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it</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as</a:t>
            </a:r>
            <a:r>
              <a:rPr lang="en-US" sz="1800" b="1" spc="-3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right</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child</a:t>
            </a:r>
            <a:r>
              <a:rPr lang="en-US" sz="1800" dirty="0">
                <a:effectLst/>
                <a:latin typeface="Cambria" panose="020405030504060302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28437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B01A5-6617-94A5-E0FD-895F263F66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EFCEC4-47F8-1F3E-D4DF-F9B6217E1B0B}"/>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pic>
        <p:nvPicPr>
          <p:cNvPr id="16" name="Picture 15">
            <a:extLst>
              <a:ext uri="{FF2B5EF4-FFF2-40B4-BE49-F238E27FC236}">
                <a16:creationId xmlns:a16="http://schemas.microsoft.com/office/drawing/2014/main" id="{7C1634EF-D56E-5AFD-024E-6CFE7DB5C6EC}"/>
              </a:ext>
            </a:extLst>
          </p:cNvPr>
          <p:cNvPicPr>
            <a:picLocks noChangeAspect="1"/>
          </p:cNvPicPr>
          <p:nvPr/>
        </p:nvPicPr>
        <p:blipFill>
          <a:blip r:embed="rId2"/>
          <a:stretch>
            <a:fillRect/>
          </a:stretch>
        </p:blipFill>
        <p:spPr>
          <a:xfrm>
            <a:off x="3657602" y="1342417"/>
            <a:ext cx="3599234" cy="5087566"/>
          </a:xfrm>
          <a:prstGeom prst="rect">
            <a:avLst/>
          </a:prstGeom>
        </p:spPr>
      </p:pic>
      <p:pic>
        <p:nvPicPr>
          <p:cNvPr id="9" name="Picture 8">
            <a:extLst>
              <a:ext uri="{FF2B5EF4-FFF2-40B4-BE49-F238E27FC236}">
                <a16:creationId xmlns:a16="http://schemas.microsoft.com/office/drawing/2014/main" id="{0A274DCF-1592-F08D-5697-83255A5118E4}"/>
              </a:ext>
            </a:extLst>
          </p:cNvPr>
          <p:cNvPicPr>
            <a:picLocks noChangeAspect="1"/>
          </p:cNvPicPr>
          <p:nvPr/>
        </p:nvPicPr>
        <p:blipFill>
          <a:blip r:embed="rId3"/>
          <a:stretch>
            <a:fillRect/>
          </a:stretch>
        </p:blipFill>
        <p:spPr>
          <a:xfrm>
            <a:off x="7558393" y="1216351"/>
            <a:ext cx="4027250" cy="5087566"/>
          </a:xfrm>
          <a:prstGeom prst="rect">
            <a:avLst/>
          </a:prstGeom>
        </p:spPr>
      </p:pic>
      <p:pic>
        <p:nvPicPr>
          <p:cNvPr id="14" name="Picture 13">
            <a:extLst>
              <a:ext uri="{FF2B5EF4-FFF2-40B4-BE49-F238E27FC236}">
                <a16:creationId xmlns:a16="http://schemas.microsoft.com/office/drawing/2014/main" id="{4A944525-58E0-D003-193B-25F747FDBF33}"/>
              </a:ext>
            </a:extLst>
          </p:cNvPr>
          <p:cNvPicPr>
            <a:picLocks noChangeAspect="1"/>
          </p:cNvPicPr>
          <p:nvPr/>
        </p:nvPicPr>
        <p:blipFill>
          <a:blip r:embed="rId4"/>
          <a:stretch>
            <a:fillRect/>
          </a:stretch>
        </p:blipFill>
        <p:spPr>
          <a:xfrm>
            <a:off x="496110" y="2052536"/>
            <a:ext cx="2947480" cy="4377447"/>
          </a:xfrm>
          <a:prstGeom prst="rect">
            <a:avLst/>
          </a:prstGeom>
        </p:spPr>
      </p:pic>
      <p:sp>
        <p:nvSpPr>
          <p:cNvPr id="7" name="TextBox 6">
            <a:extLst>
              <a:ext uri="{FF2B5EF4-FFF2-40B4-BE49-F238E27FC236}">
                <a16:creationId xmlns:a16="http://schemas.microsoft.com/office/drawing/2014/main" id="{F569221C-4051-0252-3B32-892DF04B6B14}"/>
              </a:ext>
            </a:extLst>
          </p:cNvPr>
          <p:cNvSpPr txBox="1"/>
          <p:nvPr/>
        </p:nvSpPr>
        <p:spPr>
          <a:xfrm>
            <a:off x="1969850" y="177522"/>
            <a:ext cx="6823954" cy="677108"/>
          </a:xfrm>
          <a:prstGeom prst="rect">
            <a:avLst/>
          </a:prstGeom>
          <a:noFill/>
        </p:spPr>
        <p:txBody>
          <a:bodyPr wrap="square">
            <a:spAutoFit/>
          </a:bodyPr>
          <a:lstStyle/>
          <a:p>
            <a:pPr>
              <a:lnSpc>
                <a:spcPct val="100000"/>
              </a:lnSpc>
              <a:spcBef>
                <a:spcPts val="895"/>
              </a:spcBef>
              <a:buNone/>
            </a:pPr>
            <a:r>
              <a:rPr lang="en-US" sz="1800" b="1" dirty="0">
                <a:effectLst/>
                <a:latin typeface="Cambria" panose="02040503050406030204" pitchFamily="18" charset="0"/>
                <a:ea typeface="Times New Roman" panose="02020603050405020304" pitchFamily="18" charset="0"/>
              </a:rPr>
              <a:t>Example:</a:t>
            </a:r>
            <a:r>
              <a:rPr lang="en-US" sz="1800" b="1" spc="-20" dirty="0">
                <a:effectLst/>
                <a:latin typeface="Cambria" panose="02040503050406030204" pitchFamily="18" charset="0"/>
                <a:ea typeface="Times New Roman" panose="02020603050405020304" pitchFamily="18" charset="0"/>
              </a:rPr>
              <a:t>  </a:t>
            </a:r>
            <a:r>
              <a:rPr lang="en-IN" sz="1800" b="1" spc="-20" dirty="0">
                <a:effectLst/>
                <a:latin typeface="Cambria" panose="02040503050406030204" pitchFamily="18" charset="0"/>
                <a:ea typeface="Times New Roman" panose="02020603050405020304" pitchFamily="18" charset="0"/>
              </a:rPr>
              <a:t>Construct a Binary Search Tree (BST) for the following sequence of numbers-  </a:t>
            </a:r>
            <a:r>
              <a:rPr lang="en-IN" sz="2000" spc="-20" dirty="0">
                <a:effectLst/>
                <a:latin typeface="Cambria" panose="02040503050406030204" pitchFamily="18" charset="0"/>
                <a:ea typeface="Times New Roman" panose="02020603050405020304" pitchFamily="18" charset="0"/>
              </a:rPr>
              <a:t>50, 70, 60, 20, 90, 10, 40, 100</a:t>
            </a:r>
            <a:endParaRPr lang="en-IN" sz="20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FE8A258E-C070-BB0E-FF97-795D1A5E7DD7}"/>
              </a:ext>
            </a:extLst>
          </p:cNvPr>
          <p:cNvSpPr txBox="1"/>
          <p:nvPr/>
        </p:nvSpPr>
        <p:spPr>
          <a:xfrm>
            <a:off x="496110" y="953446"/>
            <a:ext cx="3093396" cy="1031051"/>
          </a:xfrm>
          <a:prstGeom prst="rect">
            <a:avLst/>
          </a:prstGeom>
          <a:noFill/>
        </p:spPr>
        <p:txBody>
          <a:bodyPr wrap="square">
            <a:spAutoFit/>
          </a:bodyPr>
          <a:lstStyle/>
          <a:p>
            <a:pPr marL="273050" lvl="0" indent="-185738">
              <a:lnSpc>
                <a:spcPct val="100000"/>
              </a:lnSpc>
              <a:spcBef>
                <a:spcPts val="600"/>
              </a:spcBef>
              <a:buSzPts val="1000"/>
              <a:buFont typeface="Wingdings" panose="05000000000000000000" pitchFamily="2" charset="2"/>
              <a:buChar char="q"/>
            </a:pPr>
            <a:r>
              <a:rPr lang="en-IN" sz="1400" spc="-20" dirty="0">
                <a:effectLst/>
                <a:latin typeface="Cambria" panose="02040503050406030204" pitchFamily="18" charset="0"/>
                <a:ea typeface="Cambria" panose="02040503050406030204" pitchFamily="18" charset="0"/>
              </a:rPr>
              <a:t>Always consider the </a:t>
            </a:r>
            <a:r>
              <a:rPr lang="en-IN" sz="1400" b="1" spc="-20" dirty="0">
                <a:effectLst/>
                <a:latin typeface="Cambria" panose="02040503050406030204" pitchFamily="18" charset="0"/>
                <a:ea typeface="Cambria" panose="02040503050406030204" pitchFamily="18" charset="0"/>
              </a:rPr>
              <a:t>first element as the root node.</a:t>
            </a:r>
            <a:endParaRPr lang="en-IN" sz="1400" b="1" dirty="0">
              <a:effectLst/>
              <a:latin typeface="Cambria" panose="02040503050406030204" pitchFamily="18" charset="0"/>
              <a:ea typeface="Cambria" panose="02040503050406030204" pitchFamily="18" charset="0"/>
            </a:endParaRPr>
          </a:p>
          <a:p>
            <a:pPr marL="273050" lvl="0" indent="-185738">
              <a:lnSpc>
                <a:spcPct val="100000"/>
              </a:lnSpc>
              <a:spcBef>
                <a:spcPts val="600"/>
              </a:spcBef>
              <a:buSzPts val="1000"/>
              <a:buFont typeface="Wingdings" panose="05000000000000000000" pitchFamily="2" charset="2"/>
              <a:buChar char="q"/>
            </a:pPr>
            <a:r>
              <a:rPr lang="en-IN" sz="1400" spc="-20" dirty="0">
                <a:latin typeface="Cambria" panose="02040503050406030204" pitchFamily="18" charset="0"/>
                <a:ea typeface="Cambria" panose="02040503050406030204" pitchFamily="18" charset="0"/>
              </a:rPr>
              <a:t>I</a:t>
            </a:r>
            <a:r>
              <a:rPr lang="en-IN" sz="1400" spc="-20" dirty="0">
                <a:effectLst/>
                <a:latin typeface="Cambria" panose="02040503050406030204" pitchFamily="18" charset="0"/>
                <a:ea typeface="Cambria" panose="02040503050406030204" pitchFamily="18" charset="0"/>
              </a:rPr>
              <a:t>nsert the given elements in the BST one by one:</a:t>
            </a:r>
            <a:endParaRPr lang="en-IN" sz="1400" dirty="0">
              <a:effectLst/>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73B8F914-17CC-9A9F-C593-903055319610}"/>
              </a:ext>
            </a:extLst>
          </p:cNvPr>
          <p:cNvSpPr txBox="1"/>
          <p:nvPr/>
        </p:nvSpPr>
        <p:spPr>
          <a:xfrm>
            <a:off x="7256836" y="6372701"/>
            <a:ext cx="3711102" cy="307777"/>
          </a:xfrm>
          <a:prstGeom prst="rect">
            <a:avLst/>
          </a:prstGeom>
          <a:noFill/>
        </p:spPr>
        <p:txBody>
          <a:bodyPr wrap="square">
            <a:spAutoFit/>
          </a:bodyPr>
          <a:lstStyle/>
          <a:p>
            <a:r>
              <a:rPr lang="en-IN" sz="1400" b="1" spc="-20" dirty="0">
                <a:effectLst/>
                <a:latin typeface="Cambria" panose="02040503050406030204" pitchFamily="18" charset="0"/>
                <a:ea typeface="Calibri" panose="020F0502020204030204" pitchFamily="34" charset="0"/>
                <a:cs typeface="Gautami" panose="020B0502040204020203" pitchFamily="34" charset="0"/>
              </a:rPr>
              <a:t>This is a final Binary Search Tree.</a:t>
            </a:r>
            <a:endParaRPr lang="en-IN" sz="1400" dirty="0"/>
          </a:p>
        </p:txBody>
      </p:sp>
    </p:spTree>
    <p:extLst>
      <p:ext uri="{BB962C8B-B14F-4D97-AF65-F5344CB8AC3E}">
        <p14:creationId xmlns:p14="http://schemas.microsoft.com/office/powerpoint/2010/main" val="3763566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976210-3D05-C55C-5EBC-E799BDC2B701}"/>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pic>
        <p:nvPicPr>
          <p:cNvPr id="12" name="Image 11" descr="Data Structures Tutorials - Binary Search Tree | example | BST Operations">
            <a:extLst>
              <a:ext uri="{FF2B5EF4-FFF2-40B4-BE49-F238E27FC236}">
                <a16:creationId xmlns:a16="http://schemas.microsoft.com/office/drawing/2014/main" id="{E54A5DBA-0D39-AEF3-D1A9-6D2F1E682F67}"/>
              </a:ext>
            </a:extLst>
          </p:cNvPr>
          <p:cNvPicPr>
            <a:picLocks/>
          </p:cNvPicPr>
          <p:nvPr/>
        </p:nvPicPr>
        <p:blipFill>
          <a:blip r:embed="rId2" cstate="print"/>
          <a:stretch>
            <a:fillRect/>
          </a:stretch>
        </p:blipFill>
        <p:spPr>
          <a:xfrm>
            <a:off x="978520" y="2120630"/>
            <a:ext cx="9459257" cy="4445540"/>
          </a:xfrm>
          <a:prstGeom prst="rect">
            <a:avLst/>
          </a:prstGeom>
        </p:spPr>
      </p:pic>
      <p:sp>
        <p:nvSpPr>
          <p:cNvPr id="14" name="TextBox 13">
            <a:extLst>
              <a:ext uri="{FF2B5EF4-FFF2-40B4-BE49-F238E27FC236}">
                <a16:creationId xmlns:a16="http://schemas.microsoft.com/office/drawing/2014/main" id="{AC85D0A8-3431-9129-A868-5FEE9D1E0DE7}"/>
              </a:ext>
            </a:extLst>
          </p:cNvPr>
          <p:cNvSpPr txBox="1"/>
          <p:nvPr/>
        </p:nvSpPr>
        <p:spPr>
          <a:xfrm>
            <a:off x="754337" y="892492"/>
            <a:ext cx="9907622" cy="1115690"/>
          </a:xfrm>
          <a:prstGeom prst="rect">
            <a:avLst/>
          </a:prstGeom>
          <a:noFill/>
        </p:spPr>
        <p:txBody>
          <a:bodyPr wrap="square">
            <a:spAutoFit/>
          </a:bodyPr>
          <a:lstStyle/>
          <a:p>
            <a:pPr>
              <a:lnSpc>
                <a:spcPct val="100000"/>
              </a:lnSpc>
              <a:spcBef>
                <a:spcPts val="895"/>
              </a:spcBef>
              <a:buNone/>
            </a:pPr>
            <a:r>
              <a:rPr lang="en-US" sz="1800" b="1" spc="-20" dirty="0">
                <a:effectLst/>
                <a:latin typeface="Cambria" panose="02040503050406030204" pitchFamily="18" charset="0"/>
                <a:ea typeface="Times New Roman" panose="02020603050405020304" pitchFamily="18" charset="0"/>
              </a:rPr>
              <a:t>Example-2</a:t>
            </a:r>
            <a:r>
              <a:rPr lang="en-IN" b="1" spc="-20" dirty="0">
                <a:latin typeface="Times New Roman" panose="020206030504050203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Construct</a:t>
            </a:r>
            <a:r>
              <a:rPr lang="en-US" sz="1800" spc="-1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a</a:t>
            </a:r>
            <a:r>
              <a:rPr lang="en-US" sz="1800" spc="-3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Binary</a:t>
            </a:r>
            <a:r>
              <a:rPr lang="en-US" sz="1800" spc="-1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Search</a:t>
            </a:r>
            <a:r>
              <a:rPr lang="en-US" sz="1800" spc="-1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Tree</a:t>
            </a:r>
            <a:r>
              <a:rPr lang="en-US" sz="1800" spc="-3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by</a:t>
            </a:r>
            <a:r>
              <a:rPr lang="en-US" sz="1800" spc="-3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inserting</a:t>
            </a:r>
            <a:r>
              <a:rPr lang="en-US" sz="1800" spc="-1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the</a:t>
            </a:r>
            <a:r>
              <a:rPr lang="en-US" sz="1800" spc="-2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following</a:t>
            </a:r>
            <a:r>
              <a:rPr lang="en-US" sz="1800" spc="-1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sequence</a:t>
            </a:r>
            <a:r>
              <a:rPr lang="en-US" sz="1800" spc="-2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of numbers:       </a:t>
            </a:r>
            <a:endParaRPr lang="en-IN" sz="1800" dirty="0">
              <a:effectLst/>
              <a:latin typeface="Times New Roman" panose="02020603050405020304" pitchFamily="18" charset="0"/>
              <a:ea typeface="Times New Roman" panose="02020603050405020304" pitchFamily="18" charset="0"/>
            </a:endParaRPr>
          </a:p>
          <a:p>
            <a:pPr marL="457200" indent="457200">
              <a:lnSpc>
                <a:spcPct val="100000"/>
              </a:lnSpc>
              <a:spcBef>
                <a:spcPts val="895"/>
              </a:spcBef>
              <a:buNone/>
            </a:pPr>
            <a:r>
              <a:rPr lang="en-US" sz="1800" b="1" dirty="0">
                <a:effectLst/>
                <a:latin typeface="Cambria" panose="02040503050406030204" pitchFamily="18" charset="0"/>
                <a:ea typeface="Times New Roman" panose="02020603050405020304" pitchFamily="18" charset="0"/>
              </a:rPr>
              <a:t>10, 12, 5, 4, 20, 8, 7, 15 and 13</a:t>
            </a:r>
            <a:endParaRPr lang="en-IN" sz="1800" dirty="0">
              <a:effectLst/>
              <a:latin typeface="Times New Roman" panose="02020603050405020304" pitchFamily="18" charset="0"/>
              <a:ea typeface="Times New Roman" panose="02020603050405020304" pitchFamily="18" charset="0"/>
            </a:endParaRPr>
          </a:p>
          <a:p>
            <a:pPr>
              <a:spcBef>
                <a:spcPts val="555"/>
              </a:spcBef>
              <a:buNone/>
            </a:pPr>
            <a:r>
              <a:rPr lang="en-US" sz="1800" dirty="0">
                <a:effectLst/>
                <a:latin typeface="Cambria" panose="02040503050406030204" pitchFamily="18" charset="0"/>
                <a:ea typeface="Times New Roman" panose="02020603050405020304" pitchFamily="18" charset="0"/>
              </a:rPr>
              <a:t>Above</a:t>
            </a:r>
            <a:r>
              <a:rPr lang="en-US" sz="1800" spc="-3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elements</a:t>
            </a:r>
            <a:r>
              <a:rPr lang="en-US" sz="1800" spc="-1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are</a:t>
            </a:r>
            <a:r>
              <a:rPr lang="en-US" sz="1800" spc="-3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inserted</a:t>
            </a:r>
            <a:r>
              <a:rPr lang="en-US" sz="1800" spc="-1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into</a:t>
            </a:r>
            <a:r>
              <a:rPr lang="en-US" sz="1800" spc="-1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a</a:t>
            </a:r>
            <a:r>
              <a:rPr lang="en-US" sz="1800" spc="-2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Binary</a:t>
            </a:r>
            <a:r>
              <a:rPr lang="en-US" sz="1800" spc="-3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Search</a:t>
            </a:r>
            <a:r>
              <a:rPr lang="en-US" sz="1800" spc="-1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Tree</a:t>
            </a:r>
            <a:r>
              <a:rPr lang="en-US" sz="1800" spc="-2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as</a:t>
            </a:r>
            <a:r>
              <a:rPr lang="en-US" sz="1800" spc="-15" dirty="0">
                <a:effectLst/>
                <a:latin typeface="Cambria" panose="02040503050406030204" pitchFamily="18" charset="0"/>
                <a:ea typeface="Times New Roman" panose="02020603050405020304" pitchFamily="18" charset="0"/>
              </a:rPr>
              <a:t> </a:t>
            </a:r>
            <a:r>
              <a:rPr lang="en-US" sz="1800" spc="-10" dirty="0">
                <a:effectLst/>
                <a:latin typeface="Cambria" panose="02040503050406030204" pitchFamily="18" charset="0"/>
                <a:ea typeface="Times New Roman" panose="02020603050405020304" pitchFamily="18" charset="0"/>
              </a:rPr>
              <a:t>follows:</a:t>
            </a:r>
            <a:endParaRPr lang="en-IN" sz="1800" dirty="0">
              <a:effectLst/>
              <a:latin typeface="Times New Roman" panose="02020603050405020304" pitchFamily="18" charset="0"/>
              <a:ea typeface="Times New Roman" panose="02020603050405020304" pitchFamily="18" charset="0"/>
            </a:endParaRPr>
          </a:p>
        </p:txBody>
      </p:sp>
      <p:sp>
        <p:nvSpPr>
          <p:cNvPr id="15" name="TextBox 14">
            <a:extLst>
              <a:ext uri="{FF2B5EF4-FFF2-40B4-BE49-F238E27FC236}">
                <a16:creationId xmlns:a16="http://schemas.microsoft.com/office/drawing/2014/main" id="{89B8EC29-D768-2DDB-E5B8-68747EF27604}"/>
              </a:ext>
            </a:extLst>
          </p:cNvPr>
          <p:cNvSpPr txBox="1"/>
          <p:nvPr/>
        </p:nvSpPr>
        <p:spPr>
          <a:xfrm>
            <a:off x="7304586" y="6492733"/>
            <a:ext cx="2938643" cy="307777"/>
          </a:xfrm>
          <a:prstGeom prst="rect">
            <a:avLst/>
          </a:prstGeom>
          <a:noFill/>
        </p:spPr>
        <p:txBody>
          <a:bodyPr wrap="square">
            <a:spAutoFit/>
          </a:bodyPr>
          <a:lstStyle/>
          <a:p>
            <a:r>
              <a:rPr lang="en-IN" sz="1400" b="1" spc="-20" dirty="0">
                <a:effectLst/>
                <a:latin typeface="Cambria" panose="02040503050406030204" pitchFamily="18" charset="0"/>
                <a:ea typeface="Calibri" panose="020F0502020204030204" pitchFamily="34" charset="0"/>
                <a:cs typeface="Gautami" panose="020B0502040204020203" pitchFamily="34" charset="0"/>
              </a:rPr>
              <a:t>This is a final Binary Search Tree.</a:t>
            </a:r>
            <a:endParaRPr lang="en-IN" sz="1400" dirty="0"/>
          </a:p>
        </p:txBody>
      </p:sp>
    </p:spTree>
    <p:extLst>
      <p:ext uri="{BB962C8B-B14F-4D97-AF65-F5344CB8AC3E}">
        <p14:creationId xmlns:p14="http://schemas.microsoft.com/office/powerpoint/2010/main" val="2967806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9F78D9-811E-E457-18B4-740E81285417}"/>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10" name="TextBox 9">
            <a:extLst>
              <a:ext uri="{FF2B5EF4-FFF2-40B4-BE49-F238E27FC236}">
                <a16:creationId xmlns:a16="http://schemas.microsoft.com/office/drawing/2014/main" id="{C9AC68B6-C258-9282-6499-1DBF2E934FAE}"/>
              </a:ext>
            </a:extLst>
          </p:cNvPr>
          <p:cNvSpPr txBox="1"/>
          <p:nvPr/>
        </p:nvSpPr>
        <p:spPr>
          <a:xfrm>
            <a:off x="783080" y="828301"/>
            <a:ext cx="10783108" cy="2778325"/>
          </a:xfrm>
          <a:prstGeom prst="rect">
            <a:avLst/>
          </a:prstGeom>
          <a:noFill/>
        </p:spPr>
        <p:txBody>
          <a:bodyPr wrap="square">
            <a:spAutoFit/>
          </a:bodyPr>
          <a:lstStyle/>
          <a:p>
            <a:pPr algn="just">
              <a:lnSpc>
                <a:spcPct val="107000"/>
              </a:lnSpc>
              <a:spcBef>
                <a:spcPts val="0"/>
              </a:spcBef>
              <a:spcAft>
                <a:spcPts val="600"/>
              </a:spcAft>
              <a:buNone/>
            </a:pPr>
            <a:r>
              <a:rPr lang="en-IN" sz="2000" b="1" kern="100" dirty="0">
                <a:effectLst/>
                <a:latin typeface="Cambria" panose="02040503050406030204" pitchFamily="18" charset="0"/>
                <a:ea typeface="Calibri" panose="020F0502020204030204" pitchFamily="34" charset="0"/>
                <a:cs typeface="Gautami" panose="020B0502040204020203" pitchFamily="34" charset="0"/>
              </a:rPr>
              <a:t>ii) </a:t>
            </a:r>
            <a:r>
              <a:rPr lang="en-IN" sz="2000" b="1" u="sng" kern="100" dirty="0">
                <a:effectLst/>
                <a:latin typeface="Cambria" panose="02040503050406030204" pitchFamily="18" charset="0"/>
                <a:ea typeface="Calibri" panose="020F0502020204030204" pitchFamily="34" charset="0"/>
                <a:cs typeface="Gautami" panose="020B0502040204020203" pitchFamily="34" charset="0"/>
              </a:rPr>
              <a:t>Deletion</a:t>
            </a:r>
            <a:r>
              <a:rPr lang="en-IN" sz="2000" b="1" u="sng" kern="100" spc="-30" dirty="0">
                <a:effectLst/>
                <a:latin typeface="Cambria" panose="02040503050406030204" pitchFamily="18" charset="0"/>
                <a:ea typeface="Calibri" panose="020F0502020204030204" pitchFamily="34" charset="0"/>
                <a:cs typeface="Gautami" panose="020B0502040204020203" pitchFamily="34" charset="0"/>
              </a:rPr>
              <a:t> </a:t>
            </a:r>
            <a:r>
              <a:rPr lang="en-IN" sz="2000" b="1" u="sng" kern="100" dirty="0">
                <a:effectLst/>
                <a:latin typeface="Cambria" panose="02040503050406030204" pitchFamily="18" charset="0"/>
                <a:ea typeface="Calibri" panose="020F0502020204030204" pitchFamily="34" charset="0"/>
                <a:cs typeface="Gautami" panose="020B0502040204020203" pitchFamily="34" charset="0"/>
              </a:rPr>
              <a:t>Operation</a:t>
            </a:r>
            <a:r>
              <a:rPr lang="en-IN" sz="2000" b="1" u="sng" kern="100" spc="-25" dirty="0">
                <a:effectLst/>
                <a:latin typeface="Cambria" panose="02040503050406030204" pitchFamily="18" charset="0"/>
                <a:ea typeface="Calibri" panose="020F0502020204030204" pitchFamily="34" charset="0"/>
                <a:cs typeface="Gautami" panose="020B0502040204020203" pitchFamily="34" charset="0"/>
              </a:rPr>
              <a:t> </a:t>
            </a:r>
            <a:r>
              <a:rPr lang="en-IN" sz="2000" b="1" u="sng" kern="100" dirty="0">
                <a:effectLst/>
                <a:latin typeface="Cambria" panose="02040503050406030204" pitchFamily="18" charset="0"/>
                <a:ea typeface="Calibri" panose="020F0502020204030204" pitchFamily="34" charset="0"/>
                <a:cs typeface="Gautami" panose="020B0502040204020203" pitchFamily="34" charset="0"/>
              </a:rPr>
              <a:t>in</a:t>
            </a:r>
            <a:r>
              <a:rPr lang="en-IN" sz="2000" b="1" u="sng" kern="100" spc="-25" dirty="0">
                <a:effectLst/>
                <a:latin typeface="Cambria" panose="02040503050406030204" pitchFamily="18" charset="0"/>
                <a:ea typeface="Calibri" panose="020F0502020204030204" pitchFamily="34" charset="0"/>
                <a:cs typeface="Gautami" panose="020B0502040204020203" pitchFamily="34" charset="0"/>
              </a:rPr>
              <a:t> </a:t>
            </a:r>
            <a:r>
              <a:rPr lang="en-IN" sz="2000" b="1" u="sng" kern="100" spc="-20" dirty="0">
                <a:effectLst/>
                <a:latin typeface="Cambria" panose="02040503050406030204" pitchFamily="18" charset="0"/>
                <a:ea typeface="Calibri" panose="020F0502020204030204" pitchFamily="34" charset="0"/>
                <a:cs typeface="Gautami" panose="020B0502040204020203" pitchFamily="34" charset="0"/>
              </a:rPr>
              <a:t>BST:</a:t>
            </a:r>
            <a:endParaRPr lang="en-IN" sz="1400" kern="100" dirty="0">
              <a:effectLst/>
              <a:latin typeface="Calibri" panose="020F0502020204030204" pitchFamily="34" charset="0"/>
              <a:ea typeface="Calibri" panose="020F0502020204030204" pitchFamily="34" charset="0"/>
              <a:cs typeface="Gautami" panose="020B0502040204020203" pitchFamily="34" charset="0"/>
            </a:endParaRPr>
          </a:p>
          <a:p>
            <a:pPr marR="257175" indent="360363" algn="just">
              <a:spcBef>
                <a:spcPts val="0"/>
              </a:spcBef>
              <a:spcAft>
                <a:spcPts val="600"/>
              </a:spcAft>
              <a:buNone/>
            </a:pPr>
            <a:r>
              <a:rPr lang="en-US" sz="1800" dirty="0">
                <a:effectLst/>
                <a:latin typeface="Cambria" panose="02040503050406030204" pitchFamily="18" charset="0"/>
                <a:ea typeface="Times New Roman" panose="02020603050405020304" pitchFamily="18" charset="0"/>
              </a:rPr>
              <a:t>In a binary search tree, the deletion operation is performed with O(log n) time complexity. Deleting a node from Binary search tree has following three </a:t>
            </a:r>
            <a:r>
              <a:rPr lang="en-US" sz="1800" spc="-10" dirty="0">
                <a:effectLst/>
                <a:latin typeface="Cambria" panose="02040503050406030204" pitchFamily="18" charset="0"/>
                <a:ea typeface="Times New Roman" panose="02020603050405020304" pitchFamily="18" charset="0"/>
              </a:rPr>
              <a:t>cases:</a:t>
            </a:r>
            <a:endParaRPr lang="en-IN" sz="1800" dirty="0">
              <a:effectLst/>
              <a:latin typeface="Times New Roman" panose="02020603050405020304" pitchFamily="18" charset="0"/>
              <a:ea typeface="Times New Roman" panose="02020603050405020304" pitchFamily="18" charset="0"/>
            </a:endParaRPr>
          </a:p>
          <a:p>
            <a:pPr marL="360363" marR="273050" algn="just">
              <a:lnSpc>
                <a:spcPct val="112000"/>
              </a:lnSpc>
              <a:spcBef>
                <a:spcPts val="0"/>
              </a:spcBef>
              <a:buNone/>
            </a:pPr>
            <a:r>
              <a:rPr lang="en-US" sz="1800" b="1" dirty="0">
                <a:effectLst/>
                <a:latin typeface="Cambria" panose="02040503050406030204" pitchFamily="18" charset="0"/>
                <a:ea typeface="Times New Roman" panose="02020603050405020304" pitchFamily="18" charset="0"/>
              </a:rPr>
              <a:t>Case</a:t>
            </a:r>
            <a:r>
              <a:rPr lang="en-US" sz="1800" b="1" spc="-2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1:</a:t>
            </a:r>
            <a:r>
              <a:rPr lang="en-US" sz="1800" b="1" spc="-2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Deleting</a:t>
            </a:r>
            <a:r>
              <a:rPr lang="en-US" sz="1800" b="1" spc="-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a</a:t>
            </a:r>
            <a:r>
              <a:rPr lang="en-US" sz="1800" b="1" spc="-3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Leaf</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node</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(A</a:t>
            </a:r>
            <a:r>
              <a:rPr lang="en-US" sz="1800" b="1" spc="-2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node</a:t>
            </a:r>
            <a:r>
              <a:rPr lang="en-US" sz="1800" b="1" spc="-2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with</a:t>
            </a:r>
            <a:r>
              <a:rPr lang="en-US" sz="1800" b="1" spc="-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no</a:t>
            </a:r>
            <a:r>
              <a:rPr lang="en-US" sz="1800" b="1" spc="-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children) </a:t>
            </a:r>
            <a:endParaRPr lang="en-IN" sz="1800" dirty="0">
              <a:effectLst/>
              <a:latin typeface="Times New Roman" panose="02020603050405020304" pitchFamily="18" charset="0"/>
              <a:ea typeface="Times New Roman" panose="02020603050405020304" pitchFamily="18" charset="0"/>
            </a:endParaRPr>
          </a:p>
          <a:p>
            <a:pPr marL="360363" marR="273050" algn="just">
              <a:lnSpc>
                <a:spcPct val="112000"/>
              </a:lnSpc>
              <a:spcBef>
                <a:spcPts val="0"/>
              </a:spcBef>
              <a:buNone/>
            </a:pPr>
            <a:r>
              <a:rPr lang="en-US" sz="1800" b="1" dirty="0">
                <a:effectLst/>
                <a:latin typeface="Cambria" panose="02040503050406030204" pitchFamily="18" charset="0"/>
                <a:ea typeface="Times New Roman" panose="02020603050405020304" pitchFamily="18" charset="0"/>
              </a:rPr>
              <a:t>Case 2: Deleting a node with one child</a:t>
            </a:r>
            <a:endParaRPr lang="en-IN" sz="1800" dirty="0">
              <a:effectLst/>
              <a:latin typeface="Times New Roman" panose="02020603050405020304" pitchFamily="18" charset="0"/>
              <a:ea typeface="Times New Roman" panose="02020603050405020304" pitchFamily="18" charset="0"/>
            </a:endParaRPr>
          </a:p>
          <a:p>
            <a:pPr marL="360363" marR="273050" algn="just">
              <a:lnSpc>
                <a:spcPct val="112000"/>
              </a:lnSpc>
              <a:spcBef>
                <a:spcPts val="0"/>
              </a:spcBef>
              <a:buNone/>
            </a:pPr>
            <a:r>
              <a:rPr lang="en-US" sz="1800" b="1" dirty="0">
                <a:effectLst/>
                <a:latin typeface="Cambria" panose="02040503050406030204" pitchFamily="18" charset="0"/>
                <a:ea typeface="Times New Roman" panose="02020603050405020304" pitchFamily="18" charset="0"/>
              </a:rPr>
              <a:t>Case</a:t>
            </a:r>
            <a:r>
              <a:rPr lang="en-US" sz="1800" b="1" spc="-3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3:</a:t>
            </a:r>
            <a:r>
              <a:rPr lang="en-US" sz="1800" b="1" spc="-2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Deleting</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a</a:t>
            </a:r>
            <a:r>
              <a:rPr lang="en-US" sz="1800" b="1" spc="-3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node</a:t>
            </a:r>
            <a:r>
              <a:rPr lang="en-US" sz="1800" b="1" spc="-1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with</a:t>
            </a:r>
            <a:r>
              <a:rPr lang="en-US" sz="1800" b="1" spc="-25"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two</a:t>
            </a:r>
            <a:r>
              <a:rPr lang="en-US" sz="1800" b="1" spc="-5" dirty="0">
                <a:effectLst/>
                <a:latin typeface="Cambria" panose="02040503050406030204" pitchFamily="18" charset="0"/>
                <a:ea typeface="Times New Roman" panose="02020603050405020304" pitchFamily="18" charset="0"/>
              </a:rPr>
              <a:t> </a:t>
            </a:r>
            <a:r>
              <a:rPr lang="en-US" sz="1800" b="1" spc="-10" dirty="0">
                <a:effectLst/>
                <a:latin typeface="Cambria" panose="02040503050406030204" pitchFamily="18" charset="0"/>
                <a:ea typeface="Times New Roman" panose="02020603050405020304" pitchFamily="18" charset="0"/>
              </a:rPr>
              <a:t>children</a:t>
            </a:r>
            <a:endParaRPr lang="en-IN" sz="1800" dirty="0">
              <a:effectLst/>
              <a:latin typeface="Times New Roman" panose="02020603050405020304" pitchFamily="18" charset="0"/>
              <a:ea typeface="Times New Roman" panose="02020603050405020304" pitchFamily="18" charset="0"/>
            </a:endParaRPr>
          </a:p>
          <a:p>
            <a:pPr marR="252095" algn="just">
              <a:spcBef>
                <a:spcPts val="760"/>
              </a:spcBef>
              <a:buNone/>
            </a:pPr>
            <a:r>
              <a:rPr lang="en-US" sz="1800" b="1" dirty="0">
                <a:effectLst/>
                <a:latin typeface="Cambria" panose="02040503050406030204" pitchFamily="18" charset="0"/>
                <a:ea typeface="Times New Roman" panose="02020603050405020304" pitchFamily="18" charset="0"/>
              </a:rPr>
              <a:t>Example: </a:t>
            </a:r>
            <a:r>
              <a:rPr lang="en-US" sz="1800" dirty="0">
                <a:effectLst/>
                <a:latin typeface="Cambria" panose="02040503050406030204" pitchFamily="18" charset="0"/>
                <a:ea typeface="Times New Roman" panose="02020603050405020304" pitchFamily="18" charset="0"/>
              </a:rPr>
              <a:t>To </a:t>
            </a:r>
            <a:r>
              <a:rPr lang="en-US" sz="1800" b="1" dirty="0">
                <a:effectLst/>
                <a:latin typeface="Cambria" panose="02040503050406030204" pitchFamily="18" charset="0"/>
                <a:ea typeface="Times New Roman" panose="02020603050405020304" pitchFamily="18" charset="0"/>
              </a:rPr>
              <a:t>delete a number (or Key) </a:t>
            </a:r>
            <a:r>
              <a:rPr lang="en-US" sz="2000" b="1" dirty="0">
                <a:effectLst/>
                <a:latin typeface="Cambria" panose="02040503050406030204" pitchFamily="18" charset="0"/>
                <a:ea typeface="Times New Roman" panose="02020603050405020304" pitchFamily="18" charset="0"/>
              </a:rPr>
              <a:t>20</a:t>
            </a:r>
            <a:r>
              <a:rPr lang="en-US" sz="1800" dirty="0">
                <a:effectLst/>
                <a:latin typeface="Cambria" panose="02040503050406030204" pitchFamily="18" charset="0"/>
                <a:ea typeface="Times New Roman" panose="02020603050405020304" pitchFamily="18" charset="0"/>
              </a:rPr>
              <a:t> from a Binary Search Tree with the following sequence of numbers</a:t>
            </a:r>
            <a:r>
              <a:rPr lang="en-US" dirty="0">
                <a:latin typeface="Cambria" panose="02040503050406030204" pitchFamily="18" charset="0"/>
                <a:ea typeface="Times New Roman" panose="02020603050405020304" pitchFamily="18" charset="0"/>
              </a:rPr>
              <a:t>: </a:t>
            </a:r>
            <a:r>
              <a:rPr lang="en-US" sz="2000" dirty="0">
                <a:effectLst/>
                <a:latin typeface="Cambria" panose="02040503050406030204" pitchFamily="18" charset="0"/>
                <a:ea typeface="Times New Roman" panose="02020603050405020304" pitchFamily="18" charset="0"/>
              </a:rPr>
              <a:t>15, 10, 20, 8, 12, 18, 30, 16 and 19.</a:t>
            </a:r>
            <a:endParaRPr lang="en-US" dirty="0">
              <a:latin typeface="Cambria" panose="02040503050406030204" pitchFamily="18" charset="0"/>
              <a:ea typeface="Times New Roman" panose="02020603050405020304" pitchFamily="18" charset="0"/>
            </a:endParaRPr>
          </a:p>
        </p:txBody>
      </p:sp>
      <p:pic>
        <p:nvPicPr>
          <p:cNvPr id="11" name="Image 12" descr="Deletion from BST (Binary Search Tree) - Techie Delight">
            <a:extLst>
              <a:ext uri="{FF2B5EF4-FFF2-40B4-BE49-F238E27FC236}">
                <a16:creationId xmlns:a16="http://schemas.microsoft.com/office/drawing/2014/main" id="{F14423E3-0A5B-2AE3-D14E-4A01F3C65BBF}"/>
              </a:ext>
            </a:extLst>
          </p:cNvPr>
          <p:cNvPicPr>
            <a:picLocks/>
          </p:cNvPicPr>
          <p:nvPr/>
        </p:nvPicPr>
        <p:blipFill>
          <a:blip r:embed="rId2" cstate="print"/>
          <a:stretch>
            <a:fillRect/>
          </a:stretch>
        </p:blipFill>
        <p:spPr>
          <a:xfrm>
            <a:off x="6031149" y="3326861"/>
            <a:ext cx="5700407" cy="3302742"/>
          </a:xfrm>
          <a:prstGeom prst="rect">
            <a:avLst/>
          </a:prstGeom>
        </p:spPr>
      </p:pic>
      <p:sp>
        <p:nvSpPr>
          <p:cNvPr id="13" name="TextBox 12">
            <a:extLst>
              <a:ext uri="{FF2B5EF4-FFF2-40B4-BE49-F238E27FC236}">
                <a16:creationId xmlns:a16="http://schemas.microsoft.com/office/drawing/2014/main" id="{E2D627C4-7887-352C-2C87-67AD392F93E0}"/>
              </a:ext>
            </a:extLst>
          </p:cNvPr>
          <p:cNvSpPr txBox="1"/>
          <p:nvPr/>
        </p:nvSpPr>
        <p:spPr>
          <a:xfrm>
            <a:off x="595821" y="3676708"/>
            <a:ext cx="5535038" cy="2893100"/>
          </a:xfrm>
          <a:prstGeom prst="rect">
            <a:avLst/>
          </a:prstGeom>
          <a:noFill/>
        </p:spPr>
        <p:txBody>
          <a:bodyPr wrap="square">
            <a:spAutoFit/>
          </a:bodyPr>
          <a:lstStyle/>
          <a:p>
            <a:pPr marR="252095" algn="just">
              <a:spcBef>
                <a:spcPts val="760"/>
              </a:spcBef>
              <a:buNone/>
            </a:pP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Deleting a node with two children in a BST requires finding either the </a:t>
            </a:r>
            <a:r>
              <a:rPr lang="en-IN" b="1" kern="100" dirty="0">
                <a:solidFill>
                  <a:srgbClr val="001D35"/>
                </a:solidFill>
                <a:latin typeface="Cambria" panose="02040503050406030204" pitchFamily="18" charset="0"/>
                <a:ea typeface="Cambria" panose="02040503050406030204" pitchFamily="18" charset="0"/>
                <a:cs typeface="Arial" panose="020B0604020202020204" pitchFamily="34" charset="0"/>
              </a:rPr>
              <a:t>in-order successor </a:t>
            </a: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a:t>
            </a:r>
            <a:r>
              <a:rPr lang="en-IN" b="1" kern="100" dirty="0">
                <a:solidFill>
                  <a:srgbClr val="001D35"/>
                </a:solidFill>
                <a:latin typeface="Cambria" panose="02040503050406030204" pitchFamily="18" charset="0"/>
                <a:ea typeface="Cambria" panose="02040503050406030204" pitchFamily="18" charset="0"/>
                <a:cs typeface="Arial" panose="020B0604020202020204" pitchFamily="34" charset="0"/>
              </a:rPr>
              <a:t>smallest node in the right subtree</a:t>
            </a: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 or the </a:t>
            </a:r>
            <a:r>
              <a:rPr lang="en-IN" b="1" kern="100" dirty="0">
                <a:solidFill>
                  <a:srgbClr val="001D35"/>
                </a:solidFill>
                <a:latin typeface="Cambria" panose="02040503050406030204" pitchFamily="18" charset="0"/>
                <a:ea typeface="Cambria" panose="02040503050406030204" pitchFamily="18" charset="0"/>
                <a:cs typeface="Arial" panose="020B0604020202020204" pitchFamily="34" charset="0"/>
              </a:rPr>
              <a:t>in-order predecessor</a:t>
            </a: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 (</a:t>
            </a:r>
            <a:r>
              <a:rPr lang="en-IN" b="1" kern="100" dirty="0">
                <a:solidFill>
                  <a:srgbClr val="001D35"/>
                </a:solidFill>
                <a:latin typeface="Cambria" panose="02040503050406030204" pitchFamily="18" charset="0"/>
                <a:ea typeface="Cambria" panose="02040503050406030204" pitchFamily="18" charset="0"/>
                <a:cs typeface="Arial" panose="020B0604020202020204" pitchFamily="34" charset="0"/>
              </a:rPr>
              <a:t>largest node in the left subtree</a:t>
            </a: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 </a:t>
            </a:r>
          </a:p>
          <a:p>
            <a:pPr marR="252095" algn="just">
              <a:spcBef>
                <a:spcPts val="760"/>
              </a:spcBef>
            </a:pPr>
            <a:r>
              <a:rPr lang="en-US" dirty="0">
                <a:latin typeface="Cambria" panose="02040503050406030204" pitchFamily="18" charset="0"/>
                <a:ea typeface="Times New Roman" panose="02020603050405020304" pitchFamily="18" charset="0"/>
              </a:rPr>
              <a:t>The deletion process is as follows:</a:t>
            </a:r>
            <a:endParaRPr lang="en-IN" b="1" kern="100" dirty="0">
              <a:solidFill>
                <a:srgbClr val="001D35"/>
              </a:solidFill>
              <a:latin typeface="Cambria" panose="02040503050406030204" pitchFamily="18" charset="0"/>
              <a:ea typeface="Cambria" panose="02040503050406030204" pitchFamily="18" charset="0"/>
              <a:cs typeface="Arial" panose="020B0604020202020204" pitchFamily="34" charset="0"/>
            </a:endParaRPr>
          </a:p>
          <a:p>
            <a:pPr marR="252095" algn="just">
              <a:spcBef>
                <a:spcPts val="760"/>
              </a:spcBef>
            </a:pPr>
            <a:r>
              <a:rPr lang="en-IN" b="1" kern="100" dirty="0">
                <a:solidFill>
                  <a:srgbClr val="001D35"/>
                </a:solidFill>
                <a:latin typeface="Cambria" panose="02040503050406030204" pitchFamily="18" charset="0"/>
                <a:ea typeface="Cambria" panose="02040503050406030204" pitchFamily="18" charset="0"/>
                <a:cs typeface="Arial" panose="020B0604020202020204" pitchFamily="34" charset="0"/>
              </a:rPr>
              <a:t>in-order: </a:t>
            </a: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8 10 12 15 16 18 </a:t>
            </a:r>
            <a:r>
              <a:rPr lang="en-IN" b="1" kern="100" dirty="0">
                <a:solidFill>
                  <a:srgbClr val="FF0000"/>
                </a:solidFill>
                <a:latin typeface="Cambria" panose="02040503050406030204" pitchFamily="18" charset="0"/>
                <a:ea typeface="Cambria" panose="02040503050406030204" pitchFamily="18" charset="0"/>
                <a:cs typeface="Arial" panose="020B0604020202020204" pitchFamily="34" charset="0"/>
              </a:rPr>
              <a:t>19</a:t>
            </a: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 </a:t>
            </a:r>
            <a:r>
              <a:rPr lang="en-IN" b="1" kern="100" dirty="0">
                <a:solidFill>
                  <a:srgbClr val="001D35"/>
                </a:solidFill>
                <a:latin typeface="Cambria" panose="02040503050406030204" pitchFamily="18" charset="0"/>
                <a:ea typeface="Cambria" panose="02040503050406030204" pitchFamily="18" charset="0"/>
                <a:cs typeface="Arial" panose="020B0604020202020204" pitchFamily="34" charset="0"/>
              </a:rPr>
              <a:t>20</a:t>
            </a: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 </a:t>
            </a:r>
            <a:r>
              <a:rPr lang="en-IN" b="1" kern="100" dirty="0">
                <a:solidFill>
                  <a:srgbClr val="FF0000"/>
                </a:solidFill>
                <a:latin typeface="Cambria" panose="02040503050406030204" pitchFamily="18" charset="0"/>
                <a:ea typeface="Cambria" panose="02040503050406030204" pitchFamily="18" charset="0"/>
                <a:cs typeface="Arial" panose="020B0604020202020204" pitchFamily="34" charset="0"/>
              </a:rPr>
              <a:t>30</a:t>
            </a: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 </a:t>
            </a:r>
            <a:endParaRPr lang="en-IN" dirty="0"/>
          </a:p>
          <a:p>
            <a:pPr marR="252095" algn="just">
              <a:spcBef>
                <a:spcPts val="760"/>
              </a:spcBef>
              <a:buNone/>
            </a:pP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In the given example, </a:t>
            </a:r>
            <a:r>
              <a:rPr lang="en-IN" b="1" kern="100" dirty="0">
                <a:solidFill>
                  <a:srgbClr val="001D35"/>
                </a:solidFill>
                <a:latin typeface="Cambria" panose="02040503050406030204" pitchFamily="18" charset="0"/>
                <a:ea typeface="Cambria" panose="02040503050406030204" pitchFamily="18" charset="0"/>
                <a:cs typeface="Arial" panose="020B0604020202020204" pitchFamily="34" charset="0"/>
              </a:rPr>
              <a:t>replace the node 20</a:t>
            </a: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 to be deleted with its </a:t>
            </a:r>
            <a:r>
              <a:rPr lang="en-IN" b="1" kern="100" dirty="0">
                <a:solidFill>
                  <a:srgbClr val="001D35"/>
                </a:solidFill>
                <a:latin typeface="Cambria" panose="02040503050406030204" pitchFamily="18" charset="0"/>
                <a:ea typeface="Cambria" panose="02040503050406030204" pitchFamily="18" charset="0"/>
                <a:cs typeface="Arial" panose="020B0604020202020204" pitchFamily="34" charset="0"/>
              </a:rPr>
              <a:t>in-order predecessor 19</a:t>
            </a:r>
            <a:r>
              <a:rPr lang="en-IN" kern="100" dirty="0">
                <a:solidFill>
                  <a:srgbClr val="001D35"/>
                </a:solidFill>
                <a:latin typeface="Cambria" panose="02040503050406030204" pitchFamily="18" charset="0"/>
                <a:ea typeface="Cambria" panose="02040503050406030204" pitchFamily="18" charset="0"/>
                <a:cs typeface="Arial" panose="020B0604020202020204" pitchFamily="34" charset="0"/>
              </a:rPr>
              <a:t>, and then remove the predecessor from its original position. </a:t>
            </a:r>
          </a:p>
        </p:txBody>
      </p:sp>
    </p:spTree>
    <p:extLst>
      <p:ext uri="{BB962C8B-B14F-4D97-AF65-F5344CB8AC3E}">
        <p14:creationId xmlns:p14="http://schemas.microsoft.com/office/powerpoint/2010/main" val="257005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E43AF-7A0D-2FBB-23A9-A52C6C01ECB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B40404F-CB07-5BC6-E144-75F5593D74D9}"/>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8" name="TextBox 7">
            <a:extLst>
              <a:ext uri="{FF2B5EF4-FFF2-40B4-BE49-F238E27FC236}">
                <a16:creationId xmlns:a16="http://schemas.microsoft.com/office/drawing/2014/main" id="{ABF85386-D4A8-BC71-3EC7-2370065AF70D}"/>
              </a:ext>
            </a:extLst>
          </p:cNvPr>
          <p:cNvSpPr txBox="1"/>
          <p:nvPr/>
        </p:nvSpPr>
        <p:spPr>
          <a:xfrm>
            <a:off x="729574" y="1045358"/>
            <a:ext cx="10364822" cy="3063596"/>
          </a:xfrm>
          <a:prstGeom prst="rect">
            <a:avLst/>
          </a:prstGeom>
          <a:noFill/>
        </p:spPr>
        <p:txBody>
          <a:bodyPr wrap="square">
            <a:spAutoFit/>
          </a:bodyPr>
          <a:lstStyle/>
          <a:p>
            <a:pPr algn="just">
              <a:lnSpc>
                <a:spcPts val="1950"/>
              </a:lnSpc>
              <a:spcAft>
                <a:spcPts val="800"/>
              </a:spcAft>
              <a:buNone/>
            </a:pPr>
            <a:r>
              <a:rPr lang="en-IN" sz="2200" b="1" kern="100" dirty="0">
                <a:solidFill>
                  <a:srgbClr val="001D35"/>
                </a:solidFill>
                <a:effectLst/>
                <a:latin typeface="Cambria" panose="02040503050406030204" pitchFamily="18" charset="0"/>
                <a:ea typeface="Cambria" panose="02040503050406030204" pitchFamily="18" charset="0"/>
                <a:cs typeface="Arial" panose="020B0604020202020204" pitchFamily="34" charset="0"/>
              </a:rPr>
              <a:t>Scenario: Deleting a node with two children </a:t>
            </a:r>
            <a:endParaRPr lang="en-IN" sz="2200" kern="100" dirty="0">
              <a:effectLst/>
              <a:latin typeface="Cambria" panose="02040503050406030204" pitchFamily="18" charset="0"/>
              <a:ea typeface="Cambria" panose="02040503050406030204" pitchFamily="18" charset="0"/>
              <a:cs typeface="Gautami" panose="020B0502040204020203" pitchFamily="34" charset="0"/>
            </a:endParaRPr>
          </a:p>
          <a:p>
            <a:pPr algn="just">
              <a:lnSpc>
                <a:spcPct val="107000"/>
              </a:lnSpc>
              <a:spcAft>
                <a:spcPts val="800"/>
              </a:spcAft>
              <a:buNone/>
            </a:pPr>
            <a:r>
              <a:rPr lang="en-IN" sz="2200" b="1" kern="100" dirty="0">
                <a:solidFill>
                  <a:srgbClr val="001D35"/>
                </a:solidFill>
                <a:effectLst/>
                <a:latin typeface="Cambria" panose="02040503050406030204" pitchFamily="18" charset="0"/>
                <a:ea typeface="Cambria" panose="02040503050406030204" pitchFamily="18" charset="0"/>
                <a:cs typeface="Arial" panose="020B0604020202020204" pitchFamily="34" charset="0"/>
              </a:rPr>
              <a:t>Question</a:t>
            </a:r>
            <a:r>
              <a:rPr lang="en-IN" sz="2200" kern="100" dirty="0">
                <a:solidFill>
                  <a:srgbClr val="001D35"/>
                </a:solidFill>
                <a:effectLst/>
                <a:latin typeface="Cambria" panose="02040503050406030204" pitchFamily="18" charset="0"/>
                <a:ea typeface="Cambria" panose="02040503050406030204" pitchFamily="18" charset="0"/>
                <a:cs typeface="Arial" panose="020B0604020202020204" pitchFamily="34" charset="0"/>
              </a:rPr>
              <a:t>: A BST contains a node with both a left and right child that needs to be deleted. How would you handle this deletion to maintain the BST's properties? </a:t>
            </a:r>
            <a:endParaRPr lang="en-IN" sz="2200" kern="100" dirty="0">
              <a:effectLst/>
              <a:latin typeface="Cambria" panose="02040503050406030204" pitchFamily="18" charset="0"/>
              <a:ea typeface="Cambria" panose="02040503050406030204" pitchFamily="18" charset="0"/>
              <a:cs typeface="Gautami" panose="020B0502040204020203" pitchFamily="34" charset="0"/>
            </a:endParaRPr>
          </a:p>
          <a:p>
            <a:pPr algn="just">
              <a:lnSpc>
                <a:spcPct val="107000"/>
              </a:lnSpc>
              <a:spcAft>
                <a:spcPts val="800"/>
              </a:spcAft>
              <a:buNone/>
            </a:pPr>
            <a:r>
              <a:rPr lang="en-IN" sz="2200" b="1" kern="100" dirty="0">
                <a:solidFill>
                  <a:srgbClr val="001D35"/>
                </a:solidFill>
                <a:effectLst/>
                <a:latin typeface="Cambria" panose="02040503050406030204" pitchFamily="18" charset="0"/>
                <a:ea typeface="Cambria" panose="02040503050406030204" pitchFamily="18" charset="0"/>
                <a:cs typeface="Arial" panose="020B0604020202020204" pitchFamily="34" charset="0"/>
              </a:rPr>
              <a:t>Answer:</a:t>
            </a:r>
            <a:r>
              <a:rPr lang="en-IN" sz="2200" kern="100" dirty="0">
                <a:solidFill>
                  <a:srgbClr val="001D35"/>
                </a:solidFill>
                <a:effectLst/>
                <a:latin typeface="Cambria" panose="02040503050406030204" pitchFamily="18" charset="0"/>
                <a:ea typeface="Cambria" panose="02040503050406030204" pitchFamily="18" charset="0"/>
                <a:cs typeface="Arial" panose="020B0604020202020204" pitchFamily="34" charset="0"/>
              </a:rPr>
              <a:t> Deleting a node with two children in a BST requires finding either the </a:t>
            </a:r>
            <a:r>
              <a:rPr lang="en-IN" sz="2200" b="1" kern="100" dirty="0">
                <a:solidFill>
                  <a:srgbClr val="001D35"/>
                </a:solidFill>
                <a:effectLst/>
                <a:latin typeface="Cambria" panose="02040503050406030204" pitchFamily="18" charset="0"/>
                <a:ea typeface="Cambria" panose="02040503050406030204" pitchFamily="18" charset="0"/>
                <a:cs typeface="Arial" panose="020B0604020202020204" pitchFamily="34" charset="0"/>
              </a:rPr>
              <a:t>in-order successor </a:t>
            </a:r>
            <a:r>
              <a:rPr lang="en-IN" sz="2200" kern="100" dirty="0">
                <a:solidFill>
                  <a:srgbClr val="001D35"/>
                </a:solidFill>
                <a:effectLst/>
                <a:latin typeface="Cambria" panose="02040503050406030204" pitchFamily="18" charset="0"/>
                <a:ea typeface="Cambria" panose="02040503050406030204" pitchFamily="18" charset="0"/>
                <a:cs typeface="Arial" panose="020B0604020202020204" pitchFamily="34" charset="0"/>
              </a:rPr>
              <a:t>(smallest node in the right subtree) or the </a:t>
            </a:r>
            <a:r>
              <a:rPr lang="en-IN" sz="2200" b="1" kern="100" dirty="0">
                <a:solidFill>
                  <a:srgbClr val="001D35"/>
                </a:solidFill>
                <a:effectLst/>
                <a:latin typeface="Cambria" panose="02040503050406030204" pitchFamily="18" charset="0"/>
                <a:ea typeface="Cambria" panose="02040503050406030204" pitchFamily="18" charset="0"/>
                <a:cs typeface="Arial" panose="020B0604020202020204" pitchFamily="34" charset="0"/>
              </a:rPr>
              <a:t>in-order predecessor</a:t>
            </a:r>
            <a:r>
              <a:rPr lang="en-IN" sz="2200" kern="100" dirty="0">
                <a:solidFill>
                  <a:srgbClr val="001D35"/>
                </a:solidFill>
                <a:effectLst/>
                <a:latin typeface="Cambria" panose="02040503050406030204" pitchFamily="18" charset="0"/>
                <a:ea typeface="Cambria" panose="02040503050406030204" pitchFamily="18" charset="0"/>
                <a:cs typeface="Arial" panose="020B0604020202020204" pitchFamily="34" charset="0"/>
              </a:rPr>
              <a:t> (largest node in the left subtree). Replace the node to be deleted with its in-order successor or predecessor, and then remove the successor/predecessor from its original position. </a:t>
            </a:r>
            <a:endParaRPr lang="en-IN" sz="2200" kern="100" dirty="0">
              <a:effectLst/>
              <a:latin typeface="Cambria" panose="02040503050406030204" pitchFamily="18" charset="0"/>
              <a:ea typeface="Cambria" panose="02040503050406030204" pitchFamily="18" charset="0"/>
              <a:cs typeface="Gautami" panose="020B0502040204020203" pitchFamily="34" charset="0"/>
            </a:endParaRPr>
          </a:p>
        </p:txBody>
      </p:sp>
    </p:spTree>
    <p:extLst>
      <p:ext uri="{BB962C8B-B14F-4D97-AF65-F5344CB8AC3E}">
        <p14:creationId xmlns:p14="http://schemas.microsoft.com/office/powerpoint/2010/main" val="4036997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2E795-4094-9A26-E0F8-59B55BF5610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B1E25BF-7AF9-B2E4-5375-3D55595EAE26}"/>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4" name="TextBox 3">
            <a:extLst>
              <a:ext uri="{FF2B5EF4-FFF2-40B4-BE49-F238E27FC236}">
                <a16:creationId xmlns:a16="http://schemas.microsoft.com/office/drawing/2014/main" id="{19F5E9A2-C61A-CBC3-F94F-C1F160239CA5}"/>
              </a:ext>
            </a:extLst>
          </p:cNvPr>
          <p:cNvSpPr txBox="1"/>
          <p:nvPr/>
        </p:nvSpPr>
        <p:spPr>
          <a:xfrm>
            <a:off x="642024" y="937991"/>
            <a:ext cx="10914435" cy="5428281"/>
          </a:xfrm>
          <a:prstGeom prst="rect">
            <a:avLst/>
          </a:prstGeom>
          <a:noFill/>
        </p:spPr>
        <p:txBody>
          <a:bodyPr wrap="square">
            <a:spAutoFit/>
          </a:bodyPr>
          <a:lstStyle/>
          <a:p>
            <a:pPr algn="just">
              <a:lnSpc>
                <a:spcPct val="107000"/>
              </a:lnSpc>
              <a:spcAft>
                <a:spcPts val="800"/>
              </a:spcAft>
              <a:buNone/>
            </a:pPr>
            <a:r>
              <a:rPr lang="en-IN" sz="2000" b="1" kern="100" dirty="0">
                <a:effectLst/>
                <a:latin typeface="Cambria" panose="02040503050406030204" pitchFamily="18" charset="0"/>
                <a:ea typeface="Calibri" panose="020F0502020204030204" pitchFamily="34" charset="0"/>
                <a:cs typeface="Gautami" panose="020B0502040204020203" pitchFamily="34" charset="0"/>
              </a:rPr>
              <a:t>iii) </a:t>
            </a:r>
            <a:r>
              <a:rPr lang="en-IN" sz="2000" b="1" u="sng" kern="100" dirty="0">
                <a:effectLst/>
                <a:latin typeface="Cambria" panose="02040503050406030204" pitchFamily="18" charset="0"/>
                <a:ea typeface="Calibri" panose="020F0502020204030204" pitchFamily="34" charset="0"/>
                <a:cs typeface="Gautami" panose="020B0502040204020203" pitchFamily="34" charset="0"/>
              </a:rPr>
              <a:t>Search</a:t>
            </a:r>
            <a:r>
              <a:rPr lang="en-IN" sz="2000" b="1" u="sng" kern="100" spc="-20" dirty="0">
                <a:effectLst/>
                <a:latin typeface="Cambria" panose="02040503050406030204" pitchFamily="18" charset="0"/>
                <a:ea typeface="Calibri" panose="020F0502020204030204" pitchFamily="34" charset="0"/>
                <a:cs typeface="Gautami" panose="020B0502040204020203" pitchFamily="34" charset="0"/>
              </a:rPr>
              <a:t> </a:t>
            </a:r>
            <a:r>
              <a:rPr lang="en-IN" sz="2000" b="1" u="sng" kern="100" dirty="0">
                <a:effectLst/>
                <a:latin typeface="Cambria" panose="02040503050406030204" pitchFamily="18" charset="0"/>
                <a:ea typeface="Calibri" panose="020F0502020204030204" pitchFamily="34" charset="0"/>
                <a:cs typeface="Gautami" panose="020B0502040204020203" pitchFamily="34" charset="0"/>
              </a:rPr>
              <a:t>Operation</a:t>
            </a:r>
            <a:r>
              <a:rPr lang="en-IN" sz="2000" b="1" u="sng" kern="100" spc="-30" dirty="0">
                <a:effectLst/>
                <a:latin typeface="Cambria" panose="02040503050406030204" pitchFamily="18" charset="0"/>
                <a:ea typeface="Calibri" panose="020F0502020204030204" pitchFamily="34" charset="0"/>
                <a:cs typeface="Gautami" panose="020B0502040204020203" pitchFamily="34" charset="0"/>
              </a:rPr>
              <a:t> </a:t>
            </a:r>
            <a:r>
              <a:rPr lang="en-IN" sz="2000" b="1" u="sng" kern="100" dirty="0">
                <a:effectLst/>
                <a:latin typeface="Cambria" panose="02040503050406030204" pitchFamily="18" charset="0"/>
                <a:ea typeface="Calibri" panose="020F0502020204030204" pitchFamily="34" charset="0"/>
                <a:cs typeface="Gautami" panose="020B0502040204020203" pitchFamily="34" charset="0"/>
              </a:rPr>
              <a:t>in</a:t>
            </a:r>
            <a:r>
              <a:rPr lang="en-IN" sz="2000" b="1" u="sng" kern="100" spc="-30" dirty="0">
                <a:effectLst/>
                <a:latin typeface="Cambria" panose="02040503050406030204" pitchFamily="18" charset="0"/>
                <a:ea typeface="Calibri" panose="020F0502020204030204" pitchFamily="34" charset="0"/>
                <a:cs typeface="Gautami" panose="020B0502040204020203" pitchFamily="34" charset="0"/>
              </a:rPr>
              <a:t> </a:t>
            </a:r>
            <a:r>
              <a:rPr lang="en-IN" sz="2000" b="1" u="sng" kern="100" spc="-20" dirty="0">
                <a:effectLst/>
                <a:latin typeface="Cambria" panose="02040503050406030204" pitchFamily="18" charset="0"/>
                <a:ea typeface="Calibri" panose="020F0502020204030204" pitchFamily="34" charset="0"/>
                <a:cs typeface="Gautami" panose="020B0502040204020203" pitchFamily="34" charset="0"/>
              </a:rPr>
              <a:t>BST</a:t>
            </a:r>
            <a:r>
              <a:rPr lang="en-IN" sz="2000" b="1" kern="100" spc="-20" dirty="0">
                <a:effectLst/>
                <a:latin typeface="Cambria" panose="02040503050406030204" pitchFamily="18" charset="0"/>
                <a:ea typeface="Calibri" panose="020F0502020204030204" pitchFamily="34" charset="0"/>
                <a:cs typeface="Gautami" panose="020B0502040204020203" pitchFamily="34" charset="0"/>
              </a:rPr>
              <a:t>:</a:t>
            </a:r>
            <a:endParaRPr lang="en-IN" sz="1400" kern="100" dirty="0">
              <a:effectLst/>
              <a:latin typeface="Calibri" panose="020F0502020204030204" pitchFamily="34" charset="0"/>
              <a:ea typeface="Calibri" panose="020F0502020204030204" pitchFamily="34" charset="0"/>
              <a:cs typeface="Gautami" panose="020B0502040204020203" pitchFamily="34" charset="0"/>
            </a:endParaRPr>
          </a:p>
          <a:p>
            <a:pPr marR="509905" indent="457200" algn="just">
              <a:lnSpc>
                <a:spcPct val="112000"/>
              </a:lnSpc>
              <a:spcBef>
                <a:spcPts val="575"/>
              </a:spcBef>
              <a:buNone/>
            </a:pPr>
            <a:r>
              <a:rPr lang="en-US" sz="1800" dirty="0">
                <a:effectLst/>
                <a:latin typeface="Cambria" panose="02040503050406030204" pitchFamily="18" charset="0"/>
                <a:ea typeface="Times New Roman" panose="02020603050405020304" pitchFamily="18" charset="0"/>
              </a:rPr>
              <a:t>In</a:t>
            </a:r>
            <a:r>
              <a:rPr lang="en-US" sz="1800" spc="-1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a</a:t>
            </a:r>
            <a:r>
              <a:rPr lang="en-US" sz="1800" spc="-2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binary</a:t>
            </a:r>
            <a:r>
              <a:rPr lang="en-US" sz="1800" spc="-1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search</a:t>
            </a:r>
            <a:r>
              <a:rPr lang="en-US" sz="1800" spc="-2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tree,</a:t>
            </a:r>
            <a:r>
              <a:rPr lang="en-US" sz="1800" spc="-2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the</a:t>
            </a:r>
            <a:r>
              <a:rPr lang="en-US" sz="1800" spc="-3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search</a:t>
            </a:r>
            <a:r>
              <a:rPr lang="en-US" sz="1800" spc="-25"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operation</a:t>
            </a:r>
            <a:r>
              <a:rPr lang="en-US" sz="1800" spc="-1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is</a:t>
            </a:r>
            <a:r>
              <a:rPr lang="en-US" sz="1800" spc="-1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performed</a:t>
            </a:r>
            <a:r>
              <a:rPr lang="en-US" sz="1800" spc="-1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with</a:t>
            </a:r>
            <a:r>
              <a:rPr lang="en-US" sz="1800" spc="-3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O(log</a:t>
            </a:r>
            <a:r>
              <a:rPr lang="en-US" sz="1800" spc="-1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n) time complexity. The search operation is performed as follows:</a:t>
            </a:r>
            <a:endParaRPr lang="en-IN" sz="1800" dirty="0">
              <a:effectLst/>
              <a:latin typeface="Times New Roman" panose="02020603050405020304" pitchFamily="18" charset="0"/>
              <a:ea typeface="Times New Roman" panose="02020603050405020304" pitchFamily="18" charset="0"/>
            </a:endParaRPr>
          </a:p>
          <a:p>
            <a:pPr marR="509905" indent="457200" algn="just">
              <a:lnSpc>
                <a:spcPct val="112000"/>
              </a:lnSpc>
              <a:spcBef>
                <a:spcPts val="575"/>
              </a:spcBef>
              <a:buNone/>
            </a:pPr>
            <a:r>
              <a:rPr lang="en-US" sz="700" dirty="0">
                <a:effectLst/>
                <a:latin typeface="Cambria" panose="020405030504060302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808038" marR="273685" indent="-720725" algn="just">
              <a:lnSpc>
                <a:spcPct val="112000"/>
              </a:lnSpc>
              <a:buNone/>
            </a:pPr>
            <a:r>
              <a:rPr lang="en-US" sz="1800" b="1" dirty="0">
                <a:effectLst/>
                <a:latin typeface="Cambria" panose="02040503050406030204" pitchFamily="18" charset="0"/>
                <a:ea typeface="Times New Roman" panose="02020603050405020304" pitchFamily="18" charset="0"/>
              </a:rPr>
              <a:t>Step 1: Read the search element from the user.</a:t>
            </a:r>
            <a:endParaRPr lang="en-IN" sz="1800" dirty="0">
              <a:effectLst/>
              <a:latin typeface="Times New Roman" panose="02020603050405020304" pitchFamily="18" charset="0"/>
              <a:ea typeface="Times New Roman" panose="02020603050405020304" pitchFamily="18" charset="0"/>
            </a:endParaRPr>
          </a:p>
          <a:p>
            <a:pPr marL="808038" marR="273685" indent="-720725" algn="just">
              <a:lnSpc>
                <a:spcPct val="112000"/>
              </a:lnSpc>
              <a:buNone/>
            </a:pPr>
            <a:r>
              <a:rPr lang="en-US" sz="1800" b="1" dirty="0">
                <a:effectLst/>
                <a:latin typeface="Cambria" panose="02040503050406030204" pitchFamily="18" charset="0"/>
                <a:ea typeface="Times New Roman" panose="02020603050405020304" pitchFamily="18" charset="0"/>
              </a:rPr>
              <a:t>Step 2: Compare, the search element with the value of root node in the tree.</a:t>
            </a:r>
            <a:endParaRPr lang="en-IN" sz="1800" dirty="0">
              <a:effectLst/>
              <a:latin typeface="Times New Roman" panose="02020603050405020304" pitchFamily="18" charset="0"/>
              <a:ea typeface="Times New Roman" panose="02020603050405020304" pitchFamily="18" charset="0"/>
            </a:endParaRPr>
          </a:p>
          <a:p>
            <a:pPr marL="808038" marR="273685" indent="-720725" algn="just">
              <a:lnSpc>
                <a:spcPct val="112000"/>
              </a:lnSpc>
              <a:buNone/>
            </a:pPr>
            <a:r>
              <a:rPr lang="en-US" sz="1800" b="1" dirty="0">
                <a:effectLst/>
                <a:latin typeface="Cambria" panose="02040503050406030204" pitchFamily="18" charset="0"/>
                <a:ea typeface="Times New Roman" panose="02020603050405020304" pitchFamily="18" charset="0"/>
              </a:rPr>
              <a:t>Step 3: If both are matching, then display "Given node found!!!" and terminate the function.</a:t>
            </a:r>
            <a:endParaRPr lang="en-IN" sz="1800" dirty="0">
              <a:effectLst/>
              <a:latin typeface="Times New Roman" panose="02020603050405020304" pitchFamily="18" charset="0"/>
              <a:ea typeface="Times New Roman" panose="02020603050405020304" pitchFamily="18" charset="0"/>
            </a:endParaRPr>
          </a:p>
          <a:p>
            <a:pPr marL="808038" marR="273685" indent="-720725" algn="just">
              <a:lnSpc>
                <a:spcPct val="112000"/>
              </a:lnSpc>
              <a:buNone/>
            </a:pPr>
            <a:r>
              <a:rPr lang="en-US" sz="1800" b="1" dirty="0">
                <a:effectLst/>
                <a:latin typeface="Cambria" panose="02040503050406030204" pitchFamily="18" charset="0"/>
                <a:ea typeface="Times New Roman" panose="02020603050405020304" pitchFamily="18" charset="0"/>
              </a:rPr>
              <a:t>Step 4: If both are not matching, then check whether search element is smaller or larger than that node value.</a:t>
            </a:r>
            <a:endParaRPr lang="en-IN" sz="1800" dirty="0">
              <a:effectLst/>
              <a:latin typeface="Times New Roman" panose="02020603050405020304" pitchFamily="18" charset="0"/>
              <a:ea typeface="Times New Roman" panose="02020603050405020304" pitchFamily="18" charset="0"/>
            </a:endParaRPr>
          </a:p>
          <a:p>
            <a:pPr marL="808038" marR="273685" indent="-720725" algn="just">
              <a:lnSpc>
                <a:spcPct val="112000"/>
              </a:lnSpc>
              <a:buNone/>
            </a:pPr>
            <a:r>
              <a:rPr lang="en-US" sz="1800" b="1" dirty="0">
                <a:effectLst/>
                <a:latin typeface="Cambria" panose="02040503050406030204" pitchFamily="18" charset="0"/>
                <a:ea typeface="Times New Roman" panose="02020603050405020304" pitchFamily="18" charset="0"/>
              </a:rPr>
              <a:t>Step 5: If search element is smaller, then continue the search process in left sub-tree.</a:t>
            </a:r>
            <a:endParaRPr lang="en-IN" b="1" dirty="0">
              <a:latin typeface="Times New Roman" panose="02020603050405020304" pitchFamily="18" charset="0"/>
              <a:ea typeface="Times New Roman" panose="02020603050405020304" pitchFamily="18" charset="0"/>
            </a:endParaRPr>
          </a:p>
          <a:p>
            <a:pPr marL="808038" marR="273685" indent="-720725" algn="just">
              <a:lnSpc>
                <a:spcPct val="112000"/>
              </a:lnSpc>
              <a:buNone/>
            </a:pPr>
            <a:r>
              <a:rPr lang="en-IN"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808038" marR="273685" indent="-720725" algn="just">
              <a:lnSpc>
                <a:spcPct val="112000"/>
              </a:lnSpc>
              <a:buNone/>
            </a:pPr>
            <a:r>
              <a:rPr lang="en-US" sz="1800" b="1" dirty="0">
                <a:effectLst/>
                <a:latin typeface="Cambria" panose="02040503050406030204" pitchFamily="18" charset="0"/>
                <a:ea typeface="Times New Roman" panose="02020603050405020304" pitchFamily="18" charset="0"/>
              </a:rPr>
              <a:t>Step 6: If search element is larger, then continue the search process in right sub-tree.</a:t>
            </a:r>
            <a:endParaRPr lang="en-IN" sz="1800" dirty="0">
              <a:effectLst/>
              <a:latin typeface="Times New Roman" panose="02020603050405020304" pitchFamily="18" charset="0"/>
              <a:ea typeface="Times New Roman" panose="02020603050405020304" pitchFamily="18" charset="0"/>
            </a:endParaRPr>
          </a:p>
          <a:p>
            <a:pPr marL="808038" marR="273685" indent="-720725" algn="just">
              <a:lnSpc>
                <a:spcPct val="112000"/>
              </a:lnSpc>
              <a:buNone/>
            </a:pPr>
            <a:r>
              <a:rPr lang="en-US" sz="1800" b="1" dirty="0">
                <a:effectLst/>
                <a:latin typeface="Cambria" panose="02040503050406030204" pitchFamily="18" charset="0"/>
                <a:ea typeface="Times New Roman" panose="02020603050405020304" pitchFamily="18" charset="0"/>
              </a:rPr>
              <a:t>Step 7: Repeat the same until we found exact element or we completed with a leaf node.</a:t>
            </a:r>
            <a:endParaRPr lang="en-IN" sz="1800" dirty="0">
              <a:effectLst/>
              <a:latin typeface="Times New Roman" panose="02020603050405020304" pitchFamily="18" charset="0"/>
              <a:ea typeface="Times New Roman" panose="02020603050405020304" pitchFamily="18" charset="0"/>
            </a:endParaRPr>
          </a:p>
          <a:p>
            <a:pPr marL="808038" marR="273685" indent="-720725" algn="just">
              <a:lnSpc>
                <a:spcPct val="112000"/>
              </a:lnSpc>
              <a:buNone/>
            </a:pPr>
            <a:r>
              <a:rPr lang="en-US" sz="1800" b="1" dirty="0">
                <a:effectLst/>
                <a:latin typeface="Cambria" panose="02040503050406030204" pitchFamily="18" charset="0"/>
                <a:ea typeface="Times New Roman" panose="02020603050405020304" pitchFamily="18" charset="0"/>
              </a:rPr>
              <a:t>Step 8: If we reach to the node with search value, then display "Element is found" and terminate the function.</a:t>
            </a:r>
            <a:endParaRPr lang="en-IN" sz="1800" dirty="0">
              <a:effectLst/>
              <a:latin typeface="Times New Roman" panose="02020603050405020304" pitchFamily="18" charset="0"/>
              <a:ea typeface="Times New Roman" panose="02020603050405020304" pitchFamily="18" charset="0"/>
            </a:endParaRPr>
          </a:p>
          <a:p>
            <a:pPr marL="808038" marR="273685" indent="-720725" algn="just">
              <a:lnSpc>
                <a:spcPct val="112000"/>
              </a:lnSpc>
              <a:buNone/>
            </a:pPr>
            <a:r>
              <a:rPr lang="en-US" sz="1800" b="1" dirty="0">
                <a:effectLst/>
                <a:latin typeface="Cambria" panose="02040503050406030204" pitchFamily="18" charset="0"/>
                <a:ea typeface="Times New Roman" panose="02020603050405020304" pitchFamily="18" charset="0"/>
              </a:rPr>
              <a:t>Step 9: If we reach to a leaf node and it is also not matching, then display "Element not found" and terminate the function.</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73747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E2AEC-BCCD-3D97-37E6-D8C0249760B6}"/>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65F7976C-3EAA-1C11-6111-A8D9572FA084}"/>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9" name="TextBox 8">
            <a:extLst>
              <a:ext uri="{FF2B5EF4-FFF2-40B4-BE49-F238E27FC236}">
                <a16:creationId xmlns:a16="http://schemas.microsoft.com/office/drawing/2014/main" id="{EE1DD10D-3FA0-D8D1-1E88-C063CD2BD13D}"/>
              </a:ext>
            </a:extLst>
          </p:cNvPr>
          <p:cNvSpPr txBox="1"/>
          <p:nvPr/>
        </p:nvSpPr>
        <p:spPr>
          <a:xfrm>
            <a:off x="729574" y="900101"/>
            <a:ext cx="10875523" cy="1302921"/>
          </a:xfrm>
          <a:prstGeom prst="rect">
            <a:avLst/>
          </a:prstGeom>
          <a:noFill/>
        </p:spPr>
        <p:txBody>
          <a:bodyPr wrap="square">
            <a:spAutoFit/>
          </a:bodyPr>
          <a:lstStyle/>
          <a:p>
            <a:pPr marR="251460" algn="just">
              <a:spcBef>
                <a:spcPts val="395"/>
              </a:spcBef>
              <a:buNone/>
            </a:pPr>
            <a:r>
              <a:rPr lang="en-US" sz="1800" b="1" dirty="0">
                <a:effectLst/>
                <a:latin typeface="Cambria" panose="02040503050406030204" pitchFamily="18" charset="0"/>
                <a:ea typeface="Times New Roman" panose="02020603050405020304" pitchFamily="18" charset="0"/>
              </a:rPr>
              <a:t>Example:</a:t>
            </a:r>
            <a:r>
              <a:rPr lang="en-US" sz="1800" b="1" dirty="0">
                <a:effectLst/>
                <a:latin typeface="Calibri Light" panose="020F0302020204030204" pitchFamily="34" charset="0"/>
                <a:ea typeface="Times New Roman" panose="02020603050405020304" pitchFamily="18" charset="0"/>
                <a:cs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To </a:t>
            </a:r>
            <a:r>
              <a:rPr lang="en-US" sz="1800" b="1" dirty="0">
                <a:effectLst/>
                <a:latin typeface="Cambria" panose="02040503050406030204" pitchFamily="18" charset="0"/>
                <a:ea typeface="Times New Roman" panose="02020603050405020304" pitchFamily="18" charset="0"/>
              </a:rPr>
              <a:t>search a number (or Key) 16</a:t>
            </a:r>
            <a:r>
              <a:rPr lang="en-US" sz="1800" spc="200" dirty="0">
                <a:effectLst/>
                <a:latin typeface="Cambria" panose="02040503050406030204" pitchFamily="18" charset="0"/>
                <a:ea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rPr>
              <a:t>in a Binary Search Tree with the following sequence of numbers:</a:t>
            </a:r>
            <a:endParaRPr lang="en-IN" sz="1800" dirty="0">
              <a:effectLst/>
              <a:latin typeface="Times New Roman" panose="02020603050405020304" pitchFamily="18" charset="0"/>
              <a:ea typeface="Times New Roman" panose="02020603050405020304" pitchFamily="18" charset="0"/>
            </a:endParaRPr>
          </a:p>
          <a:p>
            <a:pPr marL="457200" marR="251460" indent="457200" algn="just">
              <a:spcBef>
                <a:spcPts val="395"/>
              </a:spcBef>
              <a:buNone/>
            </a:pPr>
            <a:r>
              <a:rPr lang="en-US" sz="1800" b="1" dirty="0">
                <a:effectLst/>
                <a:latin typeface="Cambria" panose="02040503050406030204" pitchFamily="18" charset="0"/>
                <a:ea typeface="Times New Roman" panose="02020603050405020304" pitchFamily="18" charset="0"/>
              </a:rPr>
              <a:t> 15,</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10,</a:t>
            </a:r>
            <a:r>
              <a:rPr lang="en-US" sz="1800" b="1" spc="-10" dirty="0">
                <a:effectLst/>
                <a:latin typeface="Cambria" panose="02040503050406030204" pitchFamily="18" charset="0"/>
                <a:ea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rPr>
              <a:t>20, 8, 12, 18, 25, 16, 19 and 30. </a:t>
            </a:r>
            <a:endParaRPr lang="en-IN" sz="1800" dirty="0">
              <a:effectLst/>
              <a:latin typeface="Times New Roman" panose="02020603050405020304" pitchFamily="18" charset="0"/>
              <a:ea typeface="Times New Roman" panose="02020603050405020304" pitchFamily="18" charset="0"/>
            </a:endParaRPr>
          </a:p>
          <a:p>
            <a:pPr marR="251460" algn="just">
              <a:spcBef>
                <a:spcPts val="395"/>
              </a:spcBef>
              <a:buNone/>
            </a:pPr>
            <a:r>
              <a:rPr lang="en-US" sz="1800" dirty="0">
                <a:effectLst/>
                <a:latin typeface="Cambria" panose="02040503050406030204" pitchFamily="18" charset="0"/>
                <a:ea typeface="Times New Roman" panose="02020603050405020304" pitchFamily="18" charset="0"/>
              </a:rPr>
              <a:t>The Search process is as follows.</a:t>
            </a:r>
            <a:endParaRPr lang="en-IN" sz="1800" dirty="0">
              <a:effectLst/>
              <a:latin typeface="Times New Roman" panose="02020603050405020304" pitchFamily="18" charset="0"/>
              <a:ea typeface="Times New Roman" panose="02020603050405020304" pitchFamily="18" charset="0"/>
            </a:endParaRPr>
          </a:p>
        </p:txBody>
      </p:sp>
      <p:pic>
        <p:nvPicPr>
          <p:cNvPr id="11" name="Image 14" descr="Search given key in BST | Recursive &amp; Iterative Solution - Techie Delight">
            <a:extLst>
              <a:ext uri="{FF2B5EF4-FFF2-40B4-BE49-F238E27FC236}">
                <a16:creationId xmlns:a16="http://schemas.microsoft.com/office/drawing/2014/main" id="{FE67F2BA-1707-74C0-3F21-F5CC53C485EB}"/>
              </a:ext>
            </a:extLst>
          </p:cNvPr>
          <p:cNvPicPr>
            <a:picLocks/>
          </p:cNvPicPr>
          <p:nvPr/>
        </p:nvPicPr>
        <p:blipFill>
          <a:blip r:embed="rId2" cstate="print"/>
          <a:stretch>
            <a:fillRect/>
          </a:stretch>
        </p:blipFill>
        <p:spPr>
          <a:xfrm>
            <a:off x="1011677" y="2386849"/>
            <a:ext cx="9426100" cy="4086428"/>
          </a:xfrm>
          <a:prstGeom prst="rect">
            <a:avLst/>
          </a:prstGeom>
        </p:spPr>
      </p:pic>
    </p:spTree>
    <p:extLst>
      <p:ext uri="{BB962C8B-B14F-4D97-AF65-F5344CB8AC3E}">
        <p14:creationId xmlns:p14="http://schemas.microsoft.com/office/powerpoint/2010/main" val="3668256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537DE-C4D6-9718-AE66-4FC6B9DD673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6FEBA89-68C9-0A7E-837D-54C3685F7DF4}"/>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4" name="TextBox 3">
            <a:extLst>
              <a:ext uri="{FF2B5EF4-FFF2-40B4-BE49-F238E27FC236}">
                <a16:creationId xmlns:a16="http://schemas.microsoft.com/office/drawing/2014/main" id="{10C2D471-179D-B05A-3390-E5F5328CE847}"/>
              </a:ext>
            </a:extLst>
          </p:cNvPr>
          <p:cNvSpPr txBox="1"/>
          <p:nvPr/>
        </p:nvSpPr>
        <p:spPr>
          <a:xfrm>
            <a:off x="637162" y="977264"/>
            <a:ext cx="10612876" cy="2513317"/>
          </a:xfrm>
          <a:prstGeom prst="rect">
            <a:avLst/>
          </a:prstGeom>
          <a:noFill/>
        </p:spPr>
        <p:txBody>
          <a:bodyPr wrap="square">
            <a:spAutoFit/>
          </a:bodyPr>
          <a:lstStyle/>
          <a:p>
            <a:pPr>
              <a:lnSpc>
                <a:spcPts val="1950"/>
              </a:lnSpc>
              <a:spcAft>
                <a:spcPts val="800"/>
              </a:spcAft>
              <a:buNone/>
            </a:pPr>
            <a:r>
              <a:rPr lang="en-IN" sz="2000" b="1" kern="100" dirty="0">
                <a:solidFill>
                  <a:srgbClr val="001D35"/>
                </a:solidFill>
                <a:effectLst/>
                <a:latin typeface="Cambria" panose="02040503050406030204" pitchFamily="18" charset="0"/>
                <a:ea typeface="Calibri" panose="020F0502020204030204" pitchFamily="34" charset="0"/>
                <a:cs typeface="Arial" panose="020B0604020202020204" pitchFamily="34" charset="0"/>
              </a:rPr>
              <a:t>Scenario: Searching for an element in a BST </a:t>
            </a:r>
            <a:endParaRPr lang="en-IN" sz="1600" kern="100" dirty="0">
              <a:effectLst/>
              <a:latin typeface="Calibri" panose="020F0502020204030204" pitchFamily="34" charset="0"/>
              <a:ea typeface="Calibri" panose="020F0502020204030204" pitchFamily="34" charset="0"/>
              <a:cs typeface="Gautami" panose="020B0502040204020203" pitchFamily="34" charset="0"/>
            </a:endParaRPr>
          </a:p>
          <a:p>
            <a:pPr algn="just">
              <a:lnSpc>
                <a:spcPct val="107000"/>
              </a:lnSpc>
              <a:spcAft>
                <a:spcPts val="800"/>
              </a:spcAft>
              <a:buNone/>
            </a:pPr>
            <a:r>
              <a:rPr lang="en-IN" sz="2000" b="1" kern="100" dirty="0">
                <a:solidFill>
                  <a:srgbClr val="001D35"/>
                </a:solidFill>
                <a:effectLst/>
                <a:latin typeface="Cambria" panose="02040503050406030204" pitchFamily="18" charset="0"/>
                <a:ea typeface="Calibri" panose="020F0502020204030204" pitchFamily="34" charset="0"/>
                <a:cs typeface="Arial" panose="020B0604020202020204" pitchFamily="34" charset="0"/>
              </a:rPr>
              <a:t>Question:</a:t>
            </a:r>
            <a:r>
              <a:rPr lang="en-IN" sz="2000" kern="100" dirty="0">
                <a:solidFill>
                  <a:srgbClr val="001D35"/>
                </a:solidFill>
                <a:effectLst/>
                <a:latin typeface="Cambria" panose="02040503050406030204" pitchFamily="18" charset="0"/>
                <a:ea typeface="Calibri" panose="020F0502020204030204" pitchFamily="34" charset="0"/>
                <a:cs typeface="Arial" panose="020B0604020202020204" pitchFamily="34" charset="0"/>
              </a:rPr>
              <a:t> You need to efficiently search for a specific element (e.g., a user ID) within a large dataset stored in a BST. </a:t>
            </a:r>
            <a:endParaRPr lang="en-IN" sz="1600" kern="100" dirty="0">
              <a:effectLst/>
              <a:latin typeface="Calibri" panose="020F0502020204030204" pitchFamily="34" charset="0"/>
              <a:ea typeface="Calibri" panose="020F0502020204030204" pitchFamily="34" charset="0"/>
              <a:cs typeface="Gautami" panose="020B0502040204020203" pitchFamily="34" charset="0"/>
            </a:endParaRPr>
          </a:p>
          <a:p>
            <a:pPr algn="just">
              <a:lnSpc>
                <a:spcPct val="107000"/>
              </a:lnSpc>
              <a:spcAft>
                <a:spcPts val="800"/>
              </a:spcAft>
              <a:buNone/>
            </a:pPr>
            <a:r>
              <a:rPr lang="en-IN" sz="2000" b="1" kern="100" dirty="0">
                <a:solidFill>
                  <a:srgbClr val="001D35"/>
                </a:solidFill>
                <a:effectLst/>
                <a:latin typeface="Cambria" panose="02040503050406030204" pitchFamily="18" charset="0"/>
                <a:ea typeface="Calibri" panose="020F0502020204030204" pitchFamily="34" charset="0"/>
                <a:cs typeface="Arial" panose="020B0604020202020204" pitchFamily="34" charset="0"/>
              </a:rPr>
              <a:t>Answer</a:t>
            </a:r>
            <a:r>
              <a:rPr lang="en-IN" sz="2000" kern="100" dirty="0">
                <a:solidFill>
                  <a:srgbClr val="001D35"/>
                </a:solidFill>
                <a:effectLst/>
                <a:latin typeface="Cambria" panose="02040503050406030204" pitchFamily="18" charset="0"/>
                <a:ea typeface="Calibri" panose="020F0502020204030204" pitchFamily="34" charset="0"/>
                <a:cs typeface="Arial" panose="020B0604020202020204" pitchFamily="34" charset="0"/>
              </a:rPr>
              <a:t>: Start at the root of the BST. Compare the target element with the value of the current node. If they match, you've found it! If the target element is less than the current node's value, move to the left child; otherwise, move to the right child. Repeat this process until the element is found or you reach a leaf node (indicating the element is not in the tree). </a:t>
            </a:r>
            <a:endParaRPr lang="en-IN" sz="1600" kern="1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069355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4C5C1A-0417-DD02-55F1-B8C8B5F9BDB9}"/>
              </a:ext>
            </a:extLst>
          </p:cNvPr>
          <p:cNvSpPr txBox="1"/>
          <p:nvPr/>
        </p:nvSpPr>
        <p:spPr>
          <a:xfrm>
            <a:off x="3171218" y="249848"/>
            <a:ext cx="4280170" cy="523220"/>
          </a:xfrm>
          <a:prstGeom prst="rect">
            <a:avLst/>
          </a:prstGeom>
          <a:noFill/>
        </p:spPr>
        <p:txBody>
          <a:bodyPr wrap="square">
            <a:spAutoFit/>
          </a:bodyPr>
          <a:lstStyle/>
          <a:p>
            <a:pPr algn="just" eaLnBrk="1" hangingPunct="1">
              <a:spcAft>
                <a:spcPts val="537"/>
              </a:spcAft>
            </a:pPr>
            <a:r>
              <a:rPr lang="en-US" altLang="en-US" sz="2800" b="1" dirty="0">
                <a:highlight>
                  <a:srgbClr val="FFFF00"/>
                </a:highlight>
                <a:latin typeface="Cambria" panose="02040503050406030204" pitchFamily="18" charset="0"/>
              </a:rPr>
              <a:t>4 a)  </a:t>
            </a:r>
            <a:r>
              <a:rPr lang="en-US" altLang="en-US" sz="2800" b="1" u="sng" dirty="0">
                <a:highlight>
                  <a:srgbClr val="FFFF00"/>
                </a:highlight>
                <a:latin typeface="Cambria" panose="02040503050406030204" pitchFamily="18" charset="0"/>
              </a:rPr>
              <a:t>Heap Introduction</a:t>
            </a:r>
            <a:endParaRPr lang="en-US" sz="2800" b="1" u="sng" dirty="0">
              <a:highlight>
                <a:srgbClr val="FFFF00"/>
              </a:highlight>
              <a:latin typeface="Cambria"/>
            </a:endParaRPr>
          </a:p>
        </p:txBody>
      </p:sp>
      <p:sp>
        <p:nvSpPr>
          <p:cNvPr id="5" name="TextBox 4">
            <a:extLst>
              <a:ext uri="{FF2B5EF4-FFF2-40B4-BE49-F238E27FC236}">
                <a16:creationId xmlns:a16="http://schemas.microsoft.com/office/drawing/2014/main" id="{854B88FE-7EDC-0567-82B8-EE7BED749B5E}"/>
              </a:ext>
            </a:extLst>
          </p:cNvPr>
          <p:cNvSpPr txBox="1"/>
          <p:nvPr/>
        </p:nvSpPr>
        <p:spPr>
          <a:xfrm>
            <a:off x="700391" y="1073587"/>
            <a:ext cx="10496145" cy="4780796"/>
          </a:xfrm>
          <a:prstGeom prst="rect">
            <a:avLst/>
          </a:prstGeom>
          <a:noFill/>
        </p:spPr>
        <p:txBody>
          <a:bodyPr wrap="square">
            <a:spAutoFit/>
          </a:bodyPr>
          <a:lstStyle/>
          <a:p>
            <a:pPr marL="12700" marR="8255" indent="-12700" algn="just">
              <a:spcBef>
                <a:spcPts val="1130"/>
              </a:spcBef>
            </a:pPr>
            <a:r>
              <a:rPr lang="en-US" altLang="en-US" sz="2000" b="1" u="sng" dirty="0">
                <a:solidFill>
                  <a:srgbClr val="FF0000"/>
                </a:solidFill>
                <a:latin typeface="Cambria" panose="02040503050406030204" pitchFamily="18" charset="0"/>
                <a:ea typeface="Cambria" panose="02040503050406030204" pitchFamily="18" charset="0"/>
              </a:rPr>
              <a:t>Heap</a:t>
            </a:r>
            <a:r>
              <a:rPr lang="en-US" altLang="en-US" sz="2000" b="1" dirty="0">
                <a:latin typeface="Cambria" panose="02040503050406030204" pitchFamily="18" charset="0"/>
                <a:ea typeface="Cambria" panose="020405030504060302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A heap is as special tree-based data structure in which the tree is a complete binary tree. Heap is a balanced binary tree data structure where the root  node is compared with its children and arranged accordingly. A heap binary tree  with N nodes has log N height. </a:t>
            </a:r>
          </a:p>
          <a:p>
            <a:pPr marL="12700" marR="8255" indent="-12700" algn="just">
              <a:spcBef>
                <a:spcPts val="1130"/>
              </a:spcBef>
            </a:pPr>
            <a:r>
              <a:rPr lang="en-US" sz="2000" spc="-5" dirty="0">
                <a:latin typeface="Cambria" panose="02040503050406030204" pitchFamily="18" charset="0"/>
                <a:ea typeface="Cambria" panose="02040503050406030204" pitchFamily="18" charset="0"/>
                <a:cs typeface="Times New Roman" panose="02020603050405020304" pitchFamily="18" charset="0"/>
              </a:rPr>
              <a:t>Heaps are commonly used to implement priority queues, where the highest (or lowest) priority element is always at the root. For Example, heaps include scheduling tasks based on priority or finding the smallest or largest element in a data set. </a:t>
            </a:r>
          </a:p>
          <a:p>
            <a:pPr marL="12700" marR="8255" indent="-12700" algn="just">
              <a:spcBef>
                <a:spcPts val="1130"/>
              </a:spcBef>
            </a:pPr>
            <a:r>
              <a:rPr lang="en-US" sz="2000" dirty="0">
                <a:latin typeface="Cambria" panose="02040503050406030204" pitchFamily="18" charset="0"/>
                <a:ea typeface="Cambria" panose="02040503050406030204" pitchFamily="18" charset="0"/>
                <a:cs typeface="Times New Roman" panose="02020603050405020304" pitchFamily="18" charset="0"/>
              </a:rPr>
              <a:t>A Binary Heap Tree with following properties:</a:t>
            </a:r>
          </a:p>
          <a:p>
            <a:pPr marL="546100" indent="-449263" algn="just">
              <a:spcBef>
                <a:spcPts val="455"/>
              </a:spcBef>
              <a:buAutoNum type="romanLcParenR"/>
            </a:pPr>
            <a:r>
              <a:rPr lang="en-US" sz="2000" spc="-5" dirty="0">
                <a:latin typeface="Cambria" panose="02040503050406030204" pitchFamily="18" charset="0"/>
                <a:ea typeface="Cambria" panose="02040503050406030204" pitchFamily="18" charset="0"/>
                <a:cs typeface="Times New Roman" panose="02020603050405020304" pitchFamily="18" charset="0"/>
              </a:rPr>
              <a:t>It’s </a:t>
            </a:r>
            <a:r>
              <a:rPr lang="en-US" sz="2000" dirty="0">
                <a:latin typeface="Cambria" panose="02040503050406030204" pitchFamily="18" charset="0"/>
                <a:ea typeface="Cambria" panose="02040503050406030204" pitchFamily="18" charset="0"/>
                <a:cs typeface="Times New Roman" panose="02020603050405020304" pitchFamily="18" charset="0"/>
              </a:rPr>
              <a:t>a </a:t>
            </a:r>
            <a:r>
              <a:rPr lang="en-US" sz="2000" spc="-5" dirty="0">
                <a:latin typeface="Cambria" panose="02040503050406030204" pitchFamily="18" charset="0"/>
                <a:ea typeface="Cambria" panose="02040503050406030204" pitchFamily="18" charset="0"/>
                <a:cs typeface="Times New Roman" panose="02020603050405020304" pitchFamily="18" charset="0"/>
              </a:rPr>
              <a:t>complete </a:t>
            </a:r>
            <a:r>
              <a:rPr lang="en-US" sz="2000" dirty="0">
                <a:latin typeface="Cambria" panose="02040503050406030204" pitchFamily="18" charset="0"/>
                <a:ea typeface="Cambria" panose="02040503050406030204" pitchFamily="18" charset="0"/>
                <a:cs typeface="Times New Roman" panose="02020603050405020304" pitchFamily="18" charset="0"/>
              </a:rPr>
              <a:t>tree </a:t>
            </a:r>
            <a:r>
              <a:rPr lang="en-US" sz="2000" spc="-5" dirty="0">
                <a:latin typeface="Cambria" panose="02040503050406030204" pitchFamily="18" charset="0"/>
                <a:ea typeface="Cambria" panose="02040503050406030204" pitchFamily="18" charset="0"/>
                <a:cs typeface="Times New Roman" panose="02020603050405020304" pitchFamily="18" charset="0"/>
              </a:rPr>
              <a:t>(All levels </a:t>
            </a:r>
            <a:r>
              <a:rPr lang="en-US" sz="2000" dirty="0">
                <a:latin typeface="Cambria" panose="02040503050406030204" pitchFamily="18" charset="0"/>
                <a:ea typeface="Cambria" panose="02040503050406030204" pitchFamily="18" charset="0"/>
                <a:cs typeface="Times New Roman" panose="02020603050405020304" pitchFamily="18" charset="0"/>
              </a:rPr>
              <a:t>are </a:t>
            </a:r>
            <a:r>
              <a:rPr lang="en-US" sz="2000" spc="-5" dirty="0">
                <a:latin typeface="Cambria" panose="02040503050406030204" pitchFamily="18" charset="0"/>
                <a:ea typeface="Cambria" panose="02040503050406030204" pitchFamily="18" charset="0"/>
                <a:cs typeface="Times New Roman" panose="02020603050405020304" pitchFamily="18" charset="0"/>
              </a:rPr>
              <a:t>completely filled except possibly </a:t>
            </a:r>
            <a:r>
              <a:rPr lang="en-US" sz="2000" spc="5" dirty="0">
                <a:latin typeface="Cambria" panose="02040503050406030204" pitchFamily="18" charset="0"/>
                <a:ea typeface="Cambria" panose="02040503050406030204" pitchFamily="18" charset="0"/>
                <a:cs typeface="Times New Roman" panose="02020603050405020304" pitchFamily="18" charset="0"/>
              </a:rPr>
              <a:t>the </a:t>
            </a:r>
            <a:r>
              <a:rPr lang="en-US" sz="2000" spc="-5" dirty="0">
                <a:latin typeface="Cambria" panose="02040503050406030204" pitchFamily="18" charset="0"/>
                <a:ea typeface="Cambria" panose="02040503050406030204" pitchFamily="18" charset="0"/>
                <a:cs typeface="Times New Roman" panose="02020603050405020304" pitchFamily="18" charset="0"/>
              </a:rPr>
              <a:t>last </a:t>
            </a:r>
            <a:r>
              <a:rPr lang="en-US" sz="200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level and the last level </a:t>
            </a:r>
            <a:r>
              <a:rPr lang="en-US" sz="2000" dirty="0">
                <a:latin typeface="Cambria" panose="02040503050406030204" pitchFamily="18" charset="0"/>
                <a:ea typeface="Cambria" panose="02040503050406030204" pitchFamily="18" charset="0"/>
                <a:cs typeface="Times New Roman" panose="02020603050405020304" pitchFamily="18" charset="0"/>
              </a:rPr>
              <a:t>has </a:t>
            </a:r>
            <a:r>
              <a:rPr lang="en-US" sz="2000" spc="-5" dirty="0">
                <a:latin typeface="Cambria" panose="02040503050406030204" pitchFamily="18" charset="0"/>
                <a:ea typeface="Cambria" panose="02040503050406030204" pitchFamily="18" charset="0"/>
                <a:cs typeface="Times New Roman" panose="02020603050405020304" pitchFamily="18" charset="0"/>
              </a:rPr>
              <a:t>all keys </a:t>
            </a:r>
            <a:r>
              <a:rPr lang="en-US" sz="2000" spc="-10" dirty="0">
                <a:latin typeface="Cambria" panose="02040503050406030204" pitchFamily="18" charset="0"/>
                <a:ea typeface="Cambria" panose="02040503050406030204" pitchFamily="18" charset="0"/>
                <a:cs typeface="Times New Roman" panose="02020603050405020304" pitchFamily="18" charset="0"/>
              </a:rPr>
              <a:t>as </a:t>
            </a:r>
            <a:r>
              <a:rPr lang="en-US" sz="2000" spc="-5" dirty="0">
                <a:latin typeface="Cambria" panose="02040503050406030204" pitchFamily="18" charset="0"/>
                <a:ea typeface="Cambria" panose="02040503050406030204" pitchFamily="18" charset="0"/>
                <a:cs typeface="Times New Roman" panose="02020603050405020304" pitchFamily="18" charset="0"/>
              </a:rPr>
              <a:t>left </a:t>
            </a:r>
            <a:r>
              <a:rPr lang="en-US" sz="2000" spc="-10" dirty="0">
                <a:latin typeface="Cambria" panose="02040503050406030204" pitchFamily="18" charset="0"/>
                <a:ea typeface="Cambria" panose="02040503050406030204" pitchFamily="18" charset="0"/>
                <a:cs typeface="Times New Roman" panose="02020603050405020304" pitchFamily="18" charset="0"/>
              </a:rPr>
              <a:t>as </a:t>
            </a:r>
            <a:r>
              <a:rPr lang="en-US" sz="2000" spc="-5" dirty="0">
                <a:latin typeface="Cambria" panose="02040503050406030204" pitchFamily="18" charset="0"/>
                <a:ea typeface="Cambria" panose="02040503050406030204" pitchFamily="18" charset="0"/>
                <a:cs typeface="Times New Roman" panose="02020603050405020304" pitchFamily="18" charset="0"/>
              </a:rPr>
              <a:t>possible). This property </a:t>
            </a:r>
            <a:r>
              <a:rPr lang="en-US" sz="2000" dirty="0">
                <a:latin typeface="Cambria" panose="02040503050406030204" pitchFamily="18" charset="0"/>
                <a:ea typeface="Cambria" panose="02040503050406030204" pitchFamily="18" charset="0"/>
                <a:cs typeface="Times New Roman" panose="02020603050405020304" pitchFamily="18" charset="0"/>
              </a:rPr>
              <a:t>of </a:t>
            </a:r>
            <a:r>
              <a:rPr lang="en-US" sz="2000" spc="-5" dirty="0">
                <a:latin typeface="Cambria" panose="02040503050406030204" pitchFamily="18" charset="0"/>
                <a:ea typeface="Cambria" panose="02040503050406030204" pitchFamily="18" charset="0"/>
                <a:cs typeface="Times New Roman" panose="02020603050405020304" pitchFamily="18" charset="0"/>
              </a:rPr>
              <a:t>Binary </a:t>
            </a:r>
            <a:r>
              <a:rPr lang="en-US" sz="200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Heap</a:t>
            </a:r>
            <a:r>
              <a:rPr lang="en-US" sz="2000" spc="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makes</a:t>
            </a:r>
            <a:r>
              <a:rPr lang="en-US" sz="2000" spc="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them</a:t>
            </a:r>
            <a:r>
              <a:rPr lang="en-US" sz="2000" spc="-2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suitable</a:t>
            </a:r>
            <a:r>
              <a:rPr lang="en-US" sz="2000" spc="-1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to</a:t>
            </a:r>
            <a:r>
              <a:rPr lang="en-US" sz="2000" spc="-1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be</a:t>
            </a:r>
            <a:r>
              <a:rPr lang="en-US" sz="2000" spc="-5" dirty="0">
                <a:latin typeface="Cambria" panose="02040503050406030204" pitchFamily="18" charset="0"/>
                <a:ea typeface="Cambria" panose="02040503050406030204" pitchFamily="18" charset="0"/>
                <a:cs typeface="Times New Roman" panose="02020603050405020304" pitchFamily="18" charset="0"/>
              </a:rPr>
              <a:t> stored</a:t>
            </a:r>
            <a:r>
              <a:rPr lang="en-US" sz="2000" spc="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in</a:t>
            </a:r>
            <a:r>
              <a:rPr lang="en-US" sz="2000" spc="5" dirty="0">
                <a:latin typeface="Cambria" panose="02040503050406030204" pitchFamily="18" charset="0"/>
                <a:ea typeface="Cambria" panose="02040503050406030204" pitchFamily="18" charset="0"/>
                <a:cs typeface="Times New Roman" panose="02020603050405020304" pitchFamily="18" charset="0"/>
              </a:rPr>
              <a:t> </a:t>
            </a:r>
            <a:r>
              <a:rPr lang="en-US" sz="2000" spc="-10" dirty="0">
                <a:latin typeface="Cambria" panose="02040503050406030204" pitchFamily="18" charset="0"/>
                <a:ea typeface="Cambria" panose="02040503050406030204" pitchFamily="18" charset="0"/>
                <a:cs typeface="Times New Roman" panose="02020603050405020304" pitchFamily="18" charset="0"/>
              </a:rPr>
              <a:t>an</a:t>
            </a:r>
            <a:r>
              <a:rPr lang="en-US" sz="200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array.</a:t>
            </a:r>
          </a:p>
          <a:p>
            <a:pPr marL="546100" indent="-449263" algn="just">
              <a:spcBef>
                <a:spcPts val="455"/>
              </a:spcBef>
              <a:buAutoNum type="romanLcParenR"/>
            </a:pPr>
            <a:r>
              <a:rPr lang="en-US" sz="2000" dirty="0">
                <a:latin typeface="Cambria" panose="02040503050406030204" pitchFamily="18" charset="0"/>
                <a:ea typeface="Cambria" panose="02040503050406030204" pitchFamily="18" charset="0"/>
                <a:cs typeface="Times New Roman" panose="02020603050405020304" pitchFamily="18" charset="0"/>
              </a:rPr>
              <a:t>A Binary </a:t>
            </a:r>
            <a:r>
              <a:rPr lang="en-US" sz="2000" spc="-5" dirty="0">
                <a:latin typeface="Cambria" panose="02040503050406030204" pitchFamily="18" charset="0"/>
                <a:ea typeface="Cambria" panose="02040503050406030204" pitchFamily="18" charset="0"/>
                <a:cs typeface="Times New Roman" panose="02020603050405020304" pitchFamily="18" charset="0"/>
              </a:rPr>
              <a:t>Heap is either Min Heap or </a:t>
            </a:r>
            <a:r>
              <a:rPr lang="en-US" sz="2000" spc="-10" dirty="0">
                <a:latin typeface="Cambria" panose="02040503050406030204" pitchFamily="18" charset="0"/>
                <a:ea typeface="Cambria" panose="02040503050406030204" pitchFamily="18" charset="0"/>
                <a:cs typeface="Times New Roman" panose="02020603050405020304" pitchFamily="18" charset="0"/>
              </a:rPr>
              <a:t>Max</a:t>
            </a:r>
            <a:r>
              <a:rPr lang="en-US" sz="2000" spc="-5" dirty="0">
                <a:latin typeface="Cambria" panose="02040503050406030204" pitchFamily="18" charset="0"/>
                <a:ea typeface="Cambria" panose="02040503050406030204" pitchFamily="18" charset="0"/>
                <a:cs typeface="Times New Roman" panose="02020603050405020304" pitchFamily="18" charset="0"/>
              </a:rPr>
              <a:t> Heap. </a:t>
            </a:r>
            <a:r>
              <a:rPr lang="en-US" sz="2000" spc="-10" dirty="0">
                <a:latin typeface="Cambria" panose="02040503050406030204" pitchFamily="18" charset="0"/>
                <a:ea typeface="Cambria" panose="02040503050406030204" pitchFamily="18" charset="0"/>
                <a:cs typeface="Times New Roman" panose="02020603050405020304" pitchFamily="18" charset="0"/>
              </a:rPr>
              <a:t>In </a:t>
            </a:r>
            <a:r>
              <a:rPr lang="en-US" sz="2000" dirty="0">
                <a:latin typeface="Cambria" panose="02040503050406030204" pitchFamily="18" charset="0"/>
                <a:ea typeface="Cambria" panose="02040503050406030204" pitchFamily="18" charset="0"/>
                <a:cs typeface="Times New Roman" panose="02020603050405020304" pitchFamily="18" charset="0"/>
              </a:rPr>
              <a:t>a </a:t>
            </a:r>
            <a:r>
              <a:rPr lang="en-US" sz="2000" spc="-10" dirty="0">
                <a:latin typeface="Cambria" panose="02040503050406030204" pitchFamily="18" charset="0"/>
                <a:ea typeface="Cambria" panose="02040503050406030204" pitchFamily="18" charset="0"/>
                <a:cs typeface="Times New Roman" panose="02020603050405020304" pitchFamily="18" charset="0"/>
              </a:rPr>
              <a:t>Min</a:t>
            </a:r>
            <a:r>
              <a:rPr lang="en-US" sz="2000" spc="33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Binary </a:t>
            </a:r>
            <a:r>
              <a:rPr lang="en-US" sz="2000" dirty="0">
                <a:latin typeface="Cambria" panose="02040503050406030204" pitchFamily="18" charset="0"/>
                <a:ea typeface="Cambria" panose="02040503050406030204" pitchFamily="18" charset="0"/>
                <a:cs typeface="Times New Roman" panose="02020603050405020304" pitchFamily="18" charset="0"/>
              </a:rPr>
              <a:t>Heap, </a:t>
            </a:r>
            <a:r>
              <a:rPr lang="en-US" sz="2000" spc="-5" dirty="0">
                <a:latin typeface="Cambria" panose="02040503050406030204" pitchFamily="18" charset="0"/>
                <a:ea typeface="Cambria" panose="02040503050406030204" pitchFamily="18" charset="0"/>
                <a:cs typeface="Times New Roman" panose="02020603050405020304" pitchFamily="18" charset="0"/>
              </a:rPr>
              <a:t>the </a:t>
            </a:r>
            <a:r>
              <a:rPr lang="en-US" sz="2000" dirty="0">
                <a:latin typeface="Cambria" panose="02040503050406030204" pitchFamily="18" charset="0"/>
                <a:ea typeface="Cambria" panose="02040503050406030204" pitchFamily="18" charset="0"/>
                <a:cs typeface="Times New Roman" panose="02020603050405020304" pitchFamily="18" charset="0"/>
              </a:rPr>
              <a:t> key at</a:t>
            </a:r>
            <a:r>
              <a:rPr lang="en-US" sz="2000" spc="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root</a:t>
            </a:r>
            <a:r>
              <a:rPr lang="en-US" sz="200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must</a:t>
            </a:r>
            <a:r>
              <a:rPr lang="en-US" sz="2000" dirty="0">
                <a:latin typeface="Cambria" panose="02040503050406030204" pitchFamily="18" charset="0"/>
                <a:ea typeface="Cambria" panose="02040503050406030204" pitchFamily="18" charset="0"/>
                <a:cs typeface="Times New Roman" panose="02020603050405020304" pitchFamily="18" charset="0"/>
              </a:rPr>
              <a:t> be </a:t>
            </a:r>
            <a:r>
              <a:rPr lang="en-US" sz="2000" spc="-5" dirty="0">
                <a:latin typeface="Cambria" panose="02040503050406030204" pitchFamily="18" charset="0"/>
                <a:ea typeface="Cambria" panose="02040503050406030204" pitchFamily="18" charset="0"/>
                <a:cs typeface="Times New Roman" panose="02020603050405020304" pitchFamily="18" charset="0"/>
              </a:rPr>
              <a:t>Minimum among</a:t>
            </a:r>
            <a:r>
              <a:rPr lang="en-US" sz="200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all keys</a:t>
            </a:r>
            <a:r>
              <a:rPr lang="en-US" sz="200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present</a:t>
            </a:r>
            <a:r>
              <a:rPr lang="en-US" sz="200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in</a:t>
            </a:r>
            <a:r>
              <a:rPr lang="en-US" sz="2000" spc="34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Binary </a:t>
            </a:r>
            <a:r>
              <a:rPr lang="en-US" sz="2000" dirty="0">
                <a:latin typeface="Cambria" panose="02040503050406030204" pitchFamily="18" charset="0"/>
                <a:ea typeface="Cambria" panose="02040503050406030204" pitchFamily="18" charset="0"/>
                <a:cs typeface="Times New Roman" panose="02020603050405020304" pitchFamily="18" charset="0"/>
              </a:rPr>
              <a:t>Heap. In a </a:t>
            </a:r>
            <a:r>
              <a:rPr lang="en-US" sz="2000" spc="-33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Max </a:t>
            </a:r>
            <a:r>
              <a:rPr lang="en-US" sz="2000" dirty="0">
                <a:latin typeface="Cambria" panose="02040503050406030204" pitchFamily="18" charset="0"/>
                <a:ea typeface="Cambria" panose="02040503050406030204" pitchFamily="18" charset="0"/>
                <a:cs typeface="Times New Roman" panose="02020603050405020304" pitchFamily="18" charset="0"/>
              </a:rPr>
              <a:t>Binary Heap, </a:t>
            </a:r>
            <a:r>
              <a:rPr lang="en-US" sz="2000" spc="-5" dirty="0">
                <a:latin typeface="Cambria" panose="02040503050406030204" pitchFamily="18" charset="0"/>
                <a:ea typeface="Cambria" panose="02040503050406030204" pitchFamily="18" charset="0"/>
                <a:cs typeface="Times New Roman" panose="02020603050405020304" pitchFamily="18" charset="0"/>
              </a:rPr>
              <a:t>the </a:t>
            </a:r>
            <a:r>
              <a:rPr lang="en-US" sz="2000" dirty="0">
                <a:latin typeface="Cambria" panose="02040503050406030204" pitchFamily="18" charset="0"/>
                <a:ea typeface="Cambria" panose="02040503050406030204" pitchFamily="18" charset="0"/>
                <a:cs typeface="Times New Roman" panose="02020603050405020304" pitchFamily="18" charset="0"/>
              </a:rPr>
              <a:t>key at </a:t>
            </a:r>
            <a:r>
              <a:rPr lang="en-US" sz="2000" spc="-5" dirty="0">
                <a:latin typeface="Cambria" panose="02040503050406030204" pitchFamily="18" charset="0"/>
                <a:ea typeface="Cambria" panose="02040503050406030204" pitchFamily="18" charset="0"/>
                <a:cs typeface="Times New Roman" panose="02020603050405020304" pitchFamily="18" charset="0"/>
              </a:rPr>
              <a:t>root must </a:t>
            </a:r>
            <a:r>
              <a:rPr lang="en-US" sz="2000" dirty="0">
                <a:latin typeface="Cambria" panose="02040503050406030204" pitchFamily="18" charset="0"/>
                <a:ea typeface="Cambria" panose="02040503050406030204" pitchFamily="18" charset="0"/>
                <a:cs typeface="Times New Roman" panose="02020603050405020304" pitchFamily="18" charset="0"/>
              </a:rPr>
              <a:t>be </a:t>
            </a:r>
            <a:r>
              <a:rPr lang="en-US" sz="2000" spc="-5" dirty="0">
                <a:latin typeface="Cambria" panose="02040503050406030204" pitchFamily="18" charset="0"/>
                <a:ea typeface="Cambria" panose="02040503050406030204" pitchFamily="18" charset="0"/>
                <a:cs typeface="Times New Roman" panose="02020603050405020304" pitchFamily="18" charset="0"/>
              </a:rPr>
              <a:t>Maximum among</a:t>
            </a:r>
            <a:r>
              <a:rPr lang="en-US" sz="2000" spc="340" dirty="0">
                <a:latin typeface="Cambria" panose="02040503050406030204" pitchFamily="18" charset="0"/>
                <a:ea typeface="Cambria" panose="02040503050406030204" pitchFamily="18" charset="0"/>
                <a:cs typeface="Times New Roman" panose="02020603050405020304" pitchFamily="18" charset="0"/>
              </a:rPr>
              <a:t> </a:t>
            </a:r>
            <a:r>
              <a:rPr lang="en-US" sz="2000" spc="-10" dirty="0">
                <a:latin typeface="Cambria" panose="02040503050406030204" pitchFamily="18" charset="0"/>
                <a:ea typeface="Cambria" panose="02040503050406030204" pitchFamily="18" charset="0"/>
                <a:cs typeface="Times New Roman" panose="02020603050405020304" pitchFamily="18" charset="0"/>
              </a:rPr>
              <a:t>all </a:t>
            </a:r>
            <a:r>
              <a:rPr lang="en-US" sz="2000" spc="-5" dirty="0">
                <a:latin typeface="Cambria" panose="02040503050406030204" pitchFamily="18" charset="0"/>
                <a:ea typeface="Cambria" panose="02040503050406030204" pitchFamily="18" charset="0"/>
                <a:cs typeface="Times New Roman" panose="02020603050405020304" pitchFamily="18" charset="0"/>
              </a:rPr>
              <a:t>keys</a:t>
            </a:r>
            <a:r>
              <a:rPr lang="en-US" sz="2000" spc="34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present </a:t>
            </a:r>
            <a:r>
              <a:rPr lang="en-US" sz="2000" dirty="0">
                <a:latin typeface="Cambria" panose="02040503050406030204" pitchFamily="18" charset="0"/>
                <a:ea typeface="Cambria" panose="02040503050406030204" pitchFamily="18" charset="0"/>
                <a:cs typeface="Times New Roman" panose="02020603050405020304" pitchFamily="18" charset="0"/>
              </a:rPr>
              <a:t> in</a:t>
            </a:r>
            <a:r>
              <a:rPr lang="en-US" sz="2000" spc="-5" dirty="0">
                <a:latin typeface="Cambria" panose="02040503050406030204" pitchFamily="18" charset="0"/>
                <a:ea typeface="Cambria" panose="02040503050406030204" pitchFamily="18" charset="0"/>
                <a:cs typeface="Times New Roman" panose="02020603050405020304" pitchFamily="18" charset="0"/>
              </a:rPr>
              <a:t> Binary</a:t>
            </a:r>
            <a:r>
              <a:rPr lang="en-US" sz="2000" spc="-2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Heap.</a:t>
            </a:r>
          </a:p>
          <a:p>
            <a:pPr algn="just" eaLnBrk="1" hangingPunct="1">
              <a:spcAft>
                <a:spcPts val="137"/>
              </a:spcAft>
            </a:pPr>
            <a:endParaRPr lang="en-US" altLang="en-US" sz="1800" dirty="0">
              <a:latin typeface="Cambria" panose="02040503050406030204" pitchFamily="18" charset="0"/>
            </a:endParaRPr>
          </a:p>
        </p:txBody>
      </p:sp>
      <p:sp>
        <p:nvSpPr>
          <p:cNvPr id="4" name="TextBox 3">
            <a:extLst>
              <a:ext uri="{FF2B5EF4-FFF2-40B4-BE49-F238E27FC236}">
                <a16:creationId xmlns:a16="http://schemas.microsoft.com/office/drawing/2014/main" id="{B4617E4A-1ACD-93B0-BCCF-393FE525A9D1}"/>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0638A-9F4E-49B2-123A-9A544F82A7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86DDB2-768C-2266-DE3E-C01B8AA1BAFD}"/>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6" name="TextBox 5">
            <a:extLst>
              <a:ext uri="{FF2B5EF4-FFF2-40B4-BE49-F238E27FC236}">
                <a16:creationId xmlns:a16="http://schemas.microsoft.com/office/drawing/2014/main" id="{865568CC-1E24-CBB1-C938-BABDB4745B22}"/>
              </a:ext>
            </a:extLst>
          </p:cNvPr>
          <p:cNvSpPr txBox="1"/>
          <p:nvPr/>
        </p:nvSpPr>
        <p:spPr>
          <a:xfrm>
            <a:off x="690663" y="1027653"/>
            <a:ext cx="10505873" cy="3475310"/>
          </a:xfrm>
          <a:prstGeom prst="rect">
            <a:avLst/>
          </a:prstGeom>
          <a:noFill/>
        </p:spPr>
        <p:txBody>
          <a:bodyPr wrap="square">
            <a:spAutoFit/>
          </a:bodyPr>
          <a:lstStyle/>
          <a:p>
            <a:pPr marL="12700" marR="8255" algn="just">
              <a:spcBef>
                <a:spcPts val="865"/>
              </a:spcBef>
            </a:pPr>
            <a:r>
              <a:rPr lang="en-US" sz="2400" b="1" i="1" u="sng" spc="5" dirty="0">
                <a:solidFill>
                  <a:srgbClr val="FF0000"/>
                </a:solidFill>
                <a:uFill>
                  <a:solidFill>
                    <a:srgbClr val="000000"/>
                  </a:solidFill>
                </a:uFill>
                <a:latin typeface="Cambria" panose="02040503050406030204" pitchFamily="18" charset="0"/>
                <a:ea typeface="Cambria" panose="02040503050406030204" pitchFamily="18" charset="0"/>
                <a:cs typeface="Times New Roman"/>
              </a:rPr>
              <a:t>Min-Heap</a:t>
            </a:r>
            <a:r>
              <a:rPr lang="en-US" sz="2400" b="1" u="sng" spc="5" dirty="0">
                <a:solidFill>
                  <a:srgbClr val="FF0000"/>
                </a:solidFill>
                <a:uFill>
                  <a:solidFill>
                    <a:srgbClr val="000000"/>
                  </a:solidFill>
                </a:uFill>
                <a:latin typeface="Cambria" panose="02040503050406030204" pitchFamily="18" charset="0"/>
                <a:ea typeface="Cambria" panose="02040503050406030204" pitchFamily="18" charset="0"/>
                <a:cs typeface="Times New Roman"/>
              </a:rPr>
              <a:t>:</a:t>
            </a:r>
            <a:r>
              <a:rPr lang="en-US" sz="2000" spc="5" dirty="0">
                <a:latin typeface="Cambria" panose="02040503050406030204" pitchFamily="18" charset="0"/>
                <a:ea typeface="Cambria" panose="02040503050406030204" pitchFamily="18" charset="0"/>
                <a:cs typeface="Times New Roman"/>
              </a:rPr>
              <a:t> In a Min-Heap the key present at the root node must be less than or  equal among the keys present at all of its children. </a:t>
            </a:r>
            <a:r>
              <a:rPr lang="en-US" sz="2000" dirty="0">
                <a:latin typeface="Cambria" panose="02040503050406030204" pitchFamily="18" charset="0"/>
                <a:ea typeface="Cambria" panose="02040503050406030204" pitchFamily="18" charset="0"/>
                <a:cs typeface="Times New Roman"/>
              </a:rPr>
              <a:t>The </a:t>
            </a:r>
            <a:r>
              <a:rPr lang="en-US" sz="2000" spc="5" dirty="0">
                <a:latin typeface="Cambria" panose="02040503050406030204" pitchFamily="18" charset="0"/>
                <a:ea typeface="Cambria" panose="02040503050406030204" pitchFamily="18" charset="0"/>
                <a:cs typeface="Times New Roman"/>
              </a:rPr>
              <a:t>same property must </a:t>
            </a:r>
            <a:r>
              <a:rPr lang="en-US" sz="2000" dirty="0">
                <a:latin typeface="Cambria" panose="02040503050406030204" pitchFamily="18" charset="0"/>
                <a:ea typeface="Cambria" panose="02040503050406030204" pitchFamily="18" charset="0"/>
                <a:cs typeface="Times New Roman"/>
              </a:rPr>
              <a:t>be </a:t>
            </a:r>
            <a:r>
              <a:rPr lang="en-US" sz="2000" spc="5" dirty="0">
                <a:latin typeface="Cambria" panose="02040503050406030204" pitchFamily="18" charset="0"/>
                <a:ea typeface="Cambria" panose="02040503050406030204" pitchFamily="18" charset="0"/>
                <a:cs typeface="Times New Roman"/>
              </a:rPr>
              <a:t> recursively true </a:t>
            </a:r>
            <a:r>
              <a:rPr lang="en-US" sz="2000" dirty="0">
                <a:latin typeface="Cambria" panose="02040503050406030204" pitchFamily="18" charset="0"/>
                <a:ea typeface="Cambria" panose="02040503050406030204" pitchFamily="18" charset="0"/>
                <a:cs typeface="Times New Roman"/>
              </a:rPr>
              <a:t>for </a:t>
            </a:r>
            <a:r>
              <a:rPr lang="en-US" sz="2000" spc="5" dirty="0">
                <a:latin typeface="Cambria" panose="02040503050406030204" pitchFamily="18" charset="0"/>
                <a:ea typeface="Cambria" panose="02040503050406030204" pitchFamily="18" charset="0"/>
                <a:cs typeface="Times New Roman"/>
              </a:rPr>
              <a:t>all sub-trees </a:t>
            </a:r>
            <a:r>
              <a:rPr lang="en-US" sz="2000" dirty="0">
                <a:latin typeface="Cambria" panose="02040503050406030204" pitchFamily="18" charset="0"/>
                <a:ea typeface="Cambria" panose="02040503050406030204" pitchFamily="18" charset="0"/>
                <a:cs typeface="Times New Roman"/>
              </a:rPr>
              <a:t>in </a:t>
            </a:r>
            <a:r>
              <a:rPr lang="en-US" sz="2000" spc="5" dirty="0">
                <a:latin typeface="Cambria" panose="02040503050406030204" pitchFamily="18" charset="0"/>
                <a:ea typeface="Cambria" panose="02040503050406030204" pitchFamily="18" charset="0"/>
                <a:cs typeface="Times New Roman"/>
              </a:rPr>
              <a:t>that Binary Tree. In </a:t>
            </a:r>
            <a:r>
              <a:rPr lang="en-US" sz="2000" dirty="0">
                <a:latin typeface="Cambria" panose="02040503050406030204" pitchFamily="18" charset="0"/>
                <a:ea typeface="Cambria" panose="02040503050406030204" pitchFamily="18" charset="0"/>
                <a:cs typeface="Times New Roman"/>
              </a:rPr>
              <a:t>a </a:t>
            </a:r>
            <a:r>
              <a:rPr lang="en-US" sz="2000" spc="5" dirty="0">
                <a:latin typeface="Cambria" panose="02040503050406030204" pitchFamily="18" charset="0"/>
                <a:ea typeface="Cambria" panose="02040503050406030204" pitchFamily="18" charset="0"/>
                <a:cs typeface="Times New Roman"/>
              </a:rPr>
              <a:t>Min-Heap the minimum </a:t>
            </a:r>
            <a:r>
              <a:rPr lang="en-US" sz="2000" spc="10" dirty="0">
                <a:latin typeface="Cambria" panose="02040503050406030204" pitchFamily="18" charset="0"/>
                <a:ea typeface="Cambria" panose="02040503050406030204" pitchFamily="18" charset="0"/>
                <a:cs typeface="Times New Roman"/>
              </a:rPr>
              <a:t> key</a:t>
            </a:r>
            <a:r>
              <a:rPr lang="en-US" sz="2000" spc="-5"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element</a:t>
            </a:r>
            <a:r>
              <a:rPr lang="en-US" sz="2000" spc="15"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present</a:t>
            </a:r>
            <a:r>
              <a:rPr lang="en-US" sz="2000" spc="15" dirty="0">
                <a:latin typeface="Cambria" panose="02040503050406030204" pitchFamily="18" charset="0"/>
                <a:ea typeface="Cambria" panose="02040503050406030204" pitchFamily="18" charset="0"/>
                <a:cs typeface="Times New Roman"/>
              </a:rPr>
              <a:t> </a:t>
            </a:r>
            <a:r>
              <a:rPr lang="en-US" sz="2000" dirty="0">
                <a:latin typeface="Cambria" panose="02040503050406030204" pitchFamily="18" charset="0"/>
                <a:ea typeface="Cambria" panose="02040503050406030204" pitchFamily="18" charset="0"/>
                <a:cs typeface="Times New Roman"/>
              </a:rPr>
              <a:t>at</a:t>
            </a:r>
            <a:r>
              <a:rPr lang="en-US" sz="2000" spc="15"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the</a:t>
            </a:r>
            <a:r>
              <a:rPr lang="en-US" sz="2000" spc="15"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root.</a:t>
            </a:r>
            <a:endParaRPr lang="en-US" sz="2000" dirty="0">
              <a:latin typeface="Cambria" panose="02040503050406030204" pitchFamily="18" charset="0"/>
              <a:ea typeface="Cambria" panose="02040503050406030204" pitchFamily="18" charset="0"/>
              <a:cs typeface="Times New Roman"/>
            </a:endParaRPr>
          </a:p>
          <a:p>
            <a:pPr marL="12700" algn="just">
              <a:spcBef>
                <a:spcPts val="509"/>
              </a:spcBef>
            </a:pPr>
            <a:r>
              <a:rPr lang="en-US" sz="2000" b="1" u="sng" spc="5" dirty="0">
                <a:solidFill>
                  <a:srgbClr val="00B050"/>
                </a:solidFill>
                <a:uFill>
                  <a:solidFill>
                    <a:srgbClr val="273139"/>
                  </a:solidFill>
                </a:uFill>
                <a:latin typeface="Cambria" panose="02040503050406030204" pitchFamily="18" charset="0"/>
                <a:ea typeface="Cambria" panose="02040503050406030204" pitchFamily="18" charset="0"/>
                <a:cs typeface="Arial"/>
              </a:rPr>
              <a:t>Algorithm</a:t>
            </a:r>
            <a:r>
              <a:rPr lang="en-US" sz="2000" b="1" u="sng" dirty="0">
                <a:solidFill>
                  <a:srgbClr val="00B050"/>
                </a:solidFill>
                <a:uFill>
                  <a:solidFill>
                    <a:srgbClr val="273139"/>
                  </a:solidFill>
                </a:uFill>
                <a:latin typeface="Cambria" panose="02040503050406030204" pitchFamily="18" charset="0"/>
                <a:ea typeface="Cambria" panose="02040503050406030204" pitchFamily="18" charset="0"/>
                <a:cs typeface="Arial"/>
              </a:rPr>
              <a:t> </a:t>
            </a:r>
            <a:r>
              <a:rPr lang="en-US" sz="2000" b="1" u="sng" spc="5" dirty="0">
                <a:solidFill>
                  <a:srgbClr val="00B050"/>
                </a:solidFill>
                <a:uFill>
                  <a:solidFill>
                    <a:srgbClr val="273139"/>
                  </a:solidFill>
                </a:uFill>
                <a:latin typeface="Cambria" panose="02040503050406030204" pitchFamily="18" charset="0"/>
                <a:ea typeface="Cambria" panose="02040503050406030204" pitchFamily="18" charset="0"/>
                <a:cs typeface="Arial"/>
              </a:rPr>
              <a:t>for</a:t>
            </a:r>
            <a:r>
              <a:rPr lang="en-US" sz="2000" b="1" u="sng" dirty="0">
                <a:solidFill>
                  <a:srgbClr val="00B050"/>
                </a:solidFill>
                <a:uFill>
                  <a:solidFill>
                    <a:srgbClr val="273139"/>
                  </a:solidFill>
                </a:uFill>
                <a:latin typeface="Cambria" panose="02040503050406030204" pitchFamily="18" charset="0"/>
                <a:ea typeface="Cambria" panose="02040503050406030204" pitchFamily="18" charset="0"/>
                <a:cs typeface="Arial"/>
              </a:rPr>
              <a:t> </a:t>
            </a:r>
            <a:r>
              <a:rPr lang="en-US" sz="2000" b="1" u="sng" spc="5" dirty="0">
                <a:solidFill>
                  <a:srgbClr val="00B050"/>
                </a:solidFill>
                <a:uFill>
                  <a:solidFill>
                    <a:srgbClr val="273139"/>
                  </a:solidFill>
                </a:uFill>
                <a:latin typeface="Cambria" panose="02040503050406030204" pitchFamily="18" charset="0"/>
                <a:ea typeface="Cambria" panose="02040503050406030204" pitchFamily="18" charset="0"/>
                <a:cs typeface="Arial"/>
              </a:rPr>
              <a:t>Min</a:t>
            </a:r>
            <a:r>
              <a:rPr lang="en-US" sz="2000" b="1" u="sng" dirty="0">
                <a:solidFill>
                  <a:srgbClr val="00B050"/>
                </a:solidFill>
                <a:uFill>
                  <a:solidFill>
                    <a:srgbClr val="273139"/>
                  </a:solidFill>
                </a:uFill>
                <a:latin typeface="Cambria" panose="02040503050406030204" pitchFamily="18" charset="0"/>
                <a:ea typeface="Cambria" panose="02040503050406030204" pitchFamily="18" charset="0"/>
                <a:cs typeface="Arial"/>
              </a:rPr>
              <a:t> </a:t>
            </a:r>
            <a:r>
              <a:rPr lang="en-US" sz="2000" b="1" u="sng" spc="5" dirty="0">
                <a:solidFill>
                  <a:srgbClr val="00B050"/>
                </a:solidFill>
                <a:uFill>
                  <a:solidFill>
                    <a:srgbClr val="273139"/>
                  </a:solidFill>
                </a:uFill>
                <a:latin typeface="Cambria" panose="02040503050406030204" pitchFamily="18" charset="0"/>
                <a:ea typeface="Cambria" panose="02040503050406030204" pitchFamily="18" charset="0"/>
                <a:cs typeface="Arial"/>
              </a:rPr>
              <a:t>Heap:</a:t>
            </a:r>
            <a:endParaRPr lang="en-US" sz="2000" u="sng" dirty="0">
              <a:solidFill>
                <a:srgbClr val="00B050"/>
              </a:solidFill>
              <a:latin typeface="Cambria" panose="02040503050406030204" pitchFamily="18" charset="0"/>
              <a:ea typeface="Cambria" panose="02040503050406030204" pitchFamily="18" charset="0"/>
              <a:cs typeface="Arial"/>
            </a:endParaRPr>
          </a:p>
          <a:p>
            <a:pPr marL="977900" indent="-977900" algn="just">
              <a:spcBef>
                <a:spcPts val="490"/>
              </a:spcBef>
            </a:pPr>
            <a:r>
              <a:rPr lang="en-US" sz="2000" b="1" i="1" spc="-5" dirty="0">
                <a:latin typeface="Cambria" panose="02040503050406030204" pitchFamily="18" charset="0"/>
                <a:ea typeface="Cambria" panose="02040503050406030204" pitchFamily="18" charset="0"/>
                <a:cs typeface="Times New Roman"/>
              </a:rPr>
              <a:t>Step</a:t>
            </a:r>
            <a:r>
              <a:rPr lang="en-US" sz="2000" b="1" i="1" spc="-10" dirty="0">
                <a:latin typeface="Cambria" panose="02040503050406030204" pitchFamily="18" charset="0"/>
                <a:ea typeface="Cambria" panose="02040503050406030204" pitchFamily="18" charset="0"/>
                <a:cs typeface="Times New Roman"/>
              </a:rPr>
              <a:t>-1: </a:t>
            </a:r>
            <a:r>
              <a:rPr lang="en-US" sz="2000" spc="-5" dirty="0">
                <a:latin typeface="Cambria" panose="02040503050406030204" pitchFamily="18" charset="0"/>
                <a:ea typeface="Cambria" panose="02040503050406030204" pitchFamily="18" charset="0"/>
                <a:cs typeface="Times New Roman"/>
              </a:rPr>
              <a:t>Create a </a:t>
            </a:r>
            <a:r>
              <a:rPr lang="en-US" sz="2000" dirty="0">
                <a:latin typeface="Cambria" panose="02040503050406030204" pitchFamily="18" charset="0"/>
                <a:ea typeface="Cambria" panose="02040503050406030204" pitchFamily="18" charset="0"/>
                <a:cs typeface="Times New Roman"/>
              </a:rPr>
              <a:t>new</a:t>
            </a:r>
            <a:r>
              <a:rPr lang="en-US" sz="2000" spc="5"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node at the </a:t>
            </a:r>
            <a:r>
              <a:rPr lang="en-US" sz="2000" dirty="0">
                <a:latin typeface="Cambria" panose="02040503050406030204" pitchFamily="18" charset="0"/>
                <a:ea typeface="Cambria" panose="02040503050406030204" pitchFamily="18" charset="0"/>
                <a:cs typeface="Times New Roman"/>
              </a:rPr>
              <a:t>end</a:t>
            </a:r>
            <a:r>
              <a:rPr lang="en-US" sz="2000" spc="-5" dirty="0">
                <a:latin typeface="Cambria" panose="02040503050406030204" pitchFamily="18" charset="0"/>
                <a:ea typeface="Cambria" panose="02040503050406030204" pitchFamily="18" charset="0"/>
                <a:cs typeface="Times New Roman"/>
              </a:rPr>
              <a:t> of</a:t>
            </a:r>
            <a:r>
              <a:rPr lang="en-US" sz="2000" spc="10" dirty="0">
                <a:latin typeface="Cambria" panose="02040503050406030204" pitchFamily="18" charset="0"/>
                <a:ea typeface="Cambria" panose="02040503050406030204" pitchFamily="18" charset="0"/>
                <a:cs typeface="Times New Roman"/>
              </a:rPr>
              <a:t> </a:t>
            </a:r>
            <a:r>
              <a:rPr lang="en-US" sz="2000" dirty="0">
                <a:latin typeface="Cambria" panose="02040503050406030204" pitchFamily="18" charset="0"/>
                <a:ea typeface="Cambria" panose="02040503050406030204" pitchFamily="18" charset="0"/>
                <a:cs typeface="Times New Roman"/>
              </a:rPr>
              <a:t>heap.</a:t>
            </a:r>
          </a:p>
          <a:p>
            <a:pPr marL="977900" indent="-977900" algn="just"/>
            <a:r>
              <a:rPr lang="en-US" sz="2000" b="1" i="1" spc="-5" dirty="0">
                <a:latin typeface="Cambria" panose="02040503050406030204" pitchFamily="18" charset="0"/>
                <a:ea typeface="Cambria" panose="02040503050406030204" pitchFamily="18" charset="0"/>
                <a:cs typeface="Times New Roman"/>
              </a:rPr>
              <a:t>Step</a:t>
            </a:r>
            <a:r>
              <a:rPr lang="en-US" sz="2000" b="1" i="1" spc="-10" dirty="0">
                <a:latin typeface="Cambria" panose="02040503050406030204" pitchFamily="18" charset="0"/>
                <a:ea typeface="Cambria" panose="02040503050406030204" pitchFamily="18" charset="0"/>
                <a:cs typeface="Times New Roman"/>
              </a:rPr>
              <a:t>-2: </a:t>
            </a:r>
            <a:r>
              <a:rPr lang="en-US" sz="2000" spc="-5" dirty="0">
                <a:latin typeface="Cambria" panose="02040503050406030204" pitchFamily="18" charset="0"/>
                <a:ea typeface="Cambria" panose="02040503050406030204" pitchFamily="18" charset="0"/>
                <a:cs typeface="Times New Roman"/>
              </a:rPr>
              <a:t>Assign </a:t>
            </a:r>
            <a:r>
              <a:rPr lang="en-US" sz="2000" dirty="0">
                <a:latin typeface="Cambria" panose="02040503050406030204" pitchFamily="18" charset="0"/>
                <a:ea typeface="Cambria" panose="02040503050406030204" pitchFamily="18" charset="0"/>
                <a:cs typeface="Times New Roman"/>
              </a:rPr>
              <a:t>new</a:t>
            </a:r>
            <a:r>
              <a:rPr lang="en-US" sz="2000" spc="-10" dirty="0">
                <a:latin typeface="Cambria" panose="02040503050406030204" pitchFamily="18" charset="0"/>
                <a:ea typeface="Cambria" panose="02040503050406030204" pitchFamily="18" charset="0"/>
                <a:cs typeface="Times New Roman"/>
              </a:rPr>
              <a:t> </a:t>
            </a:r>
            <a:r>
              <a:rPr lang="en-US" sz="2000" dirty="0">
                <a:latin typeface="Cambria" panose="02040503050406030204" pitchFamily="18" charset="0"/>
                <a:ea typeface="Cambria" panose="02040503050406030204" pitchFamily="18" charset="0"/>
                <a:cs typeface="Times New Roman"/>
              </a:rPr>
              <a:t>value</a:t>
            </a:r>
            <a:r>
              <a:rPr lang="en-US" sz="2000" spc="-1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to</a:t>
            </a:r>
            <a:r>
              <a:rPr lang="en-US" sz="2000" spc="-1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the</a:t>
            </a:r>
            <a:r>
              <a:rPr lang="en-US" sz="2000" spc="1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node.</a:t>
            </a:r>
          </a:p>
          <a:p>
            <a:pPr marL="977900" indent="-977900" algn="just"/>
            <a:r>
              <a:rPr lang="en-US" sz="2000" b="1" spc="-5" dirty="0">
                <a:latin typeface="Cambria" panose="02040503050406030204" pitchFamily="18" charset="0"/>
                <a:ea typeface="Cambria" panose="02040503050406030204" pitchFamily="18" charset="0"/>
                <a:cs typeface="Times New Roman"/>
              </a:rPr>
              <a:t>Step-3</a:t>
            </a:r>
            <a:r>
              <a:rPr lang="en-US" sz="2000" spc="-5" dirty="0">
                <a:latin typeface="Cambria" panose="02040503050406030204" pitchFamily="18" charset="0"/>
                <a:ea typeface="Cambria" panose="02040503050406030204" pitchFamily="18" charset="0"/>
                <a:cs typeface="Times New Roman"/>
              </a:rPr>
              <a:t>: Compare the value of this child node with its parent.</a:t>
            </a:r>
          </a:p>
          <a:p>
            <a:pPr marL="977900" indent="-977900" algn="just"/>
            <a:r>
              <a:rPr lang="en-US" sz="2000" b="1" spc="-5" dirty="0">
                <a:latin typeface="Cambria" panose="02040503050406030204" pitchFamily="18" charset="0"/>
                <a:ea typeface="Cambria" panose="02040503050406030204" pitchFamily="18" charset="0"/>
                <a:cs typeface="Times New Roman"/>
              </a:rPr>
              <a:t>Step-4</a:t>
            </a:r>
            <a:r>
              <a:rPr lang="en-US" sz="2000" spc="-5" dirty="0">
                <a:latin typeface="Cambria" panose="02040503050406030204" pitchFamily="18" charset="0"/>
                <a:ea typeface="Cambria" panose="02040503050406030204" pitchFamily="18" charset="0"/>
                <a:cs typeface="Times New Roman"/>
              </a:rPr>
              <a:t>: If value of parent is greater then child, then swap them.</a:t>
            </a:r>
          </a:p>
          <a:p>
            <a:pPr marL="977900" indent="-977900" algn="just"/>
            <a:r>
              <a:rPr lang="en-US" sz="2000" b="1" spc="-5" dirty="0">
                <a:latin typeface="Cambria" panose="02040503050406030204" pitchFamily="18" charset="0"/>
                <a:ea typeface="Cambria" panose="02040503050406030204" pitchFamily="18" charset="0"/>
                <a:cs typeface="Times New Roman"/>
              </a:rPr>
              <a:t>Step-5</a:t>
            </a:r>
            <a:r>
              <a:rPr lang="en-US" sz="2000" spc="-5" dirty="0">
                <a:latin typeface="Cambria" panose="02040503050406030204" pitchFamily="18" charset="0"/>
                <a:ea typeface="Cambria" panose="02040503050406030204" pitchFamily="18" charset="0"/>
                <a:cs typeface="Times New Roman"/>
              </a:rPr>
              <a:t>: Repeat Step-3&amp;4 unit heap property holds.</a:t>
            </a:r>
          </a:p>
          <a:p>
            <a:pPr marL="12700" algn="just">
              <a:spcBef>
                <a:spcPts val="894"/>
              </a:spcBef>
            </a:pPr>
            <a:r>
              <a:rPr lang="en-US" sz="2000" b="1" spc="-5" dirty="0">
                <a:latin typeface="Cambria" panose="02040503050406030204" pitchFamily="18" charset="0"/>
                <a:ea typeface="Cambria" panose="02040503050406030204" pitchFamily="18" charset="0"/>
                <a:cs typeface="Times New Roman"/>
              </a:rPr>
              <a:t>Example</a:t>
            </a:r>
            <a:r>
              <a:rPr lang="en-US" sz="2000" spc="-5" dirty="0">
                <a:latin typeface="Cambria" panose="02040503050406030204" pitchFamily="18" charset="0"/>
                <a:ea typeface="Cambria" panose="02040503050406030204" pitchFamily="18" charset="0"/>
                <a:cs typeface="Times New Roman"/>
              </a:rPr>
              <a:t> : Below is the Binary </a:t>
            </a:r>
            <a:r>
              <a:rPr lang="en-US" sz="2000" spc="5" dirty="0">
                <a:latin typeface="Cambria" panose="02040503050406030204" pitchFamily="18" charset="0"/>
                <a:ea typeface="Cambria" panose="02040503050406030204" pitchFamily="18" charset="0"/>
                <a:cs typeface="Times New Roman"/>
              </a:rPr>
              <a:t>Tree</a:t>
            </a:r>
            <a:r>
              <a:rPr lang="en-US" sz="2000" spc="1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that</a:t>
            </a:r>
            <a:r>
              <a:rPr lang="en-US" sz="2000" spc="30" dirty="0">
                <a:latin typeface="Cambria" panose="02040503050406030204" pitchFamily="18" charset="0"/>
                <a:ea typeface="Cambria" panose="02040503050406030204" pitchFamily="18" charset="0"/>
                <a:cs typeface="Times New Roman"/>
              </a:rPr>
              <a:t> </a:t>
            </a:r>
            <a:r>
              <a:rPr lang="en-US" sz="2000" spc="10" dirty="0">
                <a:latin typeface="Cambria" panose="02040503050406030204" pitchFamily="18" charset="0"/>
                <a:ea typeface="Cambria" panose="02040503050406030204" pitchFamily="18" charset="0"/>
                <a:cs typeface="Times New Roman"/>
              </a:rPr>
              <a:t>satisfies</a:t>
            </a:r>
            <a:r>
              <a:rPr lang="en-US" sz="2000" spc="15" dirty="0">
                <a:latin typeface="Cambria" panose="02040503050406030204" pitchFamily="18" charset="0"/>
                <a:ea typeface="Cambria" panose="02040503050406030204" pitchFamily="18" charset="0"/>
                <a:cs typeface="Times New Roman"/>
              </a:rPr>
              <a:t> </a:t>
            </a:r>
            <a:r>
              <a:rPr lang="en-US" sz="2000" dirty="0">
                <a:latin typeface="Cambria" panose="02040503050406030204" pitchFamily="18" charset="0"/>
                <a:ea typeface="Cambria" panose="02040503050406030204" pitchFamily="18" charset="0"/>
                <a:cs typeface="Times New Roman"/>
              </a:rPr>
              <a:t>all</a:t>
            </a:r>
            <a:r>
              <a:rPr lang="en-US" sz="2000" spc="2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the</a:t>
            </a:r>
            <a:r>
              <a:rPr lang="en-US" sz="2000" spc="1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property</a:t>
            </a:r>
            <a:r>
              <a:rPr lang="en-US" sz="200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of</a:t>
            </a:r>
            <a:r>
              <a:rPr lang="en-US" sz="2000" spc="15" dirty="0">
                <a:latin typeface="Cambria" panose="02040503050406030204" pitchFamily="18" charset="0"/>
                <a:ea typeface="Cambria" panose="02040503050406030204" pitchFamily="18" charset="0"/>
                <a:cs typeface="Times New Roman"/>
              </a:rPr>
              <a:t> </a:t>
            </a:r>
            <a:r>
              <a:rPr lang="en-US" sz="2000" dirty="0">
                <a:latin typeface="Cambria" panose="02040503050406030204" pitchFamily="18" charset="0"/>
                <a:ea typeface="Cambria" panose="02040503050406030204" pitchFamily="18" charset="0"/>
                <a:cs typeface="Times New Roman"/>
              </a:rPr>
              <a:t>Min</a:t>
            </a:r>
            <a:r>
              <a:rPr lang="en-US" sz="2000" spc="15"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Heap</a:t>
            </a:r>
            <a:endParaRPr lang="en-US" sz="2000" dirty="0">
              <a:latin typeface="Cambria" panose="02040503050406030204" pitchFamily="18" charset="0"/>
              <a:ea typeface="Cambria" panose="02040503050406030204" pitchFamily="18" charset="0"/>
              <a:cs typeface="Times New Roman"/>
            </a:endParaRPr>
          </a:p>
        </p:txBody>
      </p:sp>
      <p:pic>
        <p:nvPicPr>
          <p:cNvPr id="10" name="object 7">
            <a:extLst>
              <a:ext uri="{FF2B5EF4-FFF2-40B4-BE49-F238E27FC236}">
                <a16:creationId xmlns:a16="http://schemas.microsoft.com/office/drawing/2014/main" id="{B649C868-9915-CBE0-C39F-1112BDCA25D8}"/>
              </a:ext>
            </a:extLst>
          </p:cNvPr>
          <p:cNvPicPr/>
          <p:nvPr/>
        </p:nvPicPr>
        <p:blipFill>
          <a:blip r:embed="rId2" cstate="print"/>
          <a:stretch>
            <a:fillRect/>
          </a:stretch>
        </p:blipFill>
        <p:spPr>
          <a:xfrm>
            <a:off x="1857983" y="4537566"/>
            <a:ext cx="5612860" cy="2128072"/>
          </a:xfrm>
          <a:prstGeom prst="rect">
            <a:avLst/>
          </a:prstGeom>
        </p:spPr>
      </p:pic>
      <p:sp>
        <p:nvSpPr>
          <p:cNvPr id="11" name="TextBox 10">
            <a:extLst>
              <a:ext uri="{FF2B5EF4-FFF2-40B4-BE49-F238E27FC236}">
                <a16:creationId xmlns:a16="http://schemas.microsoft.com/office/drawing/2014/main" id="{4BE25948-190A-F036-C706-8C24BF3EABDF}"/>
              </a:ext>
            </a:extLst>
          </p:cNvPr>
          <p:cNvSpPr txBox="1"/>
          <p:nvPr/>
        </p:nvSpPr>
        <p:spPr>
          <a:xfrm>
            <a:off x="3171218" y="249848"/>
            <a:ext cx="4280170" cy="523220"/>
          </a:xfrm>
          <a:prstGeom prst="rect">
            <a:avLst/>
          </a:prstGeom>
          <a:noFill/>
        </p:spPr>
        <p:txBody>
          <a:bodyPr wrap="square">
            <a:spAutoFit/>
          </a:bodyPr>
          <a:lstStyle/>
          <a:p>
            <a:pPr algn="just" eaLnBrk="1" hangingPunct="1">
              <a:spcAft>
                <a:spcPts val="537"/>
              </a:spcAft>
            </a:pPr>
            <a:r>
              <a:rPr lang="en-US" altLang="en-US" sz="2800" b="1" dirty="0">
                <a:highlight>
                  <a:srgbClr val="FFFF00"/>
                </a:highlight>
                <a:latin typeface="Cambria" panose="02040503050406030204" pitchFamily="18" charset="0"/>
              </a:rPr>
              <a:t>4 b)  </a:t>
            </a:r>
            <a:r>
              <a:rPr lang="en-US" altLang="en-US" sz="2800" b="1" u="sng" dirty="0">
                <a:highlight>
                  <a:srgbClr val="FFFF00"/>
                </a:highlight>
                <a:latin typeface="Cambria" panose="02040503050406030204" pitchFamily="18" charset="0"/>
              </a:rPr>
              <a:t>Heap Types</a:t>
            </a:r>
            <a:endParaRPr lang="en-US" sz="2800" b="1" u="sng" dirty="0">
              <a:highlight>
                <a:srgbClr val="FFFF00"/>
              </a:highlight>
              <a:latin typeface="Cambria"/>
            </a:endParaRPr>
          </a:p>
        </p:txBody>
      </p:sp>
    </p:spTree>
    <p:extLst>
      <p:ext uri="{BB962C8B-B14F-4D97-AF65-F5344CB8AC3E}">
        <p14:creationId xmlns:p14="http://schemas.microsoft.com/office/powerpoint/2010/main" val="1492489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185FC7-E89D-2C10-89CA-F52DCA6C7DFB}"/>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7" name="TextBox 6">
            <a:extLst>
              <a:ext uri="{FF2B5EF4-FFF2-40B4-BE49-F238E27FC236}">
                <a16:creationId xmlns:a16="http://schemas.microsoft.com/office/drawing/2014/main" id="{20C6691A-3971-45F6-37AC-37479B2C278E}"/>
              </a:ext>
            </a:extLst>
          </p:cNvPr>
          <p:cNvSpPr txBox="1"/>
          <p:nvPr/>
        </p:nvSpPr>
        <p:spPr>
          <a:xfrm>
            <a:off x="1746113" y="318660"/>
            <a:ext cx="7135239" cy="784830"/>
          </a:xfrm>
          <a:prstGeom prst="rect">
            <a:avLst/>
          </a:prstGeom>
          <a:noFill/>
        </p:spPr>
        <p:txBody>
          <a:bodyPr wrap="square">
            <a:spAutoFit/>
          </a:bodyPr>
          <a:lstStyle/>
          <a:p>
            <a:pPr marL="12700">
              <a:lnSpc>
                <a:spcPct val="100000"/>
              </a:lnSpc>
              <a:spcBef>
                <a:spcPts val="625"/>
              </a:spcBef>
            </a:pPr>
            <a:r>
              <a:rPr lang="en-US" b="1" spc="5" dirty="0">
                <a:solidFill>
                  <a:srgbClr val="273139"/>
                </a:solidFill>
                <a:latin typeface="Arial"/>
                <a:cs typeface="Arial"/>
              </a:rPr>
              <a:t>Example:</a:t>
            </a:r>
            <a:r>
              <a:rPr lang="en-US" b="1" spc="80" dirty="0">
                <a:solidFill>
                  <a:srgbClr val="273139"/>
                </a:solidFill>
                <a:latin typeface="Arial"/>
                <a:cs typeface="Arial"/>
              </a:rPr>
              <a:t> </a:t>
            </a:r>
            <a:r>
              <a:rPr lang="en-US" sz="2000" spc="5" dirty="0">
                <a:solidFill>
                  <a:srgbClr val="273139"/>
                </a:solidFill>
                <a:latin typeface="Times New Roman"/>
                <a:cs typeface="Times New Roman"/>
              </a:rPr>
              <a:t>Construct</a:t>
            </a:r>
            <a:r>
              <a:rPr lang="en-US" sz="2000" spc="25" dirty="0">
                <a:solidFill>
                  <a:srgbClr val="273139"/>
                </a:solidFill>
                <a:latin typeface="Times New Roman"/>
                <a:cs typeface="Times New Roman"/>
              </a:rPr>
              <a:t> </a:t>
            </a:r>
            <a:r>
              <a:rPr lang="en-US" sz="2000" dirty="0">
                <a:solidFill>
                  <a:srgbClr val="273139"/>
                </a:solidFill>
                <a:latin typeface="Times New Roman"/>
                <a:cs typeface="Times New Roman"/>
              </a:rPr>
              <a:t>a</a:t>
            </a:r>
            <a:r>
              <a:rPr lang="en-US" sz="2000" spc="20" dirty="0">
                <a:solidFill>
                  <a:srgbClr val="273139"/>
                </a:solidFill>
                <a:latin typeface="Times New Roman"/>
                <a:cs typeface="Times New Roman"/>
              </a:rPr>
              <a:t> </a:t>
            </a:r>
            <a:r>
              <a:rPr lang="en-US" sz="2000" spc="5" dirty="0">
                <a:solidFill>
                  <a:srgbClr val="273139"/>
                </a:solidFill>
                <a:latin typeface="Times New Roman"/>
                <a:cs typeface="Times New Roman"/>
              </a:rPr>
              <a:t>Min</a:t>
            </a:r>
            <a:r>
              <a:rPr lang="en-US" sz="2000" spc="30" dirty="0">
                <a:solidFill>
                  <a:srgbClr val="273139"/>
                </a:solidFill>
                <a:latin typeface="Times New Roman"/>
                <a:cs typeface="Times New Roman"/>
              </a:rPr>
              <a:t> </a:t>
            </a:r>
            <a:r>
              <a:rPr lang="en-US" sz="2000" dirty="0">
                <a:solidFill>
                  <a:srgbClr val="273139"/>
                </a:solidFill>
                <a:latin typeface="Times New Roman"/>
                <a:cs typeface="Times New Roman"/>
              </a:rPr>
              <a:t>Heap</a:t>
            </a:r>
            <a:r>
              <a:rPr lang="en-US" sz="2000" spc="30" dirty="0">
                <a:solidFill>
                  <a:srgbClr val="273139"/>
                </a:solidFill>
                <a:latin typeface="Times New Roman"/>
                <a:cs typeface="Times New Roman"/>
              </a:rPr>
              <a:t> </a:t>
            </a:r>
            <a:r>
              <a:rPr lang="en-US" sz="2000" dirty="0">
                <a:solidFill>
                  <a:srgbClr val="273139"/>
                </a:solidFill>
                <a:latin typeface="Times New Roman"/>
                <a:cs typeface="Times New Roman"/>
              </a:rPr>
              <a:t>with</a:t>
            </a:r>
            <a:r>
              <a:rPr lang="en-US" sz="2000" spc="15" dirty="0">
                <a:solidFill>
                  <a:srgbClr val="273139"/>
                </a:solidFill>
                <a:latin typeface="Times New Roman"/>
                <a:cs typeface="Times New Roman"/>
              </a:rPr>
              <a:t> </a:t>
            </a:r>
            <a:r>
              <a:rPr lang="en-US" sz="2000" spc="5" dirty="0">
                <a:solidFill>
                  <a:srgbClr val="273139"/>
                </a:solidFill>
                <a:latin typeface="Times New Roman"/>
                <a:cs typeface="Times New Roman"/>
              </a:rPr>
              <a:t>the</a:t>
            </a:r>
            <a:r>
              <a:rPr lang="en-US" sz="2000" spc="15" dirty="0">
                <a:solidFill>
                  <a:srgbClr val="273139"/>
                </a:solidFill>
                <a:latin typeface="Times New Roman"/>
                <a:cs typeface="Times New Roman"/>
              </a:rPr>
              <a:t> </a:t>
            </a:r>
            <a:r>
              <a:rPr lang="en-US" sz="2000" spc="5" dirty="0">
                <a:solidFill>
                  <a:srgbClr val="273139"/>
                </a:solidFill>
                <a:latin typeface="Times New Roman"/>
                <a:cs typeface="Times New Roman"/>
              </a:rPr>
              <a:t>following</a:t>
            </a:r>
            <a:r>
              <a:rPr lang="en-US" sz="2000" spc="25" dirty="0">
                <a:solidFill>
                  <a:srgbClr val="273139"/>
                </a:solidFill>
                <a:latin typeface="Times New Roman"/>
                <a:cs typeface="Times New Roman"/>
              </a:rPr>
              <a:t> </a:t>
            </a:r>
            <a:r>
              <a:rPr lang="en-US" sz="2000" spc="5" dirty="0">
                <a:solidFill>
                  <a:srgbClr val="273139"/>
                </a:solidFill>
                <a:latin typeface="Times New Roman"/>
                <a:cs typeface="Times New Roman"/>
              </a:rPr>
              <a:t>data</a:t>
            </a:r>
            <a:r>
              <a:rPr lang="en-US" sz="2000" spc="25" dirty="0">
                <a:solidFill>
                  <a:srgbClr val="273139"/>
                </a:solidFill>
                <a:latin typeface="Times New Roman"/>
                <a:cs typeface="Times New Roman"/>
              </a:rPr>
              <a:t> </a:t>
            </a:r>
            <a:r>
              <a:rPr lang="en-US" sz="2000" spc="5" dirty="0">
                <a:solidFill>
                  <a:srgbClr val="273139"/>
                </a:solidFill>
                <a:latin typeface="Times New Roman"/>
                <a:cs typeface="Times New Roman"/>
              </a:rPr>
              <a:t>elements</a:t>
            </a:r>
            <a:r>
              <a:rPr lang="en-US" sz="2000" spc="25" dirty="0">
                <a:solidFill>
                  <a:srgbClr val="273139"/>
                </a:solidFill>
                <a:latin typeface="Times New Roman"/>
                <a:cs typeface="Times New Roman"/>
              </a:rPr>
              <a:t>: </a:t>
            </a:r>
          </a:p>
          <a:p>
            <a:pPr marL="12700">
              <a:lnSpc>
                <a:spcPct val="100000"/>
              </a:lnSpc>
              <a:spcBef>
                <a:spcPts val="625"/>
              </a:spcBef>
            </a:pPr>
            <a:r>
              <a:rPr lang="en-US" sz="2000" spc="5" dirty="0">
                <a:solidFill>
                  <a:srgbClr val="273139"/>
                </a:solidFill>
                <a:latin typeface="Cambria" panose="02040503050406030204" pitchFamily="18" charset="0"/>
                <a:ea typeface="Cambria" panose="02040503050406030204" pitchFamily="18" charset="0"/>
                <a:cs typeface="Arial MT"/>
              </a:rPr>
              <a:t>	35</a:t>
            </a:r>
            <a:r>
              <a:rPr lang="en-US" sz="2000" spc="-165" dirty="0">
                <a:solidFill>
                  <a:srgbClr val="273139"/>
                </a:solidFill>
                <a:latin typeface="Cambria" panose="02040503050406030204" pitchFamily="18" charset="0"/>
                <a:ea typeface="Cambria" panose="02040503050406030204" pitchFamily="18" charset="0"/>
                <a:cs typeface="Arial MT"/>
              </a:rPr>
              <a:t>   </a:t>
            </a:r>
            <a:r>
              <a:rPr lang="en-US" sz="2000" spc="5" dirty="0">
                <a:solidFill>
                  <a:srgbClr val="273139"/>
                </a:solidFill>
                <a:latin typeface="Cambria" panose="02040503050406030204" pitchFamily="18" charset="0"/>
                <a:ea typeface="Cambria" panose="02040503050406030204" pitchFamily="18" charset="0"/>
                <a:cs typeface="Arial MT"/>
              </a:rPr>
              <a:t>33</a:t>
            </a:r>
            <a:r>
              <a:rPr lang="en-US" sz="2000" spc="-165" dirty="0">
                <a:solidFill>
                  <a:srgbClr val="273139"/>
                </a:solidFill>
                <a:latin typeface="Cambria" panose="02040503050406030204" pitchFamily="18" charset="0"/>
                <a:ea typeface="Cambria" panose="02040503050406030204" pitchFamily="18" charset="0"/>
                <a:cs typeface="Arial MT"/>
              </a:rPr>
              <a:t>    </a:t>
            </a:r>
            <a:r>
              <a:rPr lang="en-US" sz="2000" spc="5" dirty="0">
                <a:solidFill>
                  <a:srgbClr val="273139"/>
                </a:solidFill>
                <a:latin typeface="Cambria" panose="02040503050406030204" pitchFamily="18" charset="0"/>
                <a:ea typeface="Cambria" panose="02040503050406030204" pitchFamily="18" charset="0"/>
                <a:cs typeface="Arial MT"/>
              </a:rPr>
              <a:t>42  10  14  19  27  44  26  </a:t>
            </a:r>
            <a:r>
              <a:rPr lang="en-US" sz="2000" spc="10" dirty="0">
                <a:solidFill>
                  <a:srgbClr val="273139"/>
                </a:solidFill>
                <a:latin typeface="Cambria" panose="02040503050406030204" pitchFamily="18" charset="0"/>
                <a:ea typeface="Cambria" panose="02040503050406030204" pitchFamily="18" charset="0"/>
                <a:cs typeface="Arial MT"/>
              </a:rPr>
              <a:t>31</a:t>
            </a:r>
            <a:endParaRPr lang="en-US" sz="2000" dirty="0">
              <a:latin typeface="Cambria" panose="02040503050406030204" pitchFamily="18" charset="0"/>
              <a:ea typeface="Cambria" panose="02040503050406030204" pitchFamily="18" charset="0"/>
              <a:cs typeface="Arial MT"/>
            </a:endParaRPr>
          </a:p>
        </p:txBody>
      </p:sp>
      <p:grpSp>
        <p:nvGrpSpPr>
          <p:cNvPr id="8" name="Group 7">
            <a:extLst>
              <a:ext uri="{FF2B5EF4-FFF2-40B4-BE49-F238E27FC236}">
                <a16:creationId xmlns:a16="http://schemas.microsoft.com/office/drawing/2014/main" id="{509B2D06-109F-3A57-0CCF-264A63DDC1E4}"/>
              </a:ext>
            </a:extLst>
          </p:cNvPr>
          <p:cNvGrpSpPr/>
          <p:nvPr/>
        </p:nvGrpSpPr>
        <p:grpSpPr>
          <a:xfrm>
            <a:off x="1183873" y="1400784"/>
            <a:ext cx="9681923" cy="4955162"/>
            <a:chOff x="902004" y="1626636"/>
            <a:chExt cx="5754824" cy="4728951"/>
          </a:xfrm>
        </p:grpSpPr>
        <p:sp>
          <p:nvSpPr>
            <p:cNvPr id="10" name="object 6">
              <a:extLst>
                <a:ext uri="{FF2B5EF4-FFF2-40B4-BE49-F238E27FC236}">
                  <a16:creationId xmlns:a16="http://schemas.microsoft.com/office/drawing/2014/main" id="{B2A41EC8-8ADA-D211-AFEE-403AD1F29CDB}"/>
                </a:ext>
              </a:extLst>
            </p:cNvPr>
            <p:cNvSpPr txBox="1"/>
            <p:nvPr/>
          </p:nvSpPr>
          <p:spPr>
            <a:xfrm>
              <a:off x="902004" y="2491485"/>
              <a:ext cx="18732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273139"/>
                  </a:solidFill>
                  <a:latin typeface="Arial MT"/>
                  <a:cs typeface="Arial MT"/>
                </a:rPr>
                <a:t>1)</a:t>
              </a:r>
              <a:endParaRPr sz="1400">
                <a:latin typeface="Arial MT"/>
                <a:cs typeface="Arial MT"/>
              </a:endParaRPr>
            </a:p>
          </p:txBody>
        </p:sp>
        <p:pic>
          <p:nvPicPr>
            <p:cNvPr id="11" name="object 7">
              <a:extLst>
                <a:ext uri="{FF2B5EF4-FFF2-40B4-BE49-F238E27FC236}">
                  <a16:creationId xmlns:a16="http://schemas.microsoft.com/office/drawing/2014/main" id="{2FFA225C-D7D7-A469-2239-02550697402B}"/>
                </a:ext>
              </a:extLst>
            </p:cNvPr>
            <p:cNvPicPr/>
            <p:nvPr/>
          </p:nvPicPr>
          <p:blipFill>
            <a:blip r:embed="rId2" cstate="print"/>
            <a:stretch>
              <a:fillRect/>
            </a:stretch>
          </p:blipFill>
          <p:spPr>
            <a:xfrm>
              <a:off x="1181100" y="2300649"/>
              <a:ext cx="352425" cy="352971"/>
            </a:xfrm>
            <a:prstGeom prst="rect">
              <a:avLst/>
            </a:prstGeom>
          </p:spPr>
        </p:pic>
        <p:sp>
          <p:nvSpPr>
            <p:cNvPr id="12" name="object 8">
              <a:extLst>
                <a:ext uri="{FF2B5EF4-FFF2-40B4-BE49-F238E27FC236}">
                  <a16:creationId xmlns:a16="http://schemas.microsoft.com/office/drawing/2014/main" id="{75E03B12-08D4-52CF-5000-3BF1B99EEA78}"/>
                </a:ext>
              </a:extLst>
            </p:cNvPr>
            <p:cNvSpPr txBox="1"/>
            <p:nvPr/>
          </p:nvSpPr>
          <p:spPr>
            <a:xfrm>
              <a:off x="1816354" y="2491485"/>
              <a:ext cx="185420"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273139"/>
                  </a:solidFill>
                  <a:latin typeface="Arial MT"/>
                  <a:cs typeface="Arial MT"/>
                </a:rPr>
                <a:t>2</a:t>
              </a:r>
              <a:r>
                <a:rPr sz="1400" dirty="0">
                  <a:solidFill>
                    <a:srgbClr val="273139"/>
                  </a:solidFill>
                  <a:latin typeface="Arial MT"/>
                  <a:cs typeface="Arial MT"/>
                </a:rPr>
                <a:t>)</a:t>
              </a:r>
              <a:endParaRPr sz="1400">
                <a:latin typeface="Arial MT"/>
                <a:cs typeface="Arial MT"/>
              </a:endParaRPr>
            </a:p>
          </p:txBody>
        </p:sp>
        <p:grpSp>
          <p:nvGrpSpPr>
            <p:cNvPr id="13" name="object 9">
              <a:extLst>
                <a:ext uri="{FF2B5EF4-FFF2-40B4-BE49-F238E27FC236}">
                  <a16:creationId xmlns:a16="http://schemas.microsoft.com/office/drawing/2014/main" id="{2A28A4C3-F2DD-3D4B-F912-BA9DA226500B}"/>
                </a:ext>
              </a:extLst>
            </p:cNvPr>
            <p:cNvGrpSpPr/>
            <p:nvPr/>
          </p:nvGrpSpPr>
          <p:grpSpPr>
            <a:xfrm>
              <a:off x="2087862" y="1954510"/>
              <a:ext cx="493395" cy="673100"/>
              <a:chOff x="2087862" y="1954510"/>
              <a:chExt cx="493395" cy="673100"/>
            </a:xfrm>
          </p:grpSpPr>
          <p:pic>
            <p:nvPicPr>
              <p:cNvPr id="38" name="object 10">
                <a:extLst>
                  <a:ext uri="{FF2B5EF4-FFF2-40B4-BE49-F238E27FC236}">
                    <a16:creationId xmlns:a16="http://schemas.microsoft.com/office/drawing/2014/main" id="{FCB8350E-CB3B-0ABB-998A-985DC262B5B2}"/>
                  </a:ext>
                </a:extLst>
              </p:cNvPr>
              <p:cNvPicPr/>
              <p:nvPr/>
            </p:nvPicPr>
            <p:blipFill>
              <a:blip r:embed="rId3" cstate="print"/>
              <a:stretch>
                <a:fillRect/>
              </a:stretch>
            </p:blipFill>
            <p:spPr>
              <a:xfrm>
                <a:off x="2087862" y="1954510"/>
                <a:ext cx="493212" cy="672954"/>
              </a:xfrm>
              <a:prstGeom prst="rect">
                <a:avLst/>
              </a:prstGeom>
            </p:spPr>
          </p:pic>
          <p:sp>
            <p:nvSpPr>
              <p:cNvPr id="39" name="object 11">
                <a:extLst>
                  <a:ext uri="{FF2B5EF4-FFF2-40B4-BE49-F238E27FC236}">
                    <a16:creationId xmlns:a16="http://schemas.microsoft.com/office/drawing/2014/main" id="{A34D9C13-8460-2013-3642-79E931B6226B}"/>
                  </a:ext>
                </a:extLst>
              </p:cNvPr>
              <p:cNvSpPr/>
              <p:nvPr/>
            </p:nvSpPr>
            <p:spPr>
              <a:xfrm>
                <a:off x="2314575" y="2237104"/>
                <a:ext cx="85725" cy="100330"/>
              </a:xfrm>
              <a:custGeom>
                <a:avLst/>
                <a:gdLst/>
                <a:ahLst/>
                <a:cxnLst/>
                <a:rect l="l" t="t" r="r" b="b"/>
                <a:pathLst>
                  <a:path w="85725" h="100330">
                    <a:moveTo>
                      <a:pt x="85725" y="0"/>
                    </a:moveTo>
                    <a:lnTo>
                      <a:pt x="0" y="100329"/>
                    </a:lnTo>
                  </a:path>
                </a:pathLst>
              </a:custGeom>
              <a:ln w="9525">
                <a:solidFill>
                  <a:srgbClr val="000000"/>
                </a:solidFill>
              </a:ln>
            </p:spPr>
            <p:txBody>
              <a:bodyPr wrap="square" lIns="0" tIns="0" rIns="0" bIns="0" rtlCol="0"/>
              <a:lstStyle/>
              <a:p>
                <a:endParaRPr/>
              </a:p>
            </p:txBody>
          </p:sp>
        </p:grpSp>
        <p:sp>
          <p:nvSpPr>
            <p:cNvPr id="14" name="object 12">
              <a:extLst>
                <a:ext uri="{FF2B5EF4-FFF2-40B4-BE49-F238E27FC236}">
                  <a16:creationId xmlns:a16="http://schemas.microsoft.com/office/drawing/2014/main" id="{E27D6D5A-EA76-2FAA-2785-132DDE350F7B}"/>
                </a:ext>
              </a:extLst>
            </p:cNvPr>
            <p:cNvSpPr txBox="1"/>
            <p:nvPr/>
          </p:nvSpPr>
          <p:spPr>
            <a:xfrm>
              <a:off x="2731135" y="2491485"/>
              <a:ext cx="185420"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273139"/>
                  </a:solidFill>
                  <a:latin typeface="Arial MT"/>
                  <a:cs typeface="Arial MT"/>
                </a:rPr>
                <a:t>3</a:t>
              </a:r>
              <a:r>
                <a:rPr sz="1400" dirty="0">
                  <a:solidFill>
                    <a:srgbClr val="273139"/>
                  </a:solidFill>
                  <a:latin typeface="Arial MT"/>
                  <a:cs typeface="Arial MT"/>
                </a:rPr>
                <a:t>)</a:t>
              </a:r>
              <a:endParaRPr sz="1400">
                <a:latin typeface="Arial MT"/>
                <a:cs typeface="Arial MT"/>
              </a:endParaRPr>
            </a:p>
          </p:txBody>
        </p:sp>
        <p:grpSp>
          <p:nvGrpSpPr>
            <p:cNvPr id="15" name="object 13">
              <a:extLst>
                <a:ext uri="{FF2B5EF4-FFF2-40B4-BE49-F238E27FC236}">
                  <a16:creationId xmlns:a16="http://schemas.microsoft.com/office/drawing/2014/main" id="{8EB1ADDA-11F5-8666-38E0-DA3ACF12DEE8}"/>
                </a:ext>
              </a:extLst>
            </p:cNvPr>
            <p:cNvGrpSpPr/>
            <p:nvPr/>
          </p:nvGrpSpPr>
          <p:grpSpPr>
            <a:xfrm>
              <a:off x="2977226" y="2023444"/>
              <a:ext cx="680085" cy="629920"/>
              <a:chOff x="2977226" y="2023444"/>
              <a:chExt cx="680085" cy="629920"/>
            </a:xfrm>
          </p:grpSpPr>
          <p:pic>
            <p:nvPicPr>
              <p:cNvPr id="36" name="object 14">
                <a:extLst>
                  <a:ext uri="{FF2B5EF4-FFF2-40B4-BE49-F238E27FC236}">
                    <a16:creationId xmlns:a16="http://schemas.microsoft.com/office/drawing/2014/main" id="{A3895BFE-9339-5281-54FE-FAC3E0F44BBF}"/>
                  </a:ext>
                </a:extLst>
              </p:cNvPr>
              <p:cNvPicPr/>
              <p:nvPr/>
            </p:nvPicPr>
            <p:blipFill>
              <a:blip r:embed="rId4" cstate="print"/>
              <a:stretch>
                <a:fillRect/>
              </a:stretch>
            </p:blipFill>
            <p:spPr>
              <a:xfrm>
                <a:off x="2977226" y="2023444"/>
                <a:ext cx="680027" cy="629515"/>
              </a:xfrm>
              <a:prstGeom prst="rect">
                <a:avLst/>
              </a:prstGeom>
            </p:spPr>
          </p:pic>
          <p:sp>
            <p:nvSpPr>
              <p:cNvPr id="37" name="object 15">
                <a:extLst>
                  <a:ext uri="{FF2B5EF4-FFF2-40B4-BE49-F238E27FC236}">
                    <a16:creationId xmlns:a16="http://schemas.microsoft.com/office/drawing/2014/main" id="{9650B7D8-2938-861E-2948-C8B35BBED686}"/>
                  </a:ext>
                </a:extLst>
              </p:cNvPr>
              <p:cNvSpPr/>
              <p:nvPr/>
            </p:nvSpPr>
            <p:spPr>
              <a:xfrm>
                <a:off x="3057525" y="2280284"/>
                <a:ext cx="419100" cy="109220"/>
              </a:xfrm>
              <a:custGeom>
                <a:avLst/>
                <a:gdLst/>
                <a:ahLst/>
                <a:cxnLst/>
                <a:rect l="l" t="t" r="r" b="b"/>
                <a:pathLst>
                  <a:path w="419100" h="109219">
                    <a:moveTo>
                      <a:pt x="171450" y="4445"/>
                    </a:moveTo>
                    <a:lnTo>
                      <a:pt x="0" y="109220"/>
                    </a:lnTo>
                  </a:path>
                  <a:path w="419100" h="109219">
                    <a:moveTo>
                      <a:pt x="285750" y="0"/>
                    </a:moveTo>
                    <a:lnTo>
                      <a:pt x="419100" y="100329"/>
                    </a:lnTo>
                  </a:path>
                </a:pathLst>
              </a:custGeom>
              <a:ln w="9525">
                <a:solidFill>
                  <a:srgbClr val="000000"/>
                </a:solidFill>
              </a:ln>
            </p:spPr>
            <p:txBody>
              <a:bodyPr wrap="square" lIns="0" tIns="0" rIns="0" bIns="0" rtlCol="0"/>
              <a:lstStyle/>
              <a:p>
                <a:endParaRPr/>
              </a:p>
            </p:txBody>
          </p:sp>
        </p:grpSp>
        <p:sp>
          <p:nvSpPr>
            <p:cNvPr id="16" name="object 16">
              <a:extLst>
                <a:ext uri="{FF2B5EF4-FFF2-40B4-BE49-F238E27FC236}">
                  <a16:creationId xmlns:a16="http://schemas.microsoft.com/office/drawing/2014/main" id="{B8E1BD85-2323-B115-666B-3B39D9464993}"/>
                </a:ext>
              </a:extLst>
            </p:cNvPr>
            <p:cNvSpPr txBox="1"/>
            <p:nvPr/>
          </p:nvSpPr>
          <p:spPr>
            <a:xfrm>
              <a:off x="4022216" y="2491485"/>
              <a:ext cx="185420"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273139"/>
                  </a:solidFill>
                  <a:latin typeface="Arial MT"/>
                  <a:cs typeface="Arial MT"/>
                </a:rPr>
                <a:t>4</a:t>
              </a:r>
              <a:r>
                <a:rPr sz="1400" dirty="0">
                  <a:solidFill>
                    <a:srgbClr val="273139"/>
                  </a:solidFill>
                  <a:latin typeface="Arial MT"/>
                  <a:cs typeface="Arial MT"/>
                </a:rPr>
                <a:t>)</a:t>
              </a:r>
              <a:endParaRPr sz="1400">
                <a:latin typeface="Arial MT"/>
                <a:cs typeface="Arial MT"/>
              </a:endParaRPr>
            </a:p>
          </p:txBody>
        </p:sp>
        <p:grpSp>
          <p:nvGrpSpPr>
            <p:cNvPr id="17" name="object 17">
              <a:extLst>
                <a:ext uri="{FF2B5EF4-FFF2-40B4-BE49-F238E27FC236}">
                  <a16:creationId xmlns:a16="http://schemas.microsoft.com/office/drawing/2014/main" id="{E9BDAF8F-738E-1962-1322-A4A835DC79D8}"/>
                </a:ext>
              </a:extLst>
            </p:cNvPr>
            <p:cNvGrpSpPr/>
            <p:nvPr/>
          </p:nvGrpSpPr>
          <p:grpSpPr>
            <a:xfrm>
              <a:off x="4264404" y="1677999"/>
              <a:ext cx="789305" cy="981075"/>
              <a:chOff x="4264404" y="1677999"/>
              <a:chExt cx="789305" cy="981075"/>
            </a:xfrm>
          </p:grpSpPr>
          <p:pic>
            <p:nvPicPr>
              <p:cNvPr id="34" name="object 18">
                <a:extLst>
                  <a:ext uri="{FF2B5EF4-FFF2-40B4-BE49-F238E27FC236}">
                    <a16:creationId xmlns:a16="http://schemas.microsoft.com/office/drawing/2014/main" id="{A965AB71-409A-C3A2-718D-FCF10B0FB148}"/>
                  </a:ext>
                </a:extLst>
              </p:cNvPr>
              <p:cNvPicPr/>
              <p:nvPr/>
            </p:nvPicPr>
            <p:blipFill>
              <a:blip r:embed="rId5" cstate="print"/>
              <a:stretch>
                <a:fillRect/>
              </a:stretch>
            </p:blipFill>
            <p:spPr>
              <a:xfrm>
                <a:off x="4264404" y="1677999"/>
                <a:ext cx="789182" cy="980885"/>
              </a:xfrm>
              <a:prstGeom prst="rect">
                <a:avLst/>
              </a:prstGeom>
            </p:spPr>
          </p:pic>
          <p:sp>
            <p:nvSpPr>
              <p:cNvPr id="35" name="object 19">
                <a:extLst>
                  <a:ext uri="{FF2B5EF4-FFF2-40B4-BE49-F238E27FC236}">
                    <a16:creationId xmlns:a16="http://schemas.microsoft.com/office/drawing/2014/main" id="{2240C378-9C47-78CB-FA83-CD4D9BE36398}"/>
                  </a:ext>
                </a:extLst>
              </p:cNvPr>
              <p:cNvSpPr/>
              <p:nvPr/>
            </p:nvSpPr>
            <p:spPr>
              <a:xfrm>
                <a:off x="4362450" y="1927859"/>
                <a:ext cx="600710" cy="461645"/>
              </a:xfrm>
              <a:custGeom>
                <a:avLst/>
                <a:gdLst/>
                <a:ahLst/>
                <a:cxnLst/>
                <a:rect l="l" t="t" r="r" b="b"/>
                <a:pathLst>
                  <a:path w="600710" h="461644">
                    <a:moveTo>
                      <a:pt x="257810" y="0"/>
                    </a:moveTo>
                    <a:lnTo>
                      <a:pt x="181610" y="99695"/>
                    </a:lnTo>
                  </a:path>
                  <a:path w="600710" h="461644">
                    <a:moveTo>
                      <a:pt x="66675" y="309245"/>
                    </a:moveTo>
                    <a:lnTo>
                      <a:pt x="0" y="461645"/>
                    </a:lnTo>
                  </a:path>
                  <a:path w="600710" h="461644">
                    <a:moveTo>
                      <a:pt x="429260" y="0"/>
                    </a:moveTo>
                    <a:lnTo>
                      <a:pt x="600710" y="152400"/>
                    </a:lnTo>
                  </a:path>
                </a:pathLst>
              </a:custGeom>
              <a:ln w="9525">
                <a:solidFill>
                  <a:srgbClr val="000000"/>
                </a:solidFill>
              </a:ln>
            </p:spPr>
            <p:txBody>
              <a:bodyPr wrap="square" lIns="0" tIns="0" rIns="0" bIns="0" rtlCol="0"/>
              <a:lstStyle/>
              <a:p>
                <a:endParaRPr/>
              </a:p>
            </p:txBody>
          </p:sp>
        </p:grpSp>
        <p:sp>
          <p:nvSpPr>
            <p:cNvPr id="18" name="object 20">
              <a:extLst>
                <a:ext uri="{FF2B5EF4-FFF2-40B4-BE49-F238E27FC236}">
                  <a16:creationId xmlns:a16="http://schemas.microsoft.com/office/drawing/2014/main" id="{903CB7F1-6C98-D019-7EB2-9F2FE092A212}"/>
                </a:ext>
              </a:extLst>
            </p:cNvPr>
            <p:cNvSpPr txBox="1"/>
            <p:nvPr/>
          </p:nvSpPr>
          <p:spPr>
            <a:xfrm>
              <a:off x="5474970" y="2491485"/>
              <a:ext cx="18732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273139"/>
                  </a:solidFill>
                  <a:latin typeface="Arial MT"/>
                  <a:cs typeface="Arial MT"/>
                </a:rPr>
                <a:t>5)</a:t>
              </a:r>
              <a:endParaRPr sz="1400">
                <a:latin typeface="Arial MT"/>
                <a:cs typeface="Arial MT"/>
              </a:endParaRPr>
            </a:p>
          </p:txBody>
        </p:sp>
        <p:grpSp>
          <p:nvGrpSpPr>
            <p:cNvPr id="19" name="object 21">
              <a:extLst>
                <a:ext uri="{FF2B5EF4-FFF2-40B4-BE49-F238E27FC236}">
                  <a16:creationId xmlns:a16="http://schemas.microsoft.com/office/drawing/2014/main" id="{1C456C55-B715-7B88-81BB-7A57CC6F02D0}"/>
                </a:ext>
              </a:extLst>
            </p:cNvPr>
            <p:cNvGrpSpPr/>
            <p:nvPr/>
          </p:nvGrpSpPr>
          <p:grpSpPr>
            <a:xfrm>
              <a:off x="5717028" y="1626636"/>
              <a:ext cx="939800" cy="1033780"/>
              <a:chOff x="5717028" y="1626636"/>
              <a:chExt cx="939800" cy="1033780"/>
            </a:xfrm>
          </p:grpSpPr>
          <p:pic>
            <p:nvPicPr>
              <p:cNvPr id="32" name="object 22">
                <a:extLst>
                  <a:ext uri="{FF2B5EF4-FFF2-40B4-BE49-F238E27FC236}">
                    <a16:creationId xmlns:a16="http://schemas.microsoft.com/office/drawing/2014/main" id="{65A82D62-3ADA-8203-169F-8EBE80D39C91}"/>
                  </a:ext>
                </a:extLst>
              </p:cNvPr>
              <p:cNvPicPr/>
              <p:nvPr/>
            </p:nvPicPr>
            <p:blipFill>
              <a:blip r:embed="rId6" cstate="print"/>
              <a:stretch>
                <a:fillRect/>
              </a:stretch>
            </p:blipFill>
            <p:spPr>
              <a:xfrm>
                <a:off x="5717028" y="1626636"/>
                <a:ext cx="939260" cy="1033611"/>
              </a:xfrm>
              <a:prstGeom prst="rect">
                <a:avLst/>
              </a:prstGeom>
            </p:spPr>
          </p:pic>
          <p:sp>
            <p:nvSpPr>
              <p:cNvPr id="33" name="object 23">
                <a:extLst>
                  <a:ext uri="{FF2B5EF4-FFF2-40B4-BE49-F238E27FC236}">
                    <a16:creationId xmlns:a16="http://schemas.microsoft.com/office/drawing/2014/main" id="{D07FBFC9-45DB-4FF2-124F-A306310CEAB1}"/>
                  </a:ext>
                </a:extLst>
              </p:cNvPr>
              <p:cNvSpPr/>
              <p:nvPr/>
            </p:nvSpPr>
            <p:spPr>
              <a:xfrm>
                <a:off x="5838825" y="1875154"/>
                <a:ext cx="666750" cy="563245"/>
              </a:xfrm>
              <a:custGeom>
                <a:avLst/>
                <a:gdLst/>
                <a:ahLst/>
                <a:cxnLst/>
                <a:rect l="l" t="t" r="r" b="b"/>
                <a:pathLst>
                  <a:path w="666750" h="563244">
                    <a:moveTo>
                      <a:pt x="295275" y="0"/>
                    </a:moveTo>
                    <a:lnTo>
                      <a:pt x="180975" y="152400"/>
                    </a:lnTo>
                  </a:path>
                  <a:path w="666750" h="563244">
                    <a:moveTo>
                      <a:pt x="123825" y="405129"/>
                    </a:moveTo>
                    <a:lnTo>
                      <a:pt x="0" y="557529"/>
                    </a:lnTo>
                  </a:path>
                  <a:path w="666750" h="563244">
                    <a:moveTo>
                      <a:pt x="295275" y="357504"/>
                    </a:moveTo>
                    <a:lnTo>
                      <a:pt x="391160" y="563245"/>
                    </a:lnTo>
                  </a:path>
                  <a:path w="666750" h="563244">
                    <a:moveTo>
                      <a:pt x="495300" y="0"/>
                    </a:moveTo>
                    <a:lnTo>
                      <a:pt x="666750" y="152400"/>
                    </a:lnTo>
                  </a:path>
                </a:pathLst>
              </a:custGeom>
              <a:ln w="9525">
                <a:solidFill>
                  <a:srgbClr val="000000"/>
                </a:solidFill>
              </a:ln>
            </p:spPr>
            <p:txBody>
              <a:bodyPr wrap="square" lIns="0" tIns="0" rIns="0" bIns="0" rtlCol="0"/>
              <a:lstStyle/>
              <a:p>
                <a:endParaRPr/>
              </a:p>
            </p:txBody>
          </p:sp>
        </p:grpSp>
        <p:sp>
          <p:nvSpPr>
            <p:cNvPr id="20" name="object 25">
              <a:extLst>
                <a:ext uri="{FF2B5EF4-FFF2-40B4-BE49-F238E27FC236}">
                  <a16:creationId xmlns:a16="http://schemas.microsoft.com/office/drawing/2014/main" id="{FFE8F719-74CB-1C24-F761-DD67C24DAAAF}"/>
                </a:ext>
              </a:extLst>
            </p:cNvPr>
            <p:cNvSpPr txBox="1"/>
            <p:nvPr/>
          </p:nvSpPr>
          <p:spPr>
            <a:xfrm>
              <a:off x="902004" y="4264278"/>
              <a:ext cx="18732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273139"/>
                  </a:solidFill>
                  <a:latin typeface="Arial MT"/>
                  <a:cs typeface="Arial MT"/>
                </a:rPr>
                <a:t>6)</a:t>
              </a:r>
              <a:endParaRPr sz="1400">
                <a:latin typeface="Arial MT"/>
                <a:cs typeface="Arial MT"/>
              </a:endParaRPr>
            </a:p>
          </p:txBody>
        </p:sp>
        <p:pic>
          <p:nvPicPr>
            <p:cNvPr id="21" name="object 26">
              <a:extLst>
                <a:ext uri="{FF2B5EF4-FFF2-40B4-BE49-F238E27FC236}">
                  <a16:creationId xmlns:a16="http://schemas.microsoft.com/office/drawing/2014/main" id="{3F23B42E-3D77-D16C-6EFE-01BFAC564853}"/>
                </a:ext>
              </a:extLst>
            </p:cNvPr>
            <p:cNvPicPr/>
            <p:nvPr/>
          </p:nvPicPr>
          <p:blipFill>
            <a:blip r:embed="rId7" cstate="print"/>
            <a:stretch>
              <a:fillRect/>
            </a:stretch>
          </p:blipFill>
          <p:spPr>
            <a:xfrm>
              <a:off x="1126489" y="3311525"/>
              <a:ext cx="1363980" cy="1143000"/>
            </a:xfrm>
            <a:prstGeom prst="rect">
              <a:avLst/>
            </a:prstGeom>
          </p:spPr>
        </p:pic>
        <p:sp>
          <p:nvSpPr>
            <p:cNvPr id="22" name="object 27">
              <a:extLst>
                <a:ext uri="{FF2B5EF4-FFF2-40B4-BE49-F238E27FC236}">
                  <a16:creationId xmlns:a16="http://schemas.microsoft.com/office/drawing/2014/main" id="{A1B84876-E307-86EA-5C40-87E45BC68BA1}"/>
                </a:ext>
              </a:extLst>
            </p:cNvPr>
            <p:cNvSpPr txBox="1"/>
            <p:nvPr/>
          </p:nvSpPr>
          <p:spPr>
            <a:xfrm>
              <a:off x="2731135" y="4264278"/>
              <a:ext cx="18732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273139"/>
                  </a:solidFill>
                  <a:latin typeface="Arial MT"/>
                  <a:cs typeface="Arial MT"/>
                </a:rPr>
                <a:t>7)</a:t>
              </a:r>
              <a:endParaRPr sz="1400">
                <a:latin typeface="Arial MT"/>
                <a:cs typeface="Arial MT"/>
              </a:endParaRPr>
            </a:p>
          </p:txBody>
        </p:sp>
        <p:pic>
          <p:nvPicPr>
            <p:cNvPr id="23" name="object 28">
              <a:extLst>
                <a:ext uri="{FF2B5EF4-FFF2-40B4-BE49-F238E27FC236}">
                  <a16:creationId xmlns:a16="http://schemas.microsoft.com/office/drawing/2014/main" id="{9A4D1DCD-566E-6000-6E3C-A480E12FD182}"/>
                </a:ext>
              </a:extLst>
            </p:cNvPr>
            <p:cNvPicPr/>
            <p:nvPr/>
          </p:nvPicPr>
          <p:blipFill>
            <a:blip r:embed="rId8" cstate="print"/>
            <a:stretch>
              <a:fillRect/>
            </a:stretch>
          </p:blipFill>
          <p:spPr>
            <a:xfrm>
              <a:off x="2955289" y="3412489"/>
              <a:ext cx="1570989" cy="1042035"/>
            </a:xfrm>
            <a:prstGeom prst="rect">
              <a:avLst/>
            </a:prstGeom>
          </p:spPr>
        </p:pic>
        <p:sp>
          <p:nvSpPr>
            <p:cNvPr id="24" name="object 29">
              <a:extLst>
                <a:ext uri="{FF2B5EF4-FFF2-40B4-BE49-F238E27FC236}">
                  <a16:creationId xmlns:a16="http://schemas.microsoft.com/office/drawing/2014/main" id="{34200203-018D-7FD4-697D-96E96DDA23BE}"/>
                </a:ext>
              </a:extLst>
            </p:cNvPr>
            <p:cNvSpPr txBox="1"/>
            <p:nvPr/>
          </p:nvSpPr>
          <p:spPr>
            <a:xfrm>
              <a:off x="4662296" y="4264278"/>
              <a:ext cx="18732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273139"/>
                  </a:solidFill>
                  <a:latin typeface="Arial MT"/>
                  <a:cs typeface="Arial MT"/>
                </a:rPr>
                <a:t>8)</a:t>
              </a:r>
              <a:endParaRPr sz="1400">
                <a:latin typeface="Arial MT"/>
                <a:cs typeface="Arial MT"/>
              </a:endParaRPr>
            </a:p>
          </p:txBody>
        </p:sp>
        <p:pic>
          <p:nvPicPr>
            <p:cNvPr id="25" name="object 31">
              <a:extLst>
                <a:ext uri="{FF2B5EF4-FFF2-40B4-BE49-F238E27FC236}">
                  <a16:creationId xmlns:a16="http://schemas.microsoft.com/office/drawing/2014/main" id="{FA092BDC-8013-1824-09AB-66041805115B}"/>
                </a:ext>
              </a:extLst>
            </p:cNvPr>
            <p:cNvPicPr/>
            <p:nvPr/>
          </p:nvPicPr>
          <p:blipFill>
            <a:blip r:embed="rId9" cstate="print"/>
            <a:stretch>
              <a:fillRect/>
            </a:stretch>
          </p:blipFill>
          <p:spPr>
            <a:xfrm>
              <a:off x="4884419" y="2924809"/>
              <a:ext cx="1627504" cy="1529714"/>
            </a:xfrm>
            <a:prstGeom prst="rect">
              <a:avLst/>
            </a:prstGeom>
          </p:spPr>
        </p:pic>
        <p:sp>
          <p:nvSpPr>
            <p:cNvPr id="26" name="object 33">
              <a:extLst>
                <a:ext uri="{FF2B5EF4-FFF2-40B4-BE49-F238E27FC236}">
                  <a16:creationId xmlns:a16="http://schemas.microsoft.com/office/drawing/2014/main" id="{C69D0F5B-E89A-61C5-B40A-9D9DFB7CB110}"/>
                </a:ext>
              </a:extLst>
            </p:cNvPr>
            <p:cNvSpPr txBox="1"/>
            <p:nvPr/>
          </p:nvSpPr>
          <p:spPr>
            <a:xfrm>
              <a:off x="902004" y="6116192"/>
              <a:ext cx="18732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273139"/>
                  </a:solidFill>
                  <a:latin typeface="Arial MT"/>
                  <a:cs typeface="Arial MT"/>
                </a:rPr>
                <a:t>9)</a:t>
              </a:r>
              <a:endParaRPr sz="1400">
                <a:latin typeface="Arial MT"/>
                <a:cs typeface="Arial MT"/>
              </a:endParaRPr>
            </a:p>
          </p:txBody>
        </p:sp>
        <p:pic>
          <p:nvPicPr>
            <p:cNvPr id="27" name="object 34">
              <a:extLst>
                <a:ext uri="{FF2B5EF4-FFF2-40B4-BE49-F238E27FC236}">
                  <a16:creationId xmlns:a16="http://schemas.microsoft.com/office/drawing/2014/main" id="{199CFD14-72BF-B3A6-C35A-F1A50CD1F6AC}"/>
                </a:ext>
              </a:extLst>
            </p:cNvPr>
            <p:cNvPicPr/>
            <p:nvPr/>
          </p:nvPicPr>
          <p:blipFill>
            <a:blip r:embed="rId10" cstate="print"/>
            <a:stretch>
              <a:fillRect/>
            </a:stretch>
          </p:blipFill>
          <p:spPr>
            <a:xfrm>
              <a:off x="1126489" y="4773295"/>
              <a:ext cx="1666875" cy="1532889"/>
            </a:xfrm>
            <a:prstGeom prst="rect">
              <a:avLst/>
            </a:prstGeom>
          </p:spPr>
        </p:pic>
        <p:sp>
          <p:nvSpPr>
            <p:cNvPr id="28" name="object 35">
              <a:extLst>
                <a:ext uri="{FF2B5EF4-FFF2-40B4-BE49-F238E27FC236}">
                  <a16:creationId xmlns:a16="http://schemas.microsoft.com/office/drawing/2014/main" id="{84BB2C1B-40C7-870B-9B8D-7D6A3268C2B3}"/>
                </a:ext>
              </a:extLst>
            </p:cNvPr>
            <p:cNvSpPr txBox="1"/>
            <p:nvPr/>
          </p:nvSpPr>
          <p:spPr>
            <a:xfrm>
              <a:off x="3645534" y="6116192"/>
              <a:ext cx="28765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273139"/>
                  </a:solidFill>
                  <a:latin typeface="Arial MT"/>
                  <a:cs typeface="Arial MT"/>
                </a:rPr>
                <a:t>10)</a:t>
              </a:r>
              <a:endParaRPr sz="1400">
                <a:latin typeface="Arial MT"/>
                <a:cs typeface="Arial MT"/>
              </a:endParaRPr>
            </a:p>
          </p:txBody>
        </p:sp>
        <p:grpSp>
          <p:nvGrpSpPr>
            <p:cNvPr id="29" name="object 36">
              <a:extLst>
                <a:ext uri="{FF2B5EF4-FFF2-40B4-BE49-F238E27FC236}">
                  <a16:creationId xmlns:a16="http://schemas.microsoft.com/office/drawing/2014/main" id="{872E9498-2B7E-B5DC-9461-AA21EB2212BE}"/>
                </a:ext>
              </a:extLst>
            </p:cNvPr>
            <p:cNvGrpSpPr/>
            <p:nvPr/>
          </p:nvGrpSpPr>
          <p:grpSpPr>
            <a:xfrm>
              <a:off x="1281112" y="3147377"/>
              <a:ext cx="5057775" cy="3159125"/>
              <a:chOff x="1281112" y="3147377"/>
              <a:chExt cx="5057775" cy="3159125"/>
            </a:xfrm>
          </p:grpSpPr>
          <p:pic>
            <p:nvPicPr>
              <p:cNvPr id="30" name="object 37">
                <a:extLst>
                  <a:ext uri="{FF2B5EF4-FFF2-40B4-BE49-F238E27FC236}">
                    <a16:creationId xmlns:a16="http://schemas.microsoft.com/office/drawing/2014/main" id="{161B4D53-0E8A-DC5D-F616-CEAC960A96F3}"/>
                  </a:ext>
                </a:extLst>
              </p:cNvPr>
              <p:cNvPicPr/>
              <p:nvPr/>
            </p:nvPicPr>
            <p:blipFill>
              <a:blip r:embed="rId11" cstate="print"/>
              <a:stretch>
                <a:fillRect/>
              </a:stretch>
            </p:blipFill>
            <p:spPr>
              <a:xfrm>
                <a:off x="3968750" y="4695189"/>
                <a:ext cx="1826895" cy="1610995"/>
              </a:xfrm>
              <a:prstGeom prst="rect">
                <a:avLst/>
              </a:prstGeom>
            </p:spPr>
          </p:pic>
          <p:sp>
            <p:nvSpPr>
              <p:cNvPr id="31" name="object 38">
                <a:extLst>
                  <a:ext uri="{FF2B5EF4-FFF2-40B4-BE49-F238E27FC236}">
                    <a16:creationId xmlns:a16="http://schemas.microsoft.com/office/drawing/2014/main" id="{5E9DD86C-4207-FFF5-991A-522EE81D500C}"/>
                  </a:ext>
                </a:extLst>
              </p:cNvPr>
              <p:cNvSpPr/>
              <p:nvPr/>
            </p:nvSpPr>
            <p:spPr>
              <a:xfrm>
                <a:off x="1285875" y="3152139"/>
                <a:ext cx="5048250" cy="2919730"/>
              </a:xfrm>
              <a:custGeom>
                <a:avLst/>
                <a:gdLst/>
                <a:ahLst/>
                <a:cxnLst/>
                <a:rect l="l" t="t" r="r" b="b"/>
                <a:pathLst>
                  <a:path w="5048250" h="2919729">
                    <a:moveTo>
                      <a:pt x="495300" y="419100"/>
                    </a:moveTo>
                    <a:lnTo>
                      <a:pt x="314325" y="571500"/>
                    </a:lnTo>
                  </a:path>
                  <a:path w="5048250" h="2919729">
                    <a:moveTo>
                      <a:pt x="104775" y="847725"/>
                    </a:moveTo>
                    <a:lnTo>
                      <a:pt x="0" y="1000125"/>
                    </a:lnTo>
                  </a:path>
                  <a:path w="5048250" h="2919729">
                    <a:moveTo>
                      <a:pt x="4371975" y="0"/>
                    </a:moveTo>
                    <a:lnTo>
                      <a:pt x="4200525" y="219075"/>
                    </a:lnTo>
                  </a:path>
                  <a:path w="5048250" h="2919729">
                    <a:moveTo>
                      <a:pt x="1028700" y="800100"/>
                    </a:moveTo>
                    <a:lnTo>
                      <a:pt x="942975" y="952500"/>
                    </a:lnTo>
                  </a:path>
                  <a:path w="5048250" h="2919729">
                    <a:moveTo>
                      <a:pt x="2266950" y="495300"/>
                    </a:moveTo>
                    <a:lnTo>
                      <a:pt x="2095500" y="647700"/>
                    </a:lnTo>
                  </a:path>
                  <a:path w="5048250" h="2919729">
                    <a:moveTo>
                      <a:pt x="657225" y="1900555"/>
                    </a:moveTo>
                    <a:lnTo>
                      <a:pt x="485775" y="2052955"/>
                    </a:lnTo>
                  </a:path>
                  <a:path w="5048250" h="2919729">
                    <a:moveTo>
                      <a:pt x="314325" y="2224405"/>
                    </a:moveTo>
                    <a:lnTo>
                      <a:pt x="247650" y="2376805"/>
                    </a:lnTo>
                  </a:path>
                  <a:path w="5048250" h="2919729">
                    <a:moveTo>
                      <a:pt x="1990725" y="895350"/>
                    </a:moveTo>
                    <a:lnTo>
                      <a:pt x="1819275" y="1047750"/>
                    </a:lnTo>
                  </a:path>
                  <a:path w="5048250" h="2919729">
                    <a:moveTo>
                      <a:pt x="2724150" y="847725"/>
                    </a:moveTo>
                    <a:lnTo>
                      <a:pt x="2657475" y="1000125"/>
                    </a:lnTo>
                  </a:path>
                  <a:path w="5048250" h="2919729">
                    <a:moveTo>
                      <a:pt x="1114425" y="2224405"/>
                    </a:moveTo>
                    <a:lnTo>
                      <a:pt x="1028700" y="2443480"/>
                    </a:lnTo>
                  </a:path>
                  <a:path w="5048250" h="2919729">
                    <a:moveTo>
                      <a:pt x="57150" y="2700655"/>
                    </a:moveTo>
                    <a:lnTo>
                      <a:pt x="0" y="2853055"/>
                    </a:lnTo>
                  </a:path>
                  <a:path w="5048250" h="2919729">
                    <a:moveTo>
                      <a:pt x="3677285" y="1843405"/>
                    </a:moveTo>
                    <a:lnTo>
                      <a:pt x="3505835" y="1995805"/>
                    </a:lnTo>
                  </a:path>
                  <a:path w="5048250" h="2919729">
                    <a:moveTo>
                      <a:pt x="3314700" y="2224405"/>
                    </a:moveTo>
                    <a:lnTo>
                      <a:pt x="3143250" y="2443480"/>
                    </a:lnTo>
                  </a:path>
                  <a:path w="5048250" h="2919729">
                    <a:moveTo>
                      <a:pt x="2980690" y="2691130"/>
                    </a:moveTo>
                    <a:lnTo>
                      <a:pt x="2905125" y="2853055"/>
                    </a:lnTo>
                  </a:path>
                  <a:path w="5048250" h="2919729">
                    <a:moveTo>
                      <a:pt x="3600450" y="2691130"/>
                    </a:moveTo>
                    <a:lnTo>
                      <a:pt x="3552825" y="2843530"/>
                    </a:lnTo>
                  </a:path>
                  <a:path w="5048250" h="2919729">
                    <a:moveTo>
                      <a:pt x="4133215" y="2224405"/>
                    </a:moveTo>
                    <a:lnTo>
                      <a:pt x="4067175" y="2443480"/>
                    </a:lnTo>
                  </a:path>
                  <a:path w="5048250" h="2919729">
                    <a:moveTo>
                      <a:pt x="4772025" y="371475"/>
                    </a:moveTo>
                    <a:lnTo>
                      <a:pt x="4667250" y="571500"/>
                    </a:lnTo>
                  </a:path>
                  <a:path w="5048250" h="2919729">
                    <a:moveTo>
                      <a:pt x="4085590" y="419100"/>
                    </a:moveTo>
                    <a:lnTo>
                      <a:pt x="4019550" y="571500"/>
                    </a:lnTo>
                  </a:path>
                  <a:path w="5048250" h="2919729">
                    <a:moveTo>
                      <a:pt x="3848100" y="800100"/>
                    </a:moveTo>
                    <a:lnTo>
                      <a:pt x="3762375" y="1000125"/>
                    </a:lnTo>
                  </a:path>
                  <a:path w="5048250" h="2919729">
                    <a:moveTo>
                      <a:pt x="4562475" y="0"/>
                    </a:moveTo>
                    <a:lnTo>
                      <a:pt x="4733925" y="152400"/>
                    </a:lnTo>
                  </a:path>
                  <a:path w="5048250" h="2919729">
                    <a:moveTo>
                      <a:pt x="4876800" y="371475"/>
                    </a:moveTo>
                    <a:lnTo>
                      <a:pt x="5048250" y="523875"/>
                    </a:lnTo>
                  </a:path>
                  <a:path w="5048250" h="2919729">
                    <a:moveTo>
                      <a:pt x="4248150" y="419100"/>
                    </a:moveTo>
                    <a:lnTo>
                      <a:pt x="4419600" y="571500"/>
                    </a:lnTo>
                  </a:path>
                  <a:path w="5048250" h="2919729">
                    <a:moveTo>
                      <a:pt x="714375" y="419100"/>
                    </a:moveTo>
                    <a:lnTo>
                      <a:pt x="885825" y="571500"/>
                    </a:lnTo>
                  </a:path>
                  <a:path w="5048250" h="2919729">
                    <a:moveTo>
                      <a:pt x="314325" y="847725"/>
                    </a:moveTo>
                    <a:lnTo>
                      <a:pt x="485775" y="1000125"/>
                    </a:lnTo>
                  </a:path>
                  <a:path w="5048250" h="2919729">
                    <a:moveTo>
                      <a:pt x="2486025" y="495300"/>
                    </a:moveTo>
                    <a:lnTo>
                      <a:pt x="2657475" y="647700"/>
                    </a:lnTo>
                  </a:path>
                  <a:path w="5048250" h="2919729">
                    <a:moveTo>
                      <a:pt x="2095500" y="847725"/>
                    </a:moveTo>
                    <a:lnTo>
                      <a:pt x="2266950" y="1000125"/>
                    </a:lnTo>
                  </a:path>
                  <a:path w="5048250" h="2919729">
                    <a:moveTo>
                      <a:pt x="2905125" y="847725"/>
                    </a:moveTo>
                    <a:lnTo>
                      <a:pt x="3076575" y="1000125"/>
                    </a:lnTo>
                  </a:path>
                  <a:path w="5048250" h="2919729">
                    <a:moveTo>
                      <a:pt x="771525" y="1900555"/>
                    </a:moveTo>
                    <a:lnTo>
                      <a:pt x="942975" y="2052955"/>
                    </a:lnTo>
                  </a:path>
                  <a:path w="5048250" h="2919729">
                    <a:moveTo>
                      <a:pt x="485775" y="2291080"/>
                    </a:moveTo>
                    <a:lnTo>
                      <a:pt x="657225" y="2443480"/>
                    </a:lnTo>
                  </a:path>
                  <a:path w="5048250" h="2919729">
                    <a:moveTo>
                      <a:pt x="1114425" y="2224405"/>
                    </a:moveTo>
                    <a:lnTo>
                      <a:pt x="1285875" y="2376805"/>
                    </a:lnTo>
                  </a:path>
                  <a:path w="5048250" h="2919729">
                    <a:moveTo>
                      <a:pt x="247650" y="2700655"/>
                    </a:moveTo>
                    <a:lnTo>
                      <a:pt x="314325" y="2919730"/>
                    </a:lnTo>
                  </a:path>
                  <a:path w="5048250" h="2919729">
                    <a:moveTo>
                      <a:pt x="3895725" y="1900555"/>
                    </a:moveTo>
                    <a:lnTo>
                      <a:pt x="4067175" y="2052955"/>
                    </a:lnTo>
                  </a:path>
                  <a:path w="5048250" h="2919729">
                    <a:moveTo>
                      <a:pt x="3448050" y="2224405"/>
                    </a:moveTo>
                    <a:lnTo>
                      <a:pt x="3600450" y="2443480"/>
                    </a:lnTo>
                  </a:path>
                  <a:path w="5048250" h="2919729">
                    <a:moveTo>
                      <a:pt x="3076575" y="2691130"/>
                    </a:moveTo>
                    <a:lnTo>
                      <a:pt x="3248025" y="2843530"/>
                    </a:lnTo>
                  </a:path>
                  <a:path w="5048250" h="2919729">
                    <a:moveTo>
                      <a:pt x="4248150" y="2291080"/>
                    </a:moveTo>
                    <a:lnTo>
                      <a:pt x="4343400" y="2443480"/>
                    </a:lnTo>
                  </a:path>
                </a:pathLst>
              </a:custGeom>
              <a:ln w="9525">
                <a:solidFill>
                  <a:srgbClr val="000000"/>
                </a:solidFill>
              </a:ln>
            </p:spPr>
            <p:txBody>
              <a:bodyPr wrap="square" lIns="0" tIns="0" rIns="0" bIns="0" rtlCol="0"/>
              <a:lstStyle/>
              <a:p>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 name="Rectangle 9">
            <a:extLst>
              <a:ext uri="{FF2B5EF4-FFF2-40B4-BE49-F238E27FC236}">
                <a16:creationId xmlns:a16="http://schemas.microsoft.com/office/drawing/2014/main" id="{06738D0B-A635-92E8-74FE-A1FF07BA9095}"/>
              </a:ext>
            </a:extLst>
          </p:cNvPr>
          <p:cNvSpPr>
            <a:spLocks noChangeArrowheads="1"/>
          </p:cNvSpPr>
          <p:nvPr/>
        </p:nvSpPr>
        <p:spPr bwMode="auto">
          <a:xfrm>
            <a:off x="3969990" y="3457507"/>
            <a:ext cx="4016451" cy="385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ts val="1018"/>
              </a:lnSpc>
              <a:spcBef>
                <a:spcPts val="137"/>
              </a:spcBef>
              <a:spcAft>
                <a:spcPts val="137"/>
              </a:spcAft>
            </a:pPr>
            <a:endParaRPr lang="en-US" altLang="en-US" sz="898" dirty="0">
              <a:latin typeface="Cambria" panose="02040503050406030204" pitchFamily="18" charset="0"/>
            </a:endParaRPr>
          </a:p>
        </p:txBody>
      </p:sp>
      <p:sp>
        <p:nvSpPr>
          <p:cNvPr id="14351" name="Rectangle 14">
            <a:extLst>
              <a:ext uri="{FF2B5EF4-FFF2-40B4-BE49-F238E27FC236}">
                <a16:creationId xmlns:a16="http://schemas.microsoft.com/office/drawing/2014/main" id="{5878DABD-F991-2044-9171-2FDBCF95166F}"/>
              </a:ext>
            </a:extLst>
          </p:cNvPr>
          <p:cNvSpPr>
            <a:spLocks noChangeArrowheads="1"/>
          </p:cNvSpPr>
          <p:nvPr/>
        </p:nvSpPr>
        <p:spPr bwMode="auto">
          <a:xfrm>
            <a:off x="3971008" y="4445076"/>
            <a:ext cx="873365" cy="25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898" dirty="0">
              <a:latin typeface="Cambria" panose="02040503050406030204" pitchFamily="18" charset="0"/>
            </a:endParaRPr>
          </a:p>
        </p:txBody>
      </p:sp>
      <p:sp>
        <p:nvSpPr>
          <p:cNvPr id="7" name="TextBox 6">
            <a:extLst>
              <a:ext uri="{FF2B5EF4-FFF2-40B4-BE49-F238E27FC236}">
                <a16:creationId xmlns:a16="http://schemas.microsoft.com/office/drawing/2014/main" id="{BB421705-C237-94B5-E78D-D20FFA7B1B67}"/>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9" name="TextBox 8">
            <a:extLst>
              <a:ext uri="{FF2B5EF4-FFF2-40B4-BE49-F238E27FC236}">
                <a16:creationId xmlns:a16="http://schemas.microsoft.com/office/drawing/2014/main" id="{D41136D3-5119-6E49-AA20-E3B6A782F836}"/>
              </a:ext>
            </a:extLst>
          </p:cNvPr>
          <p:cNvSpPr txBox="1"/>
          <p:nvPr/>
        </p:nvSpPr>
        <p:spPr>
          <a:xfrm>
            <a:off x="719847" y="958742"/>
            <a:ext cx="10729608" cy="3475310"/>
          </a:xfrm>
          <a:prstGeom prst="rect">
            <a:avLst/>
          </a:prstGeom>
          <a:noFill/>
        </p:spPr>
        <p:txBody>
          <a:bodyPr wrap="square">
            <a:spAutoFit/>
          </a:bodyPr>
          <a:lstStyle/>
          <a:p>
            <a:pPr marL="12700" marR="5080" algn="just">
              <a:spcBef>
                <a:spcPts val="170"/>
              </a:spcBef>
            </a:pPr>
            <a:r>
              <a:rPr lang="en-US" sz="2400" b="1" i="1" u="sng" dirty="0">
                <a:solidFill>
                  <a:srgbClr val="FF0000"/>
                </a:solidFill>
                <a:uFill>
                  <a:solidFill>
                    <a:srgbClr val="273139"/>
                  </a:solidFill>
                </a:uFill>
                <a:latin typeface="Cambria" panose="02040503050406030204" pitchFamily="18" charset="0"/>
                <a:ea typeface="Cambria" panose="02040503050406030204" pitchFamily="18" charset="0"/>
                <a:cs typeface="Times New Roman" panose="02020603050405020304" pitchFamily="18" charset="0"/>
              </a:rPr>
              <a:t>Max</a:t>
            </a:r>
            <a:r>
              <a:rPr lang="en-US" sz="2400" b="1" i="1" u="sng" spc="100" dirty="0">
                <a:solidFill>
                  <a:srgbClr val="FF0000"/>
                </a:solidFill>
                <a:uFill>
                  <a:solidFill>
                    <a:srgbClr val="273139"/>
                  </a:solidFill>
                </a:uFill>
                <a:latin typeface="Cambria" panose="02040503050406030204" pitchFamily="18" charset="0"/>
                <a:ea typeface="Cambria" panose="02040503050406030204" pitchFamily="18" charset="0"/>
                <a:cs typeface="Times New Roman" panose="02020603050405020304" pitchFamily="18" charset="0"/>
              </a:rPr>
              <a:t> </a:t>
            </a:r>
            <a:r>
              <a:rPr lang="en-US" sz="2400" b="1" i="1" u="sng" spc="5" dirty="0">
                <a:solidFill>
                  <a:srgbClr val="FF0000"/>
                </a:solidFill>
                <a:uFill>
                  <a:solidFill>
                    <a:srgbClr val="273139"/>
                  </a:solidFill>
                </a:uFill>
                <a:latin typeface="Cambria" panose="02040503050406030204" pitchFamily="18" charset="0"/>
                <a:ea typeface="Cambria" panose="02040503050406030204" pitchFamily="18" charset="0"/>
                <a:cs typeface="Times New Roman" panose="02020603050405020304" pitchFamily="18" charset="0"/>
              </a:rPr>
              <a:t>Heap</a:t>
            </a:r>
            <a:r>
              <a:rPr lang="en-US" sz="2400" b="1" u="sng"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a:t>
            </a:r>
            <a:r>
              <a:rPr lang="en-US" sz="2400"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In</a:t>
            </a:r>
            <a:r>
              <a:rPr lang="en-US" sz="2000" spc="95"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a Max-Heap the</a:t>
            </a:r>
            <a:r>
              <a:rPr lang="en-US" sz="2000" spc="90" dirty="0">
                <a:latin typeface="Cambria" panose="02040503050406030204" pitchFamily="18" charset="0"/>
                <a:ea typeface="Cambria" panose="02040503050406030204" pitchFamily="18" charset="0"/>
                <a:cs typeface="Times New Roman" panose="02020603050405020304" pitchFamily="18" charset="0"/>
              </a:rPr>
              <a:t> </a:t>
            </a:r>
            <a:r>
              <a:rPr lang="en-US" sz="2000" spc="10" dirty="0">
                <a:latin typeface="Cambria" panose="02040503050406030204" pitchFamily="18" charset="0"/>
                <a:ea typeface="Cambria" panose="02040503050406030204" pitchFamily="18" charset="0"/>
                <a:cs typeface="Times New Roman" panose="02020603050405020304" pitchFamily="18" charset="0"/>
              </a:rPr>
              <a:t>key</a:t>
            </a:r>
            <a:r>
              <a:rPr lang="en-US" sz="2000" spc="80" dirty="0">
                <a:latin typeface="Cambria" panose="02040503050406030204" pitchFamily="18" charset="0"/>
                <a:ea typeface="Cambria" panose="02040503050406030204" pitchFamily="18" charset="0"/>
                <a:cs typeface="Times New Roman" panose="02020603050405020304" pitchFamily="18" charset="0"/>
              </a:rPr>
              <a:t> </a:t>
            </a:r>
            <a:r>
              <a:rPr lang="en-US" sz="2000" spc="10" dirty="0">
                <a:latin typeface="Cambria" panose="02040503050406030204" pitchFamily="18" charset="0"/>
                <a:ea typeface="Cambria" panose="02040503050406030204" pitchFamily="18" charset="0"/>
                <a:cs typeface="Times New Roman" panose="02020603050405020304" pitchFamily="18" charset="0"/>
              </a:rPr>
              <a:t>present</a:t>
            </a:r>
            <a:r>
              <a:rPr lang="en-US" sz="2000" spc="9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at</a:t>
            </a:r>
            <a:r>
              <a:rPr lang="en-US" sz="2000" spc="95"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the</a:t>
            </a:r>
            <a:r>
              <a:rPr lang="en-US" sz="2000" spc="9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root</a:t>
            </a:r>
            <a:r>
              <a:rPr lang="en-US" sz="2000" spc="9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node</a:t>
            </a:r>
            <a:r>
              <a:rPr lang="en-US" sz="2000" spc="9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must</a:t>
            </a:r>
            <a:r>
              <a:rPr lang="en-US" sz="2000" spc="9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be</a:t>
            </a:r>
            <a:r>
              <a:rPr lang="en-US" sz="2000" spc="9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greater</a:t>
            </a:r>
            <a:r>
              <a:rPr lang="en-US" sz="2000" spc="9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than </a:t>
            </a:r>
            <a:r>
              <a:rPr lang="en-US" sz="2000" spc="-34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or</a:t>
            </a:r>
            <a:r>
              <a:rPr lang="en-US" sz="2000" spc="18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equal</a:t>
            </a:r>
            <a:r>
              <a:rPr lang="en-US" sz="2000" spc="19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among</a:t>
            </a:r>
            <a:r>
              <a:rPr lang="en-US" sz="2000" spc="19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the</a:t>
            </a:r>
            <a:r>
              <a:rPr lang="en-US" sz="2000" spc="18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keys</a:t>
            </a:r>
            <a:r>
              <a:rPr lang="en-US" sz="2000" spc="19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present</a:t>
            </a:r>
            <a:r>
              <a:rPr lang="en-US" sz="2000" spc="204"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at</a:t>
            </a:r>
            <a:r>
              <a:rPr lang="en-US" sz="2000" spc="195"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all</a:t>
            </a:r>
            <a:r>
              <a:rPr lang="en-US" sz="2000" spc="19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of</a:t>
            </a:r>
            <a:r>
              <a:rPr lang="en-US" sz="2000" spc="19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its</a:t>
            </a:r>
            <a:r>
              <a:rPr lang="en-US" sz="2000" spc="19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children.</a:t>
            </a:r>
            <a:r>
              <a:rPr lang="en-US" sz="2000" spc="20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The</a:t>
            </a:r>
            <a:r>
              <a:rPr lang="en-US" sz="2000" spc="185"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same</a:t>
            </a:r>
            <a:r>
              <a:rPr lang="en-US" sz="2000" spc="204"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property</a:t>
            </a:r>
            <a:r>
              <a:rPr lang="en-US" sz="2000" spc="18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must </a:t>
            </a:r>
            <a:r>
              <a:rPr lang="en-US" sz="2000" spc="-33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be recursively </a:t>
            </a:r>
            <a:r>
              <a:rPr lang="en-US" sz="2000" dirty="0">
                <a:latin typeface="Cambria" panose="02040503050406030204" pitchFamily="18" charset="0"/>
                <a:ea typeface="Cambria" panose="02040503050406030204" pitchFamily="18" charset="0"/>
                <a:cs typeface="Times New Roman" panose="02020603050405020304" pitchFamily="18" charset="0"/>
              </a:rPr>
              <a:t>true for</a:t>
            </a:r>
            <a:r>
              <a:rPr lang="en-US" sz="2000" spc="5"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all</a:t>
            </a:r>
            <a:r>
              <a:rPr lang="en-US" sz="2000" spc="5" dirty="0">
                <a:latin typeface="Cambria" panose="02040503050406030204" pitchFamily="18" charset="0"/>
                <a:ea typeface="Cambria" panose="02040503050406030204" pitchFamily="18" charset="0"/>
                <a:cs typeface="Times New Roman" panose="02020603050405020304" pitchFamily="18" charset="0"/>
              </a:rPr>
              <a:t> sub-trees</a:t>
            </a:r>
            <a:r>
              <a:rPr lang="en-US" sz="2000" spc="1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in</a:t>
            </a:r>
            <a:r>
              <a:rPr lang="en-US" sz="2000" spc="5" dirty="0">
                <a:latin typeface="Cambria" panose="02040503050406030204" pitchFamily="18" charset="0"/>
                <a:ea typeface="Cambria" panose="02040503050406030204" pitchFamily="18" charset="0"/>
                <a:cs typeface="Times New Roman" panose="02020603050405020304" pitchFamily="18" charset="0"/>
              </a:rPr>
              <a:t> that</a:t>
            </a:r>
            <a:r>
              <a:rPr lang="en-US" sz="2000" spc="1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Binary</a:t>
            </a:r>
            <a:r>
              <a:rPr lang="en-US" sz="2000" spc="1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Tree.</a:t>
            </a:r>
            <a:r>
              <a:rPr lang="en-US" sz="2000" spc="1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In</a:t>
            </a:r>
            <a:r>
              <a:rPr lang="en-US" sz="2000" spc="1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a</a:t>
            </a:r>
            <a:r>
              <a:rPr lang="en-US" sz="2000" spc="5" dirty="0">
                <a:latin typeface="Cambria" panose="02040503050406030204" pitchFamily="18" charset="0"/>
                <a:ea typeface="Cambria" panose="02040503050406030204" pitchFamily="18" charset="0"/>
                <a:cs typeface="Times New Roman" panose="02020603050405020304" pitchFamily="18" charset="0"/>
              </a:rPr>
              <a:t> </a:t>
            </a:r>
            <a:r>
              <a:rPr lang="en-US" sz="2000" spc="10" dirty="0">
                <a:latin typeface="Cambria" panose="02040503050406030204" pitchFamily="18" charset="0"/>
                <a:ea typeface="Cambria" panose="02040503050406030204" pitchFamily="18" charset="0"/>
                <a:cs typeface="Times New Roman" panose="02020603050405020304" pitchFamily="18" charset="0"/>
              </a:rPr>
              <a:t>Max-Heap</a:t>
            </a:r>
            <a:r>
              <a:rPr lang="en-US" sz="2000" spc="1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the </a:t>
            </a:r>
            <a:r>
              <a:rPr lang="en-US" sz="2000" spc="1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maximum</a:t>
            </a:r>
            <a:r>
              <a:rPr lang="en-US" sz="2000" spc="-10" dirty="0">
                <a:latin typeface="Cambria" panose="02040503050406030204" pitchFamily="18" charset="0"/>
                <a:ea typeface="Cambria" panose="02040503050406030204" pitchFamily="18" charset="0"/>
                <a:cs typeface="Times New Roman" panose="02020603050405020304" pitchFamily="18" charset="0"/>
              </a:rPr>
              <a:t> </a:t>
            </a:r>
            <a:r>
              <a:rPr lang="en-US" sz="2000" spc="10" dirty="0">
                <a:latin typeface="Cambria" panose="02040503050406030204" pitchFamily="18" charset="0"/>
                <a:ea typeface="Cambria" panose="02040503050406030204" pitchFamily="18" charset="0"/>
                <a:cs typeface="Times New Roman" panose="02020603050405020304" pitchFamily="18" charset="0"/>
              </a:rPr>
              <a:t>key</a:t>
            </a:r>
            <a:r>
              <a:rPr lang="en-US" sz="2000"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element</a:t>
            </a:r>
            <a:r>
              <a:rPr lang="en-US" sz="2000" spc="2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present</a:t>
            </a:r>
            <a:r>
              <a:rPr lang="en-US" sz="2000" spc="25"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at</a:t>
            </a:r>
            <a:r>
              <a:rPr lang="en-US" sz="2000" spc="1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the</a:t>
            </a:r>
            <a:r>
              <a:rPr lang="en-US" sz="2000" spc="15" dirty="0">
                <a:latin typeface="Cambria" panose="02040503050406030204" pitchFamily="18" charset="0"/>
                <a:ea typeface="Cambria" panose="02040503050406030204" pitchFamily="18" charset="0"/>
                <a:cs typeface="Times New Roman" panose="02020603050405020304" pitchFamily="18" charset="0"/>
              </a:rPr>
              <a:t> </a:t>
            </a:r>
            <a:r>
              <a:rPr lang="en-US" sz="2000" spc="5" dirty="0">
                <a:latin typeface="Cambria" panose="02040503050406030204" pitchFamily="18" charset="0"/>
                <a:ea typeface="Cambria" panose="02040503050406030204" pitchFamily="18" charset="0"/>
                <a:cs typeface="Times New Roman" panose="02020603050405020304" pitchFamily="18" charset="0"/>
              </a:rPr>
              <a:t>root.</a:t>
            </a:r>
            <a:endParaRPr lang="en-US" sz="2000" dirty="0">
              <a:latin typeface="Cambria" panose="02040503050406030204" pitchFamily="18" charset="0"/>
              <a:ea typeface="Cambria" panose="02040503050406030204" pitchFamily="18" charset="0"/>
              <a:cs typeface="Times New Roman" panose="02020603050405020304" pitchFamily="18" charset="0"/>
            </a:endParaRPr>
          </a:p>
          <a:p>
            <a:pPr marL="12700" algn="just">
              <a:spcBef>
                <a:spcPts val="540"/>
              </a:spcBef>
            </a:pPr>
            <a:r>
              <a:rPr lang="en-US" sz="2000" b="1" spc="5" dirty="0">
                <a:solidFill>
                  <a:srgbClr val="00B050"/>
                </a:solidFill>
                <a:uFill>
                  <a:solidFill>
                    <a:srgbClr val="273139"/>
                  </a:solidFill>
                </a:uFill>
                <a:latin typeface="Cambria" panose="02040503050406030204" pitchFamily="18" charset="0"/>
                <a:ea typeface="Cambria" panose="02040503050406030204" pitchFamily="18" charset="0"/>
                <a:cs typeface="Times New Roman" panose="02020603050405020304" pitchFamily="18" charset="0"/>
              </a:rPr>
              <a:t>Algorithm for Max</a:t>
            </a:r>
            <a:r>
              <a:rPr lang="en-US" sz="2000" b="1" dirty="0">
                <a:solidFill>
                  <a:srgbClr val="00B050"/>
                </a:solidFill>
                <a:uFill>
                  <a:solidFill>
                    <a:srgbClr val="273139"/>
                  </a:solidFill>
                </a:uFill>
                <a:latin typeface="Cambria" panose="02040503050406030204" pitchFamily="18" charset="0"/>
                <a:ea typeface="Cambria" panose="02040503050406030204" pitchFamily="18" charset="0"/>
                <a:cs typeface="Times New Roman" panose="02020603050405020304" pitchFamily="18" charset="0"/>
              </a:rPr>
              <a:t> Heap:</a:t>
            </a:r>
          </a:p>
          <a:p>
            <a:pPr marL="977900" indent="-977900" algn="just">
              <a:spcBef>
                <a:spcPts val="490"/>
              </a:spcBef>
            </a:pPr>
            <a:r>
              <a:rPr lang="en-US" sz="2000" b="1" i="1" spc="-5" dirty="0">
                <a:latin typeface="Cambria" panose="02040503050406030204" pitchFamily="18" charset="0"/>
                <a:ea typeface="Cambria" panose="02040503050406030204" pitchFamily="18" charset="0"/>
                <a:cs typeface="Times New Roman"/>
              </a:rPr>
              <a:t>Step</a:t>
            </a:r>
            <a:r>
              <a:rPr lang="en-US" sz="2000" b="1" i="1" spc="-10" dirty="0">
                <a:latin typeface="Cambria" panose="02040503050406030204" pitchFamily="18" charset="0"/>
                <a:ea typeface="Cambria" panose="02040503050406030204" pitchFamily="18" charset="0"/>
                <a:cs typeface="Times New Roman"/>
              </a:rPr>
              <a:t>-1: </a:t>
            </a:r>
            <a:r>
              <a:rPr lang="en-US" sz="2000" spc="-5" dirty="0">
                <a:latin typeface="Cambria" panose="02040503050406030204" pitchFamily="18" charset="0"/>
                <a:ea typeface="Cambria" panose="02040503050406030204" pitchFamily="18" charset="0"/>
                <a:cs typeface="Times New Roman"/>
              </a:rPr>
              <a:t>Create a </a:t>
            </a:r>
            <a:r>
              <a:rPr lang="en-US" sz="2000" dirty="0">
                <a:latin typeface="Cambria" panose="02040503050406030204" pitchFamily="18" charset="0"/>
                <a:ea typeface="Cambria" panose="02040503050406030204" pitchFamily="18" charset="0"/>
                <a:cs typeface="Times New Roman"/>
              </a:rPr>
              <a:t>new</a:t>
            </a:r>
            <a:r>
              <a:rPr lang="en-US" sz="2000" spc="5"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node at the </a:t>
            </a:r>
            <a:r>
              <a:rPr lang="en-US" sz="2000" dirty="0">
                <a:latin typeface="Cambria" panose="02040503050406030204" pitchFamily="18" charset="0"/>
                <a:ea typeface="Cambria" panose="02040503050406030204" pitchFamily="18" charset="0"/>
                <a:cs typeface="Times New Roman"/>
              </a:rPr>
              <a:t>end</a:t>
            </a:r>
            <a:r>
              <a:rPr lang="en-US" sz="2000" spc="-5" dirty="0">
                <a:latin typeface="Cambria" panose="02040503050406030204" pitchFamily="18" charset="0"/>
                <a:ea typeface="Cambria" panose="02040503050406030204" pitchFamily="18" charset="0"/>
                <a:cs typeface="Times New Roman"/>
              </a:rPr>
              <a:t> of</a:t>
            </a:r>
            <a:r>
              <a:rPr lang="en-US" sz="2000" spc="10" dirty="0">
                <a:latin typeface="Cambria" panose="02040503050406030204" pitchFamily="18" charset="0"/>
                <a:ea typeface="Cambria" panose="02040503050406030204" pitchFamily="18" charset="0"/>
                <a:cs typeface="Times New Roman"/>
              </a:rPr>
              <a:t> </a:t>
            </a:r>
            <a:r>
              <a:rPr lang="en-US" sz="2000" dirty="0">
                <a:latin typeface="Cambria" panose="02040503050406030204" pitchFamily="18" charset="0"/>
                <a:ea typeface="Cambria" panose="02040503050406030204" pitchFamily="18" charset="0"/>
                <a:cs typeface="Times New Roman"/>
              </a:rPr>
              <a:t>heap.</a:t>
            </a:r>
          </a:p>
          <a:p>
            <a:pPr marL="977900" indent="-977900" algn="just"/>
            <a:r>
              <a:rPr lang="en-US" sz="2000" b="1" i="1" spc="-5" dirty="0">
                <a:latin typeface="Cambria" panose="02040503050406030204" pitchFamily="18" charset="0"/>
                <a:ea typeface="Cambria" panose="02040503050406030204" pitchFamily="18" charset="0"/>
                <a:cs typeface="Times New Roman"/>
              </a:rPr>
              <a:t>Step</a:t>
            </a:r>
            <a:r>
              <a:rPr lang="en-US" sz="2000" b="1" i="1" spc="-10" dirty="0">
                <a:latin typeface="Cambria" panose="02040503050406030204" pitchFamily="18" charset="0"/>
                <a:ea typeface="Cambria" panose="02040503050406030204" pitchFamily="18" charset="0"/>
                <a:cs typeface="Times New Roman"/>
              </a:rPr>
              <a:t>-2: </a:t>
            </a:r>
            <a:r>
              <a:rPr lang="en-US" sz="2000" spc="-5" dirty="0">
                <a:latin typeface="Cambria" panose="02040503050406030204" pitchFamily="18" charset="0"/>
                <a:ea typeface="Cambria" panose="02040503050406030204" pitchFamily="18" charset="0"/>
                <a:cs typeface="Times New Roman"/>
              </a:rPr>
              <a:t>Assign </a:t>
            </a:r>
            <a:r>
              <a:rPr lang="en-US" sz="2000" dirty="0">
                <a:latin typeface="Cambria" panose="02040503050406030204" pitchFamily="18" charset="0"/>
                <a:ea typeface="Cambria" panose="02040503050406030204" pitchFamily="18" charset="0"/>
                <a:cs typeface="Times New Roman"/>
              </a:rPr>
              <a:t>new</a:t>
            </a:r>
            <a:r>
              <a:rPr lang="en-US" sz="2000" spc="-10" dirty="0">
                <a:latin typeface="Cambria" panose="02040503050406030204" pitchFamily="18" charset="0"/>
                <a:ea typeface="Cambria" panose="02040503050406030204" pitchFamily="18" charset="0"/>
                <a:cs typeface="Times New Roman"/>
              </a:rPr>
              <a:t> </a:t>
            </a:r>
            <a:r>
              <a:rPr lang="en-US" sz="2000" dirty="0">
                <a:latin typeface="Cambria" panose="02040503050406030204" pitchFamily="18" charset="0"/>
                <a:ea typeface="Cambria" panose="02040503050406030204" pitchFamily="18" charset="0"/>
                <a:cs typeface="Times New Roman"/>
              </a:rPr>
              <a:t>value</a:t>
            </a:r>
            <a:r>
              <a:rPr lang="en-US" sz="2000" spc="-1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to</a:t>
            </a:r>
            <a:r>
              <a:rPr lang="en-US" sz="2000" spc="-1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the</a:t>
            </a:r>
            <a:r>
              <a:rPr lang="en-US" sz="2000" spc="1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node.</a:t>
            </a:r>
          </a:p>
          <a:p>
            <a:pPr marL="977900" indent="-977900" algn="just"/>
            <a:r>
              <a:rPr lang="en-US" sz="2000" b="1" spc="-5" dirty="0">
                <a:latin typeface="Cambria" panose="02040503050406030204" pitchFamily="18" charset="0"/>
                <a:ea typeface="Cambria" panose="02040503050406030204" pitchFamily="18" charset="0"/>
                <a:cs typeface="Times New Roman"/>
              </a:rPr>
              <a:t>Step-3</a:t>
            </a:r>
            <a:r>
              <a:rPr lang="en-US" sz="2000" spc="-5" dirty="0">
                <a:latin typeface="Cambria" panose="02040503050406030204" pitchFamily="18" charset="0"/>
                <a:ea typeface="Cambria" panose="02040503050406030204" pitchFamily="18" charset="0"/>
                <a:cs typeface="Times New Roman"/>
              </a:rPr>
              <a:t>: Compare the value of this child node with its parent.</a:t>
            </a:r>
          </a:p>
          <a:p>
            <a:pPr marL="977900" indent="-977900" algn="just"/>
            <a:r>
              <a:rPr lang="en-US" sz="2000" b="1" spc="-5" dirty="0">
                <a:latin typeface="Cambria" panose="02040503050406030204" pitchFamily="18" charset="0"/>
                <a:ea typeface="Cambria" panose="02040503050406030204" pitchFamily="18" charset="0"/>
                <a:cs typeface="Times New Roman"/>
              </a:rPr>
              <a:t>Step-4</a:t>
            </a:r>
            <a:r>
              <a:rPr lang="en-US" sz="2000" spc="-5" dirty="0">
                <a:latin typeface="Cambria" panose="02040503050406030204" pitchFamily="18" charset="0"/>
                <a:ea typeface="Cambria" panose="02040503050406030204" pitchFamily="18" charset="0"/>
                <a:cs typeface="Times New Roman"/>
              </a:rPr>
              <a:t>: If value of parent is less then child, then swap them.</a:t>
            </a:r>
          </a:p>
          <a:p>
            <a:pPr marL="977900" indent="-977900" algn="just"/>
            <a:r>
              <a:rPr lang="en-US" sz="2000" b="1" spc="-5" dirty="0">
                <a:latin typeface="Cambria" panose="02040503050406030204" pitchFamily="18" charset="0"/>
                <a:ea typeface="Cambria" panose="02040503050406030204" pitchFamily="18" charset="0"/>
                <a:cs typeface="Times New Roman"/>
              </a:rPr>
              <a:t>Step-5</a:t>
            </a:r>
            <a:r>
              <a:rPr lang="en-US" sz="2000" spc="-5" dirty="0">
                <a:latin typeface="Cambria" panose="02040503050406030204" pitchFamily="18" charset="0"/>
                <a:ea typeface="Cambria" panose="02040503050406030204" pitchFamily="18" charset="0"/>
                <a:cs typeface="Times New Roman"/>
              </a:rPr>
              <a:t>: Repeat Step - 3&amp;4 unit heap property holds.</a:t>
            </a:r>
          </a:p>
          <a:p>
            <a:pPr algn="just">
              <a:spcBef>
                <a:spcPts val="894"/>
              </a:spcBef>
            </a:pPr>
            <a:r>
              <a:rPr lang="en-US" sz="2000" b="1" spc="-5" dirty="0">
                <a:latin typeface="Cambria" panose="02040503050406030204" pitchFamily="18" charset="0"/>
                <a:ea typeface="Cambria" panose="02040503050406030204" pitchFamily="18" charset="0"/>
                <a:cs typeface="Times New Roman"/>
              </a:rPr>
              <a:t>Example: </a:t>
            </a:r>
            <a:r>
              <a:rPr lang="en-US" sz="2000" spc="-5" dirty="0">
                <a:latin typeface="Cambria" panose="02040503050406030204" pitchFamily="18" charset="0"/>
                <a:ea typeface="Cambria" panose="02040503050406030204" pitchFamily="18" charset="0"/>
                <a:cs typeface="Times New Roman"/>
              </a:rPr>
              <a:t>Below is the Binary </a:t>
            </a:r>
            <a:r>
              <a:rPr lang="en-US" sz="2000" spc="5" dirty="0">
                <a:latin typeface="Cambria" panose="02040503050406030204" pitchFamily="18" charset="0"/>
                <a:ea typeface="Cambria" panose="02040503050406030204" pitchFamily="18" charset="0"/>
                <a:cs typeface="Times New Roman"/>
              </a:rPr>
              <a:t>Tree</a:t>
            </a:r>
            <a:r>
              <a:rPr lang="en-US" sz="2000" spc="1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that</a:t>
            </a:r>
            <a:r>
              <a:rPr lang="en-US" sz="2000" spc="30" dirty="0">
                <a:latin typeface="Cambria" panose="02040503050406030204" pitchFamily="18" charset="0"/>
                <a:ea typeface="Cambria" panose="02040503050406030204" pitchFamily="18" charset="0"/>
                <a:cs typeface="Times New Roman"/>
              </a:rPr>
              <a:t> </a:t>
            </a:r>
            <a:r>
              <a:rPr lang="en-US" sz="2000" spc="10" dirty="0">
                <a:latin typeface="Cambria" panose="02040503050406030204" pitchFamily="18" charset="0"/>
                <a:ea typeface="Cambria" panose="02040503050406030204" pitchFamily="18" charset="0"/>
                <a:cs typeface="Times New Roman"/>
              </a:rPr>
              <a:t>satisfies</a:t>
            </a:r>
            <a:r>
              <a:rPr lang="en-US" sz="2000" spc="15" dirty="0">
                <a:latin typeface="Cambria" panose="02040503050406030204" pitchFamily="18" charset="0"/>
                <a:ea typeface="Cambria" panose="02040503050406030204" pitchFamily="18" charset="0"/>
                <a:cs typeface="Times New Roman"/>
              </a:rPr>
              <a:t> </a:t>
            </a:r>
            <a:r>
              <a:rPr lang="en-US" sz="2000" dirty="0">
                <a:latin typeface="Cambria" panose="02040503050406030204" pitchFamily="18" charset="0"/>
                <a:ea typeface="Cambria" panose="02040503050406030204" pitchFamily="18" charset="0"/>
                <a:cs typeface="Times New Roman"/>
              </a:rPr>
              <a:t>all</a:t>
            </a:r>
            <a:r>
              <a:rPr lang="en-US" sz="2000" spc="2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the</a:t>
            </a:r>
            <a:r>
              <a:rPr lang="en-US" sz="2000" spc="10"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property of</a:t>
            </a:r>
            <a:r>
              <a:rPr lang="en-US" sz="2000" spc="15" dirty="0">
                <a:latin typeface="Cambria" panose="02040503050406030204" pitchFamily="18" charset="0"/>
                <a:ea typeface="Cambria" panose="02040503050406030204" pitchFamily="18" charset="0"/>
                <a:cs typeface="Times New Roman"/>
              </a:rPr>
              <a:t> </a:t>
            </a:r>
            <a:r>
              <a:rPr lang="en-US" sz="2000" dirty="0">
                <a:latin typeface="Cambria" panose="02040503050406030204" pitchFamily="18" charset="0"/>
                <a:ea typeface="Cambria" panose="02040503050406030204" pitchFamily="18" charset="0"/>
                <a:cs typeface="Times New Roman"/>
              </a:rPr>
              <a:t>Max</a:t>
            </a:r>
            <a:r>
              <a:rPr lang="en-US" sz="2000" spc="15" dirty="0">
                <a:latin typeface="Cambria" panose="02040503050406030204" pitchFamily="18" charset="0"/>
                <a:ea typeface="Cambria" panose="02040503050406030204" pitchFamily="18" charset="0"/>
                <a:cs typeface="Times New Roman"/>
              </a:rPr>
              <a:t> </a:t>
            </a:r>
            <a:r>
              <a:rPr lang="en-US" sz="2000" spc="5" dirty="0">
                <a:latin typeface="Cambria" panose="02040503050406030204" pitchFamily="18" charset="0"/>
                <a:ea typeface="Cambria" panose="02040503050406030204" pitchFamily="18" charset="0"/>
                <a:cs typeface="Times New Roman"/>
              </a:rPr>
              <a:t>Heap</a:t>
            </a:r>
            <a:endParaRPr lang="en-US" sz="2000" dirty="0">
              <a:latin typeface="Cambria" panose="02040503050406030204" pitchFamily="18" charset="0"/>
              <a:ea typeface="Cambria" panose="02040503050406030204" pitchFamily="18" charset="0"/>
              <a:cs typeface="Times New Roman"/>
            </a:endParaRPr>
          </a:p>
        </p:txBody>
      </p:sp>
      <p:pic>
        <p:nvPicPr>
          <p:cNvPr id="10" name="object 6">
            <a:extLst>
              <a:ext uri="{FF2B5EF4-FFF2-40B4-BE49-F238E27FC236}">
                <a16:creationId xmlns:a16="http://schemas.microsoft.com/office/drawing/2014/main" id="{E541C872-9373-5C6E-ADAE-CDF4C3524346}"/>
              </a:ext>
            </a:extLst>
          </p:cNvPr>
          <p:cNvPicPr/>
          <p:nvPr/>
        </p:nvPicPr>
        <p:blipFill>
          <a:blip r:embed="rId2" cstate="print"/>
          <a:stretch>
            <a:fillRect/>
          </a:stretch>
        </p:blipFill>
        <p:spPr>
          <a:xfrm>
            <a:off x="1721796" y="4445076"/>
            <a:ext cx="6079787" cy="212816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6BD13-86D0-F594-786F-DB39BA708C0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EF1BA9-18AA-52EC-29D4-23DC6AA26E0A}"/>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
        <p:nvSpPr>
          <p:cNvPr id="5" name="TextBox 4">
            <a:extLst>
              <a:ext uri="{FF2B5EF4-FFF2-40B4-BE49-F238E27FC236}">
                <a16:creationId xmlns:a16="http://schemas.microsoft.com/office/drawing/2014/main" id="{04AC529A-8917-2789-D41B-3A803043D572}"/>
              </a:ext>
            </a:extLst>
          </p:cNvPr>
          <p:cNvSpPr txBox="1"/>
          <p:nvPr/>
        </p:nvSpPr>
        <p:spPr>
          <a:xfrm>
            <a:off x="1648838" y="328349"/>
            <a:ext cx="7368702" cy="707886"/>
          </a:xfrm>
          <a:prstGeom prst="rect">
            <a:avLst/>
          </a:prstGeom>
          <a:noFill/>
        </p:spPr>
        <p:txBody>
          <a:bodyPr wrap="square">
            <a:spAutoFit/>
          </a:bodyPr>
          <a:lstStyle/>
          <a:p>
            <a:pPr marL="12700">
              <a:lnSpc>
                <a:spcPct val="100000"/>
              </a:lnSpc>
              <a:spcBef>
                <a:spcPts val="100"/>
              </a:spcBef>
            </a:pPr>
            <a:r>
              <a:rPr lang="en-US" sz="2000" b="1" spc="5" dirty="0">
                <a:solidFill>
                  <a:srgbClr val="273139"/>
                </a:solidFill>
                <a:latin typeface="Cambria" panose="02040503050406030204" pitchFamily="18" charset="0"/>
                <a:ea typeface="Cambria" panose="02040503050406030204" pitchFamily="18" charset="0"/>
                <a:cs typeface="Arial"/>
              </a:rPr>
              <a:t>Example:</a:t>
            </a:r>
            <a:r>
              <a:rPr lang="en-US" sz="2000" b="1" spc="85" dirty="0">
                <a:solidFill>
                  <a:srgbClr val="273139"/>
                </a:solidFill>
                <a:latin typeface="Cambria" panose="02040503050406030204" pitchFamily="18" charset="0"/>
                <a:ea typeface="Cambria" panose="02040503050406030204" pitchFamily="18" charset="0"/>
                <a:cs typeface="Arial"/>
              </a:rPr>
              <a:t> </a:t>
            </a:r>
            <a:r>
              <a:rPr lang="en-US" sz="2000" spc="5" dirty="0">
                <a:solidFill>
                  <a:srgbClr val="273139"/>
                </a:solidFill>
                <a:latin typeface="Cambria" panose="02040503050406030204" pitchFamily="18" charset="0"/>
                <a:ea typeface="Cambria" panose="02040503050406030204" pitchFamily="18" charset="0"/>
                <a:cs typeface="Times New Roman"/>
              </a:rPr>
              <a:t>Construct</a:t>
            </a:r>
            <a:r>
              <a:rPr lang="en-US" sz="2000" spc="25" dirty="0">
                <a:solidFill>
                  <a:srgbClr val="273139"/>
                </a:solidFill>
                <a:latin typeface="Cambria" panose="02040503050406030204" pitchFamily="18" charset="0"/>
                <a:ea typeface="Cambria" panose="02040503050406030204" pitchFamily="18" charset="0"/>
                <a:cs typeface="Times New Roman"/>
              </a:rPr>
              <a:t> </a:t>
            </a:r>
            <a:r>
              <a:rPr lang="en-US" sz="2000" dirty="0">
                <a:solidFill>
                  <a:srgbClr val="273139"/>
                </a:solidFill>
                <a:latin typeface="Cambria" panose="02040503050406030204" pitchFamily="18" charset="0"/>
                <a:ea typeface="Cambria" panose="02040503050406030204" pitchFamily="18" charset="0"/>
                <a:cs typeface="Times New Roman"/>
              </a:rPr>
              <a:t>a</a:t>
            </a:r>
            <a:r>
              <a:rPr lang="en-US" sz="2000" spc="20" dirty="0">
                <a:solidFill>
                  <a:srgbClr val="273139"/>
                </a:solidFill>
                <a:latin typeface="Cambria" panose="02040503050406030204" pitchFamily="18" charset="0"/>
                <a:ea typeface="Cambria" panose="02040503050406030204" pitchFamily="18" charset="0"/>
                <a:cs typeface="Times New Roman"/>
              </a:rPr>
              <a:t> </a:t>
            </a:r>
            <a:r>
              <a:rPr lang="en-US" sz="2000" dirty="0">
                <a:solidFill>
                  <a:srgbClr val="273139"/>
                </a:solidFill>
                <a:latin typeface="Cambria" panose="02040503050406030204" pitchFamily="18" charset="0"/>
                <a:ea typeface="Cambria" panose="02040503050406030204" pitchFamily="18" charset="0"/>
                <a:cs typeface="Times New Roman"/>
              </a:rPr>
              <a:t>Max</a:t>
            </a:r>
            <a:r>
              <a:rPr lang="en-US" sz="2000" spc="15" dirty="0">
                <a:solidFill>
                  <a:srgbClr val="273139"/>
                </a:solidFill>
                <a:latin typeface="Cambria" panose="02040503050406030204" pitchFamily="18" charset="0"/>
                <a:ea typeface="Cambria" panose="02040503050406030204" pitchFamily="18" charset="0"/>
                <a:cs typeface="Times New Roman"/>
              </a:rPr>
              <a:t> </a:t>
            </a:r>
            <a:r>
              <a:rPr lang="en-US" sz="2000" spc="5" dirty="0">
                <a:solidFill>
                  <a:srgbClr val="273139"/>
                </a:solidFill>
                <a:latin typeface="Cambria" panose="02040503050406030204" pitchFamily="18" charset="0"/>
                <a:ea typeface="Cambria" panose="02040503050406030204" pitchFamily="18" charset="0"/>
                <a:cs typeface="Times New Roman"/>
              </a:rPr>
              <a:t>heap</a:t>
            </a:r>
            <a:r>
              <a:rPr lang="en-US" sz="2000" spc="30" dirty="0">
                <a:solidFill>
                  <a:srgbClr val="273139"/>
                </a:solidFill>
                <a:latin typeface="Cambria" panose="02040503050406030204" pitchFamily="18" charset="0"/>
                <a:ea typeface="Cambria" panose="02040503050406030204" pitchFamily="18" charset="0"/>
                <a:cs typeface="Times New Roman"/>
              </a:rPr>
              <a:t> </a:t>
            </a:r>
            <a:r>
              <a:rPr lang="en-US" sz="2000" spc="-5" dirty="0">
                <a:solidFill>
                  <a:srgbClr val="273139"/>
                </a:solidFill>
                <a:latin typeface="Cambria" panose="02040503050406030204" pitchFamily="18" charset="0"/>
                <a:ea typeface="Cambria" panose="02040503050406030204" pitchFamily="18" charset="0"/>
                <a:cs typeface="Times New Roman"/>
              </a:rPr>
              <a:t>with</a:t>
            </a:r>
            <a:r>
              <a:rPr lang="en-US" sz="2000" spc="30" dirty="0">
                <a:solidFill>
                  <a:srgbClr val="273139"/>
                </a:solidFill>
                <a:latin typeface="Cambria" panose="02040503050406030204" pitchFamily="18" charset="0"/>
                <a:ea typeface="Cambria" panose="02040503050406030204" pitchFamily="18" charset="0"/>
                <a:cs typeface="Times New Roman"/>
              </a:rPr>
              <a:t> </a:t>
            </a:r>
            <a:r>
              <a:rPr lang="en-US" sz="2000" spc="5" dirty="0">
                <a:solidFill>
                  <a:srgbClr val="273139"/>
                </a:solidFill>
                <a:latin typeface="Cambria" panose="02040503050406030204" pitchFamily="18" charset="0"/>
                <a:ea typeface="Cambria" panose="02040503050406030204" pitchFamily="18" charset="0"/>
                <a:cs typeface="Times New Roman"/>
              </a:rPr>
              <a:t>the</a:t>
            </a:r>
            <a:r>
              <a:rPr lang="en-US" sz="2000" spc="15" dirty="0">
                <a:solidFill>
                  <a:srgbClr val="273139"/>
                </a:solidFill>
                <a:latin typeface="Cambria" panose="02040503050406030204" pitchFamily="18" charset="0"/>
                <a:ea typeface="Cambria" panose="02040503050406030204" pitchFamily="18" charset="0"/>
                <a:cs typeface="Times New Roman"/>
              </a:rPr>
              <a:t> </a:t>
            </a:r>
            <a:r>
              <a:rPr lang="en-US" sz="2000" spc="5" dirty="0">
                <a:solidFill>
                  <a:srgbClr val="273139"/>
                </a:solidFill>
                <a:latin typeface="Cambria" panose="02040503050406030204" pitchFamily="18" charset="0"/>
                <a:ea typeface="Cambria" panose="02040503050406030204" pitchFamily="18" charset="0"/>
                <a:cs typeface="Times New Roman"/>
              </a:rPr>
              <a:t>following</a:t>
            </a:r>
            <a:r>
              <a:rPr lang="en-US" sz="2000" spc="25" dirty="0">
                <a:solidFill>
                  <a:srgbClr val="273139"/>
                </a:solidFill>
                <a:latin typeface="Cambria" panose="02040503050406030204" pitchFamily="18" charset="0"/>
                <a:ea typeface="Cambria" panose="02040503050406030204" pitchFamily="18" charset="0"/>
                <a:cs typeface="Times New Roman"/>
              </a:rPr>
              <a:t> </a:t>
            </a:r>
            <a:r>
              <a:rPr lang="en-US" sz="2000" spc="5" dirty="0">
                <a:solidFill>
                  <a:srgbClr val="273139"/>
                </a:solidFill>
                <a:latin typeface="Cambria" panose="02040503050406030204" pitchFamily="18" charset="0"/>
                <a:ea typeface="Cambria" panose="02040503050406030204" pitchFamily="18" charset="0"/>
                <a:cs typeface="Times New Roman"/>
              </a:rPr>
              <a:t>data</a:t>
            </a:r>
            <a:r>
              <a:rPr lang="en-US" sz="2000" spc="25" dirty="0">
                <a:solidFill>
                  <a:srgbClr val="273139"/>
                </a:solidFill>
                <a:latin typeface="Cambria" panose="02040503050406030204" pitchFamily="18" charset="0"/>
                <a:ea typeface="Cambria" panose="02040503050406030204" pitchFamily="18" charset="0"/>
                <a:cs typeface="Times New Roman"/>
              </a:rPr>
              <a:t> </a:t>
            </a:r>
            <a:r>
              <a:rPr lang="en-US" sz="2000" spc="5" dirty="0">
                <a:solidFill>
                  <a:srgbClr val="273139"/>
                </a:solidFill>
                <a:latin typeface="Cambria" panose="02040503050406030204" pitchFamily="18" charset="0"/>
                <a:ea typeface="Cambria" panose="02040503050406030204" pitchFamily="18" charset="0"/>
                <a:cs typeface="Times New Roman"/>
              </a:rPr>
              <a:t>elements</a:t>
            </a:r>
            <a:r>
              <a:rPr lang="en-US" sz="2000" spc="25" dirty="0">
                <a:solidFill>
                  <a:srgbClr val="273139"/>
                </a:solidFill>
                <a:latin typeface="Cambria" panose="02040503050406030204" pitchFamily="18" charset="0"/>
                <a:ea typeface="Cambria" panose="02040503050406030204" pitchFamily="18" charset="0"/>
                <a:cs typeface="Times New Roman"/>
              </a:rPr>
              <a:t> </a:t>
            </a:r>
            <a:r>
              <a:rPr lang="en-US" sz="2000" dirty="0">
                <a:solidFill>
                  <a:srgbClr val="273139"/>
                </a:solidFill>
                <a:latin typeface="Cambria" panose="02040503050406030204" pitchFamily="18" charset="0"/>
                <a:ea typeface="Cambria" panose="02040503050406030204" pitchFamily="18" charset="0"/>
                <a:cs typeface="Times New Roman"/>
              </a:rPr>
              <a:t>(or</a:t>
            </a:r>
            <a:r>
              <a:rPr lang="en-US" sz="2000" spc="10" dirty="0">
                <a:solidFill>
                  <a:srgbClr val="273139"/>
                </a:solidFill>
                <a:latin typeface="Cambria" panose="02040503050406030204" pitchFamily="18" charset="0"/>
                <a:ea typeface="Cambria" panose="02040503050406030204" pitchFamily="18" charset="0"/>
                <a:cs typeface="Times New Roman"/>
              </a:rPr>
              <a:t> </a:t>
            </a:r>
            <a:r>
              <a:rPr lang="en-US" sz="2000" spc="5" dirty="0">
                <a:solidFill>
                  <a:srgbClr val="273139"/>
                </a:solidFill>
                <a:latin typeface="Cambria" panose="02040503050406030204" pitchFamily="18" charset="0"/>
                <a:ea typeface="Cambria" panose="02040503050406030204" pitchFamily="18" charset="0"/>
                <a:cs typeface="Times New Roman"/>
              </a:rPr>
              <a:t>items):</a:t>
            </a:r>
            <a:r>
              <a:rPr lang="en-US" sz="2000" dirty="0">
                <a:latin typeface="Cambria" panose="02040503050406030204" pitchFamily="18" charset="0"/>
                <a:ea typeface="Cambria" panose="02040503050406030204" pitchFamily="18" charset="0"/>
                <a:cs typeface="Times New Roman"/>
              </a:rPr>
              <a:t>  </a:t>
            </a:r>
            <a:r>
              <a:rPr lang="en-US" sz="2000" b="1" spc="5" dirty="0">
                <a:solidFill>
                  <a:srgbClr val="273139"/>
                </a:solidFill>
                <a:latin typeface="Cambria" panose="02040503050406030204" pitchFamily="18" charset="0"/>
                <a:ea typeface="Cambria" panose="02040503050406030204" pitchFamily="18" charset="0"/>
                <a:cs typeface="Arial MT"/>
              </a:rPr>
              <a:t>35  33  42  10  14  19  27  44	26  </a:t>
            </a:r>
            <a:r>
              <a:rPr lang="en-US" sz="2000" b="1" spc="10" dirty="0">
                <a:solidFill>
                  <a:srgbClr val="273139"/>
                </a:solidFill>
                <a:latin typeface="Cambria" panose="02040503050406030204" pitchFamily="18" charset="0"/>
                <a:ea typeface="Cambria" panose="02040503050406030204" pitchFamily="18" charset="0"/>
                <a:cs typeface="Arial MT"/>
              </a:rPr>
              <a:t>31</a:t>
            </a:r>
            <a:endParaRPr lang="en-US" sz="2000" b="1" dirty="0">
              <a:latin typeface="Cambria" panose="02040503050406030204" pitchFamily="18" charset="0"/>
              <a:ea typeface="Cambria" panose="02040503050406030204" pitchFamily="18" charset="0"/>
              <a:cs typeface="Arial MT"/>
            </a:endParaRPr>
          </a:p>
        </p:txBody>
      </p:sp>
      <p:pic>
        <p:nvPicPr>
          <p:cNvPr id="7" name="Picture 6">
            <a:extLst>
              <a:ext uri="{FF2B5EF4-FFF2-40B4-BE49-F238E27FC236}">
                <a16:creationId xmlns:a16="http://schemas.microsoft.com/office/drawing/2014/main" id="{3ECB3275-B26E-A0A8-0E6A-6156C760B0BF}"/>
              </a:ext>
            </a:extLst>
          </p:cNvPr>
          <p:cNvPicPr>
            <a:picLocks noChangeAspect="1"/>
          </p:cNvPicPr>
          <p:nvPr/>
        </p:nvPicPr>
        <p:blipFill>
          <a:blip r:embed="rId2"/>
          <a:stretch>
            <a:fillRect/>
          </a:stretch>
        </p:blipFill>
        <p:spPr>
          <a:xfrm>
            <a:off x="1160395" y="1077483"/>
            <a:ext cx="9345477" cy="5352500"/>
          </a:xfrm>
          <a:prstGeom prst="rect">
            <a:avLst/>
          </a:prstGeom>
        </p:spPr>
      </p:pic>
    </p:spTree>
    <p:extLst>
      <p:ext uri="{BB962C8B-B14F-4D97-AF65-F5344CB8AC3E}">
        <p14:creationId xmlns:p14="http://schemas.microsoft.com/office/powerpoint/2010/main" val="41679011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to Genuinely Say Thank You For Your Support [Free Templates] - Audience  Handwritten Mail">
            <a:extLst>
              <a:ext uri="{FF2B5EF4-FFF2-40B4-BE49-F238E27FC236}">
                <a16:creationId xmlns:a16="http://schemas.microsoft.com/office/drawing/2014/main" id="{73FDC88B-E3E9-4AEC-DB59-D43A99727FA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25684" y="1044228"/>
            <a:ext cx="8823522" cy="52009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D17BC34-3BA9-9988-FE5A-22C8A92DCB09}"/>
              </a:ext>
            </a:extLst>
          </p:cNvPr>
          <p:cNvSpPr txBox="1"/>
          <p:nvPr/>
        </p:nvSpPr>
        <p:spPr>
          <a:xfrm>
            <a:off x="10437777" y="6280917"/>
            <a:ext cx="1449423" cy="384721"/>
          </a:xfrm>
          <a:prstGeom prst="rect">
            <a:avLst/>
          </a:prstGeom>
          <a:noFill/>
        </p:spPr>
        <p:txBody>
          <a:bodyPr wrap="square">
            <a:spAutoFit/>
          </a:bodyPr>
          <a:lstStyle/>
          <a:p>
            <a:pPr algn="just" eaLnBrk="1" hangingPunct="1">
              <a:spcBef>
                <a:spcPts val="1211"/>
              </a:spcBef>
            </a:pPr>
            <a:r>
              <a:rPr lang="en-US" altLang="en-US" sz="1900" b="1" u="sng" dirty="0">
                <a:solidFill>
                  <a:schemeClr val="accent3">
                    <a:lumMod val="20000"/>
                    <a:lumOff val="80000"/>
                  </a:schemeClr>
                </a:solidFill>
                <a:latin typeface="Cambria" panose="02040503050406030204" pitchFamily="18" charset="0"/>
              </a:rPr>
              <a:t>Dept. of AI</a:t>
            </a:r>
          </a:p>
        </p:txBody>
      </p:sp>
    </p:spTree>
    <p:extLst>
      <p:ext uri="{BB962C8B-B14F-4D97-AF65-F5344CB8AC3E}">
        <p14:creationId xmlns:p14="http://schemas.microsoft.com/office/powerpoint/2010/main" val="19533041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62690</TotalTime>
  <Words>3475</Words>
  <Application>Microsoft Office PowerPoint</Application>
  <PresentationFormat>Custom</PresentationFormat>
  <Paragraphs>270</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Arial MT</vt:lpstr>
      <vt:lpstr>Calibri</vt:lpstr>
      <vt:lpstr>Calibri Light</vt:lpstr>
      <vt:lpstr>Cambria</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 R Naga Pawan Yallapragada</dc:creator>
  <cp:lastModifiedBy>Rishikesh Pendyala</cp:lastModifiedBy>
  <cp:revision>3238</cp:revision>
  <cp:lastPrinted>2024-08-19T05:20:12Z</cp:lastPrinted>
  <dcterms:created xsi:type="dcterms:W3CDTF">2017-01-18T06:21:36Z</dcterms:created>
  <dcterms:modified xsi:type="dcterms:W3CDTF">2025-11-18T07:16:27Z</dcterms:modified>
</cp:coreProperties>
</file>